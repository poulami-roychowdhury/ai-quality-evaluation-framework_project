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11" autoAdjust="0"/>
    <p:restoredTop sz="94610"/>
  </p:normalViewPr>
  <p:slideViewPr>
    <p:cSldViewPr snapToGrid="0" snapToObjects="1">
      <p:cViewPr>
        <p:scale>
          <a:sx n="70" d="100"/>
          <a:sy n="70" d="100"/>
        </p:scale>
        <p:origin x="44" y="-14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17773538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with the problem, not the project. Enterprises are shipping generative AI faster than they can govern it. This framework is the governance layer that makes AI output quality measurable and auditable. Position it as portfolio evidence of quality-management capability applied to AI. (~30s)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risks, one gap. Hallucinations go undetected, quality varies by reviewer, unsafe outputs reach production, and leadership has no measurable signal. The common cause is the absence of a repeatable, auditable evaluation method. That gap is what this project closes. (~60s)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objectives, each tied to a deliverable. Standardize evaluation, align reviewers, establish governance, define KPIs, and give leadership something actionable. Worth noting these are outcomes, not activities. (~45s)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Ten stages from setup to final report, each producing a concrete artifact. The point is repeatability: any reviewer, any response, same method, same standard. (~45s)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methodological core. The dataset is scored on five dimensions and the Overall Score is their average. Instruction Following, Reasoning, and Formatting guide reviewer judgment but are deliberately excluded from the score. That separation prevents scope creep in scoring and keeps the metric stable and comparable over time. (~60s)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canonical taxonomy of thirteen categories, each carrying a governance severity that drives escalation. Critical findings route to Trust &amp; Safety immediately. This taxonomy is the backbone that keeps every downstream artifact consistent. (~60s)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hundred evaluated responses form the evidence base. Every number in this deck traces back to these records, each independently scored, classified, and reviewer-attributed. Traceability is what makes the metrics defensible in an audit. (~45s)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Twenty-five pairwise preference scenarios. Reviewers compare two candidate responses and record a ranked preference with rationale. To be precise about scope: this produces the preference data that reward-model training consumes. No model was trained here; the contribution is the human evaluation layer that RLHF depends on. (~50s)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headline numbers, all traceable to the dataset. Overall quality is strong at 4.49 against a 4.0 target, and safety, hallucination, calibration, and error rates all meet target. Accuracy sits at 66% against an 85% target, and I would flag that deliberately: the KPI framework exists to surface improvement opportunities, and this is the one it found. A framework that reports only good news is not doing its job. The improvement plan for accuracy is on the dashboard. (~90s)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where 100 records become a leadership signal. The Pareto shows where quality issues concentrate: Incorrect Facts and Safety Violations account for the majority of defects, which tells you where to focus remediation. Alongside it sits the KPI scorecard, the DMAIC improvement actions, and the executive read on status. (~60s)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takeaways. Standardization removed reviewer drift, governance made reviews auditable, KPIs made quality measurable, and the dashboard gave leadership a current view. Each maps to a business problem from slide two. (~45s)</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business case. This is a governed structure that scales beyond a pilot, applies the same rigour to every response, and assigns clear ownership and escalation. For a quality function, that is the difference between inspection and a managed process. (~45s)</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Capabilities evidenced by the work itself rather than claimed: evaluation, RLHF, annotation, taxonomy, metrics, governance, analytics, and documentation. (~20s)</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by inviting the discussion you want. Good prompts: how would you scale this to a review team, or how would you drive the accuracy rate to target. (~15s)</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7" Type="http://schemas.openxmlformats.org/officeDocument/2006/relationships/image" Target="../media/image8.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3.png"/><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8" Type="http://schemas.openxmlformats.org/officeDocument/2006/relationships/image" Target="../media/image13.png"/><Relationship Id="rId13" Type="http://schemas.openxmlformats.org/officeDocument/2006/relationships/image" Target="../media/image17.png"/><Relationship Id="rId3" Type="http://schemas.openxmlformats.org/officeDocument/2006/relationships/image" Target="../media/image9.png"/><Relationship Id="rId7" Type="http://schemas.openxmlformats.org/officeDocument/2006/relationships/image" Target="../media/image12.png"/><Relationship Id="rId12" Type="http://schemas.openxmlformats.org/officeDocument/2006/relationships/image" Target="../media/image16.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11.png"/><Relationship Id="rId11" Type="http://schemas.openxmlformats.org/officeDocument/2006/relationships/image" Target="../media/image15.png"/><Relationship Id="rId5" Type="http://schemas.openxmlformats.org/officeDocument/2006/relationships/image" Target="../media/image6.png"/><Relationship Id="rId10" Type="http://schemas.openxmlformats.org/officeDocument/2006/relationships/image" Target="../media/image7.png"/><Relationship Id="rId4" Type="http://schemas.openxmlformats.org/officeDocument/2006/relationships/image" Target="../media/image10.png"/><Relationship Id="rId9" Type="http://schemas.openxmlformats.org/officeDocument/2006/relationships/image" Target="../media/image14.png"/></Relationships>
</file>

<file path=ppt/slides/_rels/slide5.xml.rels><?xml version="1.0" encoding="UTF-8" standalone="yes"?>
<Relationships xmlns="http://schemas.openxmlformats.org/package/2006/relationships"><Relationship Id="rId8" Type="http://schemas.openxmlformats.org/officeDocument/2006/relationships/image" Target="../media/image20.png"/><Relationship Id="rId3" Type="http://schemas.openxmlformats.org/officeDocument/2006/relationships/image" Target="../media/image18.png"/><Relationship Id="rId7"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5.png"/><Relationship Id="rId10" Type="http://schemas.openxmlformats.org/officeDocument/2006/relationships/image" Target="../media/image11.png"/><Relationship Id="rId4" Type="http://schemas.openxmlformats.org/officeDocument/2006/relationships/image" Target="../media/image19.png"/><Relationship Id="rId9" Type="http://schemas.openxmlformats.org/officeDocument/2006/relationships/image" Target="../media/image14.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7.xml"/><Relationship Id="rId1" Type="http://schemas.openxmlformats.org/officeDocument/2006/relationships/slideLayout" Target="../slideLayouts/slideLayout1.xml"/><Relationship Id="rId5" Type="http://schemas.openxmlformats.org/officeDocument/2006/relationships/image" Target="../media/image18.png"/><Relationship Id="rId4" Type="http://schemas.openxmlformats.org/officeDocument/2006/relationships/image" Target="../media/image10.png"/></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1.xml"/><Relationship Id="rId5" Type="http://schemas.openxmlformats.org/officeDocument/2006/relationships/image" Target="../media/image21.png"/><Relationship Id="rId4" Type="http://schemas.openxmlformats.org/officeDocument/2006/relationships/image" Target="../media/image7.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8.png"/><Relationship Id="rId4" Type="http://schemas.openxmlformats.org/officeDocument/2006/relationships/image" Target="../media/image15.png"/></Relationships>
</file>

<file path=ppt/slides/_rels/slide1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1.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7.png"/><Relationship Id="rId4" Type="http://schemas.openxmlformats.org/officeDocument/2006/relationships/image" Target="../media/image22.png"/></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2.xml"/><Relationship Id="rId1" Type="http://schemas.openxmlformats.org/officeDocument/2006/relationships/slideLayout" Target="../slideLayouts/slideLayout1.xml"/><Relationship Id="rId6" Type="http://schemas.openxmlformats.org/officeDocument/2006/relationships/image" Target="../media/image16.png"/><Relationship Id="rId5" Type="http://schemas.openxmlformats.org/officeDocument/2006/relationships/image" Target="../media/image22.png"/><Relationship Id="rId4" Type="http://schemas.openxmlformats.org/officeDocument/2006/relationships/image" Target="../media/image20.png"/></Relationships>
</file>

<file path=ppt/slides/_rels/slide13.xml.rels><?xml version="1.0" encoding="UTF-8" standalone="yes"?>
<Relationships xmlns="http://schemas.openxmlformats.org/package/2006/relationships"><Relationship Id="rId8" Type="http://schemas.openxmlformats.org/officeDocument/2006/relationships/image" Target="../media/image22.png"/><Relationship Id="rId3" Type="http://schemas.openxmlformats.org/officeDocument/2006/relationships/image" Target="../media/image2.png"/><Relationship Id="rId7" Type="http://schemas.openxmlformats.org/officeDocument/2006/relationships/image" Target="../media/image7.png"/><Relationship Id="rId2" Type="http://schemas.openxmlformats.org/officeDocument/2006/relationships/notesSlide" Target="../notesSlides/notesSlide13.xml"/><Relationship Id="rId1" Type="http://schemas.openxmlformats.org/officeDocument/2006/relationships/slideLayout" Target="../slideLayouts/slideLayout1.xml"/><Relationship Id="rId6" Type="http://schemas.openxmlformats.org/officeDocument/2006/relationships/image" Target="../media/image11.png"/><Relationship Id="rId5" Type="http://schemas.openxmlformats.org/officeDocument/2006/relationships/image" Target="../media/image10.png"/><Relationship Id="rId10" Type="http://schemas.openxmlformats.org/officeDocument/2006/relationships/image" Target="../media/image13.png"/><Relationship Id="rId4" Type="http://schemas.openxmlformats.org/officeDocument/2006/relationships/image" Target="../media/image14.png"/><Relationship Id="rId9" Type="http://schemas.openxmlformats.org/officeDocument/2006/relationships/image" Target="../media/image15.pn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761"/>
        </a:solidFill>
        <a:effectLst/>
      </p:bgPr>
    </p:bg>
    <p:spTree>
      <p:nvGrpSpPr>
        <p:cNvPr id="1" name=""/>
        <p:cNvGrpSpPr/>
        <p:nvPr/>
      </p:nvGrpSpPr>
      <p:grpSpPr>
        <a:xfrm>
          <a:off x="0" y="0"/>
          <a:ext cx="0" cy="0"/>
          <a:chOff x="0" y="0"/>
          <a:chExt cx="0" cy="0"/>
        </a:xfrm>
      </p:grpSpPr>
      <p:sp>
        <p:nvSpPr>
          <p:cNvPr id="2" name="Shape 0"/>
          <p:cNvSpPr/>
          <p:nvPr/>
        </p:nvSpPr>
        <p:spPr>
          <a:xfrm>
            <a:off x="8503920" y="-2377440"/>
            <a:ext cx="5943600" cy="5943600"/>
          </a:xfrm>
          <a:prstGeom prst="ellipse">
            <a:avLst/>
          </a:prstGeom>
          <a:noFill/>
          <a:ln w="19050">
            <a:solidFill>
              <a:srgbClr val="2A3576"/>
            </a:solidFill>
            <a:prstDash val="solid"/>
          </a:ln>
        </p:spPr>
        <p:txBody>
          <a:bodyPr/>
          <a:lstStyle/>
          <a:p>
            <a:endParaRPr lang="en-IN"/>
          </a:p>
        </p:txBody>
      </p:sp>
      <p:sp>
        <p:nvSpPr>
          <p:cNvPr id="3" name="Shape 1"/>
          <p:cNvSpPr/>
          <p:nvPr/>
        </p:nvSpPr>
        <p:spPr>
          <a:xfrm>
            <a:off x="9509760" y="-1371600"/>
            <a:ext cx="3931920" cy="3931920"/>
          </a:xfrm>
          <a:prstGeom prst="ellipse">
            <a:avLst/>
          </a:prstGeom>
          <a:noFill/>
          <a:ln w="19050">
            <a:solidFill>
              <a:srgbClr val="3A4488"/>
            </a:solidFill>
            <a:prstDash val="solid"/>
          </a:ln>
        </p:spPr>
        <p:txBody>
          <a:bodyPr/>
          <a:lstStyle/>
          <a:p>
            <a:endParaRPr lang="en-IN"/>
          </a:p>
        </p:txBody>
      </p:sp>
      <p:sp>
        <p:nvSpPr>
          <p:cNvPr id="4" name="Shape 2"/>
          <p:cNvSpPr/>
          <p:nvPr/>
        </p:nvSpPr>
        <p:spPr>
          <a:xfrm>
            <a:off x="7315200" y="3931920"/>
            <a:ext cx="6400800" cy="6400800"/>
          </a:xfrm>
          <a:prstGeom prst="ellipse">
            <a:avLst/>
          </a:prstGeom>
          <a:noFill/>
          <a:ln w="15240">
            <a:solidFill>
              <a:srgbClr val="2A3576"/>
            </a:solidFill>
            <a:prstDash val="solid"/>
          </a:ln>
        </p:spPr>
        <p:txBody>
          <a:bodyPr/>
          <a:lstStyle/>
          <a:p>
            <a:endParaRPr lang="en-IN"/>
          </a:p>
        </p:txBody>
      </p:sp>
      <p:sp>
        <p:nvSpPr>
          <p:cNvPr id="5" name="Text 3"/>
          <p:cNvSpPr/>
          <p:nvPr/>
        </p:nvSpPr>
        <p:spPr>
          <a:xfrm>
            <a:off x="822960" y="1965960"/>
            <a:ext cx="8229600" cy="365760"/>
          </a:xfrm>
          <a:prstGeom prst="rect">
            <a:avLst/>
          </a:prstGeom>
          <a:noFill/>
          <a:ln/>
        </p:spPr>
        <p:txBody>
          <a:bodyPr wrap="square" rtlCol="0" anchor="ctr"/>
          <a:lstStyle/>
          <a:p>
            <a:pPr marL="0" indent="0">
              <a:buNone/>
            </a:pPr>
            <a:r>
              <a:rPr lang="en-US" sz="1400" b="1" kern="0" spc="400" dirty="0">
                <a:solidFill>
                  <a:srgbClr val="F4B740"/>
                </a:solidFill>
                <a:latin typeface="Segoe UI Semibold" pitchFamily="34" charset="0"/>
                <a:ea typeface="Segoe UI Semibold" pitchFamily="34" charset="-122"/>
                <a:cs typeface="Segoe UI Semibold" pitchFamily="34" charset="-120"/>
              </a:rPr>
              <a:t>ENTERPRISE AI GOVERNANCE</a:t>
            </a:r>
            <a:endParaRPr lang="en-US" sz="1400" dirty="0"/>
          </a:p>
        </p:txBody>
      </p:sp>
      <p:sp>
        <p:nvSpPr>
          <p:cNvPr id="6" name="Text 4"/>
          <p:cNvSpPr/>
          <p:nvPr/>
        </p:nvSpPr>
        <p:spPr>
          <a:xfrm>
            <a:off x="777240" y="2331720"/>
            <a:ext cx="9601200" cy="1828800"/>
          </a:xfrm>
          <a:prstGeom prst="rect">
            <a:avLst/>
          </a:prstGeom>
          <a:noFill/>
          <a:ln/>
        </p:spPr>
        <p:txBody>
          <a:bodyPr wrap="square" rtlCol="0" anchor="ctr"/>
          <a:lstStyle/>
          <a:p>
            <a:pPr marL="0" indent="0">
              <a:lnSpc>
                <a:spcPct val="98000"/>
              </a:lnSpc>
              <a:buNone/>
            </a:pPr>
            <a:r>
              <a:rPr lang="en-US" sz="5200" b="1" dirty="0">
                <a:solidFill>
                  <a:srgbClr val="FFFFFF"/>
                </a:solidFill>
                <a:latin typeface="Segoe UI Light" pitchFamily="34" charset="0"/>
                <a:ea typeface="Segoe UI Light" pitchFamily="34" charset="-122"/>
                <a:cs typeface="Segoe UI Light" pitchFamily="34" charset="-120"/>
              </a:rPr>
              <a:t>AI Quality Evaluation</a:t>
            </a:r>
            <a:endParaRPr lang="en-US" sz="5200" dirty="0"/>
          </a:p>
          <a:p>
            <a:pPr marL="0" indent="0">
              <a:lnSpc>
                <a:spcPct val="98000"/>
              </a:lnSpc>
              <a:buNone/>
            </a:pPr>
            <a:r>
              <a:rPr lang="en-US" sz="5200" b="1" dirty="0">
                <a:solidFill>
                  <a:srgbClr val="FFFFFF"/>
                </a:solidFill>
                <a:latin typeface="Segoe UI Light" pitchFamily="34" charset="0"/>
                <a:ea typeface="Segoe UI Light" pitchFamily="34" charset="-122"/>
                <a:cs typeface="Segoe UI Light" pitchFamily="34" charset="-120"/>
              </a:rPr>
              <a:t>Framework</a:t>
            </a:r>
            <a:endParaRPr lang="en-US" sz="5200" dirty="0"/>
          </a:p>
        </p:txBody>
      </p:sp>
      <p:sp>
        <p:nvSpPr>
          <p:cNvPr id="7" name="Shape 5"/>
          <p:cNvSpPr/>
          <p:nvPr/>
        </p:nvSpPr>
        <p:spPr>
          <a:xfrm>
            <a:off x="841248" y="4343400"/>
            <a:ext cx="1371600" cy="0"/>
          </a:xfrm>
          <a:prstGeom prst="line">
            <a:avLst/>
          </a:prstGeom>
          <a:noFill/>
          <a:ln w="38100">
            <a:solidFill>
              <a:srgbClr val="F4B740"/>
            </a:solidFill>
            <a:prstDash val="solid"/>
          </a:ln>
        </p:spPr>
        <p:txBody>
          <a:bodyPr/>
          <a:lstStyle/>
          <a:p>
            <a:endParaRPr lang="en-IN"/>
          </a:p>
        </p:txBody>
      </p:sp>
      <p:sp>
        <p:nvSpPr>
          <p:cNvPr id="8" name="Text 6"/>
          <p:cNvSpPr/>
          <p:nvPr/>
        </p:nvSpPr>
        <p:spPr>
          <a:xfrm>
            <a:off x="822960" y="4526280"/>
            <a:ext cx="7863840" cy="822960"/>
          </a:xfrm>
          <a:prstGeom prst="rect">
            <a:avLst/>
          </a:prstGeom>
          <a:noFill/>
          <a:ln/>
        </p:spPr>
        <p:txBody>
          <a:bodyPr wrap="square" rtlCol="0" anchor="ctr"/>
          <a:lstStyle/>
          <a:p>
            <a:pPr marL="0" indent="0">
              <a:lnSpc>
                <a:spcPct val="115000"/>
              </a:lnSpc>
              <a:buNone/>
            </a:pPr>
            <a:r>
              <a:rPr lang="en-US" sz="1500" dirty="0">
                <a:solidFill>
                  <a:srgbClr val="CADCFC"/>
                </a:solidFill>
                <a:latin typeface="Segoe UI" pitchFamily="34" charset="0"/>
                <a:ea typeface="Segoe UI" pitchFamily="34" charset="-122"/>
                <a:cs typeface="Segoe UI" pitchFamily="34" charset="-120"/>
              </a:rPr>
              <a:t>A standardized, governed approach to evaluating generative-AI responses — rubric, taxonomy, calibration, RLHF, KPIs, and executive reporting.</a:t>
            </a:r>
            <a:endParaRPr lang="en-US" sz="1500" dirty="0"/>
          </a:p>
        </p:txBody>
      </p:sp>
      <p:sp>
        <p:nvSpPr>
          <p:cNvPr id="9" name="Text 7"/>
          <p:cNvSpPr/>
          <p:nvPr/>
        </p:nvSpPr>
        <p:spPr>
          <a:xfrm>
            <a:off x="822960" y="5852160"/>
            <a:ext cx="8229600" cy="640080"/>
          </a:xfrm>
          <a:prstGeom prst="rect">
            <a:avLst/>
          </a:prstGeom>
          <a:noFill/>
          <a:ln/>
        </p:spPr>
        <p:txBody>
          <a:bodyPr wrap="square" rtlCol="0" anchor="ctr"/>
          <a:lstStyle/>
          <a:p>
            <a:pPr marL="0" indent="0">
              <a:buNone/>
            </a:pPr>
            <a:r>
              <a:rPr lang="en-US" sz="1300" b="1" dirty="0">
                <a:solidFill>
                  <a:srgbClr val="FFFFFF"/>
                </a:solidFill>
                <a:latin typeface="Segoe UI Semibold" pitchFamily="34" charset="0"/>
                <a:ea typeface="Segoe UI Semibold" pitchFamily="34" charset="-122"/>
                <a:cs typeface="Segoe UI Semibold" pitchFamily="34" charset="-120"/>
              </a:rPr>
              <a:t>Poulami Roy Chowdhury</a:t>
            </a:r>
            <a:endParaRPr lang="en-US" sz="1300" dirty="0"/>
          </a:p>
          <a:p>
            <a:pPr marL="0" indent="0">
              <a:buNone/>
            </a:pPr>
            <a:r>
              <a:rPr lang="en-US" sz="1100" dirty="0">
                <a:solidFill>
                  <a:srgbClr val="5B6488"/>
                </a:solidFill>
                <a:latin typeface="Segoe UI" pitchFamily="34" charset="0"/>
                <a:ea typeface="Segoe UI" pitchFamily="34" charset="-122"/>
                <a:cs typeface="Segoe UI" pitchFamily="34" charset="-120"/>
              </a:rPr>
              <a:t>Quality &amp; Process Excellence  ·  AI Quality Management  ·  v1.0</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6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1E2761"/>
          </a:solidFill>
          <a:ln/>
        </p:spPr>
        <p:txBody>
          <a:bodyPr/>
          <a:lstStyle/>
          <a:p>
            <a:endParaRPr lang="en-IN"/>
          </a:p>
        </p:txBody>
      </p:sp>
      <p:sp>
        <p:nvSpPr>
          <p:cNvPr id="3" name="Text 1"/>
          <p:cNvSpPr/>
          <p:nvPr/>
        </p:nvSpPr>
        <p:spPr>
          <a:xfrm>
            <a:off x="640080" y="457200"/>
            <a:ext cx="10058400" cy="274320"/>
          </a:xfrm>
          <a:prstGeom prst="rect">
            <a:avLst/>
          </a:prstGeom>
          <a:noFill/>
          <a:ln/>
        </p:spPr>
        <p:txBody>
          <a:bodyPr wrap="square" rtlCol="0" anchor="ctr"/>
          <a:lstStyle/>
          <a:p>
            <a:pPr marL="0" indent="0">
              <a:buNone/>
            </a:pPr>
            <a:r>
              <a:rPr lang="en-US" sz="1200" b="1" kern="0" spc="300" dirty="0">
                <a:solidFill>
                  <a:srgbClr val="F4B740"/>
                </a:solidFill>
                <a:latin typeface="Segoe UI Semibold" pitchFamily="34" charset="0"/>
                <a:ea typeface="Segoe UI Semibold" pitchFamily="34" charset="-122"/>
                <a:cs typeface="Segoe UI Semibold" pitchFamily="34" charset="-120"/>
              </a:rPr>
              <a:t>THE CHALLENGE</a:t>
            </a:r>
            <a:endParaRPr lang="en-US" sz="1200" dirty="0"/>
          </a:p>
        </p:txBody>
      </p:sp>
      <p:sp>
        <p:nvSpPr>
          <p:cNvPr id="4" name="Text 2"/>
          <p:cNvSpPr/>
          <p:nvPr/>
        </p:nvSpPr>
        <p:spPr>
          <a:xfrm>
            <a:off x="640080" y="731520"/>
            <a:ext cx="10881360" cy="640080"/>
          </a:xfrm>
          <a:prstGeom prst="rect">
            <a:avLst/>
          </a:prstGeom>
          <a:noFill/>
          <a:ln/>
        </p:spPr>
        <p:txBody>
          <a:bodyPr wrap="square" rtlCol="0" anchor="ctr"/>
          <a:lstStyle/>
          <a:p>
            <a:pPr marL="0" indent="0">
              <a:buNone/>
            </a:pPr>
            <a:r>
              <a:rPr lang="en-US" sz="3000" b="1" dirty="0">
                <a:solidFill>
                  <a:srgbClr val="1E2761"/>
                </a:solidFill>
                <a:latin typeface="Segoe UI Light" pitchFamily="34" charset="0"/>
                <a:ea typeface="Segoe UI Light" pitchFamily="34" charset="-122"/>
                <a:cs typeface="Segoe UI Light" pitchFamily="34" charset="-120"/>
              </a:rPr>
              <a:t>Why enterprises need AI quality evaluation</a:t>
            </a:r>
            <a:endParaRPr lang="en-US" sz="3000" dirty="0"/>
          </a:p>
        </p:txBody>
      </p:sp>
      <p:sp>
        <p:nvSpPr>
          <p:cNvPr id="5" name="Shape 3"/>
          <p:cNvSpPr/>
          <p:nvPr/>
        </p:nvSpPr>
        <p:spPr>
          <a:xfrm>
            <a:off x="658368" y="1417320"/>
            <a:ext cx="1005840" cy="0"/>
          </a:xfrm>
          <a:prstGeom prst="line">
            <a:avLst/>
          </a:prstGeom>
          <a:noFill/>
          <a:ln w="31750">
            <a:solidFill>
              <a:srgbClr val="F4B740"/>
            </a:solidFill>
            <a:prstDash val="solid"/>
          </a:ln>
        </p:spPr>
        <p:txBody>
          <a:bodyPr/>
          <a:lstStyle/>
          <a:p>
            <a:endParaRPr lang="en-IN"/>
          </a:p>
        </p:txBody>
      </p:sp>
      <p:sp>
        <p:nvSpPr>
          <p:cNvPr id="6" name="Text 4"/>
          <p:cNvSpPr/>
          <p:nvPr/>
        </p:nvSpPr>
        <p:spPr>
          <a:xfrm>
            <a:off x="11338560" y="6309360"/>
            <a:ext cx="548640" cy="274320"/>
          </a:xfrm>
          <a:prstGeom prst="rect">
            <a:avLst/>
          </a:prstGeom>
          <a:noFill/>
          <a:ln/>
        </p:spPr>
        <p:txBody>
          <a:bodyPr wrap="square" rtlCol="0" anchor="ctr"/>
          <a:lstStyle/>
          <a:p>
            <a:pPr marL="0" indent="0" algn="r">
              <a:buNone/>
            </a:pPr>
            <a:r>
              <a:rPr lang="en-US" sz="1100" dirty="0">
                <a:solidFill>
                  <a:srgbClr val="5B6488"/>
                </a:solidFill>
                <a:latin typeface="Segoe UI Semibold" pitchFamily="34" charset="0"/>
                <a:ea typeface="Segoe UI Semibold" pitchFamily="34" charset="-122"/>
                <a:cs typeface="Segoe UI Semibold" pitchFamily="34" charset="-120"/>
              </a:rPr>
              <a:t>02</a:t>
            </a:r>
            <a:endParaRPr lang="en-US" sz="1100" dirty="0"/>
          </a:p>
        </p:txBody>
      </p:sp>
      <p:sp>
        <p:nvSpPr>
          <p:cNvPr id="7" name="Text 5"/>
          <p:cNvSpPr/>
          <p:nvPr/>
        </p:nvSpPr>
        <p:spPr>
          <a:xfrm>
            <a:off x="640080" y="6309360"/>
            <a:ext cx="5486400" cy="274320"/>
          </a:xfrm>
          <a:prstGeom prst="rect">
            <a:avLst/>
          </a:prstGeom>
          <a:noFill/>
          <a:ln/>
        </p:spPr>
        <p:txBody>
          <a:bodyPr wrap="square" rtlCol="0" anchor="ctr"/>
          <a:lstStyle/>
          <a:p>
            <a:pPr marL="0" indent="0">
              <a:buNone/>
            </a:pPr>
            <a:r>
              <a:rPr lang="en-US" sz="900" dirty="0">
                <a:solidFill>
                  <a:srgbClr val="5B6488"/>
                </a:solidFill>
                <a:latin typeface="Segoe UI" pitchFamily="34" charset="0"/>
                <a:ea typeface="Segoe UI" pitchFamily="34" charset="-122"/>
                <a:cs typeface="Segoe UI" pitchFamily="34" charset="-120"/>
              </a:rPr>
              <a:t>AI Quality Evaluation Framework</a:t>
            </a:r>
            <a:endParaRPr lang="en-US" sz="900" dirty="0"/>
          </a:p>
        </p:txBody>
      </p:sp>
      <p:sp>
        <p:nvSpPr>
          <p:cNvPr id="8" name="Text 6"/>
          <p:cNvSpPr/>
          <p:nvPr/>
        </p:nvSpPr>
        <p:spPr>
          <a:xfrm>
            <a:off x="640080" y="1691640"/>
            <a:ext cx="5486400" cy="1645920"/>
          </a:xfrm>
          <a:prstGeom prst="rect">
            <a:avLst/>
          </a:prstGeom>
          <a:noFill/>
          <a:ln/>
        </p:spPr>
        <p:txBody>
          <a:bodyPr wrap="square" rtlCol="0" anchor="ctr"/>
          <a:lstStyle/>
          <a:p>
            <a:pPr marL="0" indent="0">
              <a:lnSpc>
                <a:spcPct val="125000"/>
              </a:lnSpc>
              <a:buNone/>
            </a:pPr>
            <a:r>
              <a:rPr lang="en-US" sz="1600" dirty="0">
                <a:solidFill>
                  <a:srgbClr val="1A1E38"/>
                </a:solidFill>
                <a:latin typeface="Segoe UI" pitchFamily="34" charset="0"/>
                <a:ea typeface="Segoe UI" pitchFamily="34" charset="-122"/>
                <a:cs typeface="Segoe UI" pitchFamily="34" charset="-120"/>
              </a:rPr>
              <a:t>Organizations are deploying generative AI faster than they can govern it. Without a standardized evaluation process, quality is inconsistent, hallucinations go undetected, and safety and compliance risks scale silently.</a:t>
            </a:r>
            <a:endParaRPr lang="en-US" sz="1600" dirty="0"/>
          </a:p>
        </p:txBody>
      </p:sp>
      <p:sp>
        <p:nvSpPr>
          <p:cNvPr id="9" name="Shape 7"/>
          <p:cNvSpPr/>
          <p:nvPr/>
        </p:nvSpPr>
        <p:spPr>
          <a:xfrm>
            <a:off x="6446520" y="1691640"/>
            <a:ext cx="5074920" cy="1051560"/>
          </a:xfrm>
          <a:prstGeom prst="roundRect">
            <a:avLst>
              <a:gd name="adj" fmla="val 5217"/>
            </a:avLst>
          </a:prstGeom>
          <a:solidFill>
            <a:srgbClr val="FFFFFF"/>
          </a:solidFill>
          <a:ln w="12700">
            <a:solidFill>
              <a:srgbClr val="E2E7F5"/>
            </a:solidFill>
            <a:prstDash val="solid"/>
          </a:ln>
          <a:effectLst>
            <a:outerShdw blurRad="88900" dist="25400" dir="5400000" algn="bl" rotWithShape="0">
              <a:srgbClr val="C7CEE0">
                <a:alpha val="50000"/>
              </a:srgbClr>
            </a:outerShdw>
          </a:effectLst>
        </p:spPr>
        <p:txBody>
          <a:bodyPr/>
          <a:lstStyle/>
          <a:p>
            <a:endParaRPr lang="en-IN"/>
          </a:p>
        </p:txBody>
      </p:sp>
      <p:sp>
        <p:nvSpPr>
          <p:cNvPr id="10" name="Shape 8"/>
          <p:cNvSpPr/>
          <p:nvPr/>
        </p:nvSpPr>
        <p:spPr>
          <a:xfrm>
            <a:off x="6647688" y="1929384"/>
            <a:ext cx="566928" cy="566928"/>
          </a:xfrm>
          <a:prstGeom prst="roundRect">
            <a:avLst>
              <a:gd name="adj" fmla="val 12903"/>
            </a:avLst>
          </a:prstGeom>
          <a:solidFill>
            <a:srgbClr val="F96167"/>
          </a:solidFill>
          <a:ln/>
          <a:effectLst>
            <a:outerShdw blurRad="76200" dist="25400" dir="5400000" algn="bl" rotWithShape="0">
              <a:srgbClr val="8892B0">
                <a:alpha val="30000"/>
              </a:srgbClr>
            </a:outerShdw>
          </a:effectLst>
        </p:spPr>
        <p:txBody>
          <a:bodyPr/>
          <a:lstStyle/>
          <a:p>
            <a:endParaRPr lang="en-IN"/>
          </a:p>
        </p:txBody>
      </p:sp>
      <p:pic>
        <p:nvPicPr>
          <p:cNvPr id="11" name="Image 0" descr="preencoded.png"/>
          <p:cNvPicPr>
            <a:picLocks noChangeAspect="1"/>
          </p:cNvPicPr>
          <p:nvPr/>
        </p:nvPicPr>
        <p:blipFill>
          <a:blip r:embed="rId3"/>
          <a:stretch>
            <a:fillRect/>
          </a:stretch>
        </p:blipFill>
        <p:spPr>
          <a:xfrm>
            <a:off x="6783751" y="2065447"/>
            <a:ext cx="294803" cy="294803"/>
          </a:xfrm>
          <a:prstGeom prst="rect">
            <a:avLst/>
          </a:prstGeom>
        </p:spPr>
      </p:pic>
      <p:sp>
        <p:nvSpPr>
          <p:cNvPr id="12" name="Text 9"/>
          <p:cNvSpPr/>
          <p:nvPr/>
        </p:nvSpPr>
        <p:spPr>
          <a:xfrm>
            <a:off x="7406640" y="1874520"/>
            <a:ext cx="3977640" cy="365760"/>
          </a:xfrm>
          <a:prstGeom prst="rect">
            <a:avLst/>
          </a:prstGeom>
          <a:noFill/>
          <a:ln/>
        </p:spPr>
        <p:txBody>
          <a:bodyPr wrap="square" rtlCol="0" anchor="ctr"/>
          <a:lstStyle/>
          <a:p>
            <a:pPr marL="0" indent="0">
              <a:buNone/>
            </a:pPr>
            <a:r>
              <a:rPr lang="en-US" sz="1450" b="1" dirty="0">
                <a:solidFill>
                  <a:srgbClr val="1E2761"/>
                </a:solidFill>
                <a:latin typeface="Segoe UI Semibold" pitchFamily="34" charset="0"/>
                <a:ea typeface="Segoe UI Semibold" pitchFamily="34" charset="-122"/>
                <a:cs typeface="Segoe UI Semibold" pitchFamily="34" charset="-120"/>
              </a:rPr>
              <a:t>Unmanaged hallucinations</a:t>
            </a:r>
            <a:endParaRPr lang="en-US" sz="1450" dirty="0"/>
          </a:p>
        </p:txBody>
      </p:sp>
      <p:sp>
        <p:nvSpPr>
          <p:cNvPr id="13" name="Text 10"/>
          <p:cNvSpPr/>
          <p:nvPr/>
        </p:nvSpPr>
        <p:spPr>
          <a:xfrm>
            <a:off x="7406640" y="2221992"/>
            <a:ext cx="3977640" cy="365760"/>
          </a:xfrm>
          <a:prstGeom prst="rect">
            <a:avLst/>
          </a:prstGeom>
          <a:noFill/>
          <a:ln/>
        </p:spPr>
        <p:txBody>
          <a:bodyPr wrap="square" rtlCol="0" anchor="ctr"/>
          <a:lstStyle/>
          <a:p>
            <a:pPr marL="0" indent="0">
              <a:buNone/>
            </a:pPr>
            <a:r>
              <a:rPr lang="en-US" sz="1200" dirty="0">
                <a:solidFill>
                  <a:srgbClr val="5B6488"/>
                </a:solidFill>
                <a:latin typeface="Segoe UI" pitchFamily="34" charset="0"/>
                <a:ea typeface="Segoe UI" pitchFamily="34" charset="-122"/>
                <a:cs typeface="Segoe UI" pitchFamily="34" charset="-120"/>
              </a:rPr>
              <a:t>Fabricated facts erode user trust</a:t>
            </a:r>
            <a:endParaRPr lang="en-US" sz="1200" dirty="0"/>
          </a:p>
        </p:txBody>
      </p:sp>
      <p:sp>
        <p:nvSpPr>
          <p:cNvPr id="14" name="Shape 11"/>
          <p:cNvSpPr/>
          <p:nvPr/>
        </p:nvSpPr>
        <p:spPr>
          <a:xfrm>
            <a:off x="6446520" y="2807208"/>
            <a:ext cx="5074920" cy="1051560"/>
          </a:xfrm>
          <a:prstGeom prst="roundRect">
            <a:avLst>
              <a:gd name="adj" fmla="val 5217"/>
            </a:avLst>
          </a:prstGeom>
          <a:solidFill>
            <a:srgbClr val="FFFFFF"/>
          </a:solidFill>
          <a:ln w="12700">
            <a:solidFill>
              <a:srgbClr val="E2E7F5"/>
            </a:solidFill>
            <a:prstDash val="solid"/>
          </a:ln>
          <a:effectLst>
            <a:outerShdw blurRad="88900" dist="25400" dir="5400000" algn="bl" rotWithShape="0">
              <a:srgbClr val="C7CEE0">
                <a:alpha val="50000"/>
              </a:srgbClr>
            </a:outerShdw>
          </a:effectLst>
        </p:spPr>
        <p:txBody>
          <a:bodyPr/>
          <a:lstStyle/>
          <a:p>
            <a:endParaRPr lang="en-IN"/>
          </a:p>
        </p:txBody>
      </p:sp>
      <p:sp>
        <p:nvSpPr>
          <p:cNvPr id="15" name="Shape 12"/>
          <p:cNvSpPr/>
          <p:nvPr/>
        </p:nvSpPr>
        <p:spPr>
          <a:xfrm>
            <a:off x="6647688" y="3044952"/>
            <a:ext cx="566928" cy="566928"/>
          </a:xfrm>
          <a:prstGeom prst="roundRect">
            <a:avLst>
              <a:gd name="adj" fmla="val 12903"/>
            </a:avLst>
          </a:prstGeom>
          <a:solidFill>
            <a:srgbClr val="F96167"/>
          </a:solidFill>
          <a:ln/>
          <a:effectLst>
            <a:outerShdw blurRad="76200" dist="25400" dir="5400000" algn="bl" rotWithShape="0">
              <a:srgbClr val="8892B0">
                <a:alpha val="30000"/>
              </a:srgbClr>
            </a:outerShdw>
          </a:effectLst>
        </p:spPr>
        <p:txBody>
          <a:bodyPr/>
          <a:lstStyle/>
          <a:p>
            <a:endParaRPr lang="en-IN"/>
          </a:p>
        </p:txBody>
      </p:sp>
      <p:pic>
        <p:nvPicPr>
          <p:cNvPr id="16" name="Image 1" descr="preencoded.png"/>
          <p:cNvPicPr>
            <a:picLocks noChangeAspect="1"/>
          </p:cNvPicPr>
          <p:nvPr/>
        </p:nvPicPr>
        <p:blipFill>
          <a:blip r:embed="rId4"/>
          <a:stretch>
            <a:fillRect/>
          </a:stretch>
        </p:blipFill>
        <p:spPr>
          <a:xfrm>
            <a:off x="6783751" y="3181015"/>
            <a:ext cx="294803" cy="294803"/>
          </a:xfrm>
          <a:prstGeom prst="rect">
            <a:avLst/>
          </a:prstGeom>
        </p:spPr>
      </p:pic>
      <p:sp>
        <p:nvSpPr>
          <p:cNvPr id="17" name="Text 13"/>
          <p:cNvSpPr/>
          <p:nvPr/>
        </p:nvSpPr>
        <p:spPr>
          <a:xfrm>
            <a:off x="7406640" y="2990088"/>
            <a:ext cx="3977640" cy="365760"/>
          </a:xfrm>
          <a:prstGeom prst="rect">
            <a:avLst/>
          </a:prstGeom>
          <a:noFill/>
          <a:ln/>
        </p:spPr>
        <p:txBody>
          <a:bodyPr wrap="square" rtlCol="0" anchor="ctr"/>
          <a:lstStyle/>
          <a:p>
            <a:pPr marL="0" indent="0">
              <a:buNone/>
            </a:pPr>
            <a:r>
              <a:rPr lang="en-US" sz="1450" b="1" dirty="0">
                <a:solidFill>
                  <a:srgbClr val="1E2761"/>
                </a:solidFill>
                <a:latin typeface="Segoe UI Semibold" pitchFamily="34" charset="0"/>
                <a:ea typeface="Segoe UI Semibold" pitchFamily="34" charset="-122"/>
                <a:cs typeface="Segoe UI Semibold" pitchFamily="34" charset="-120"/>
              </a:rPr>
              <a:t>Inconsistent quality</a:t>
            </a:r>
            <a:endParaRPr lang="en-US" sz="1450" dirty="0"/>
          </a:p>
        </p:txBody>
      </p:sp>
      <p:sp>
        <p:nvSpPr>
          <p:cNvPr id="18" name="Text 14"/>
          <p:cNvSpPr/>
          <p:nvPr/>
        </p:nvSpPr>
        <p:spPr>
          <a:xfrm>
            <a:off x="7406640" y="3337560"/>
            <a:ext cx="3977640" cy="365760"/>
          </a:xfrm>
          <a:prstGeom prst="rect">
            <a:avLst/>
          </a:prstGeom>
          <a:noFill/>
          <a:ln/>
        </p:spPr>
        <p:txBody>
          <a:bodyPr wrap="square" rtlCol="0" anchor="ctr"/>
          <a:lstStyle/>
          <a:p>
            <a:pPr marL="0" indent="0">
              <a:buNone/>
            </a:pPr>
            <a:r>
              <a:rPr lang="en-US" sz="1200" dirty="0">
                <a:solidFill>
                  <a:srgbClr val="5B6488"/>
                </a:solidFill>
                <a:latin typeface="Segoe UI" pitchFamily="34" charset="0"/>
                <a:ea typeface="Segoe UI" pitchFamily="34" charset="-122"/>
                <a:cs typeface="Segoe UI" pitchFamily="34" charset="-120"/>
              </a:rPr>
              <a:t>No repeatable scoring standard</a:t>
            </a:r>
            <a:endParaRPr lang="en-US" sz="1200" dirty="0"/>
          </a:p>
        </p:txBody>
      </p:sp>
      <p:sp>
        <p:nvSpPr>
          <p:cNvPr id="19" name="Shape 15"/>
          <p:cNvSpPr/>
          <p:nvPr/>
        </p:nvSpPr>
        <p:spPr>
          <a:xfrm>
            <a:off x="6446520" y="3922776"/>
            <a:ext cx="5074920" cy="1051560"/>
          </a:xfrm>
          <a:prstGeom prst="roundRect">
            <a:avLst>
              <a:gd name="adj" fmla="val 5217"/>
            </a:avLst>
          </a:prstGeom>
          <a:solidFill>
            <a:srgbClr val="FFFFFF"/>
          </a:solidFill>
          <a:ln w="12700">
            <a:solidFill>
              <a:srgbClr val="E2E7F5"/>
            </a:solidFill>
            <a:prstDash val="solid"/>
          </a:ln>
          <a:effectLst>
            <a:outerShdw blurRad="88900" dist="25400" dir="5400000" algn="bl" rotWithShape="0">
              <a:srgbClr val="C7CEE0">
                <a:alpha val="50000"/>
              </a:srgbClr>
            </a:outerShdw>
          </a:effectLst>
        </p:spPr>
        <p:txBody>
          <a:bodyPr/>
          <a:lstStyle/>
          <a:p>
            <a:endParaRPr lang="en-IN"/>
          </a:p>
        </p:txBody>
      </p:sp>
      <p:sp>
        <p:nvSpPr>
          <p:cNvPr id="20" name="Shape 16"/>
          <p:cNvSpPr/>
          <p:nvPr/>
        </p:nvSpPr>
        <p:spPr>
          <a:xfrm>
            <a:off x="6647688" y="4160520"/>
            <a:ext cx="566928" cy="566928"/>
          </a:xfrm>
          <a:prstGeom prst="roundRect">
            <a:avLst>
              <a:gd name="adj" fmla="val 12903"/>
            </a:avLst>
          </a:prstGeom>
          <a:solidFill>
            <a:srgbClr val="F96167"/>
          </a:solidFill>
          <a:ln/>
          <a:effectLst>
            <a:outerShdw blurRad="76200" dist="25400" dir="5400000" algn="bl" rotWithShape="0">
              <a:srgbClr val="8892B0">
                <a:alpha val="30000"/>
              </a:srgbClr>
            </a:outerShdw>
          </a:effectLst>
        </p:spPr>
        <p:txBody>
          <a:bodyPr/>
          <a:lstStyle/>
          <a:p>
            <a:endParaRPr lang="en-IN"/>
          </a:p>
        </p:txBody>
      </p:sp>
      <p:pic>
        <p:nvPicPr>
          <p:cNvPr id="21" name="Image 2" descr="preencoded.png"/>
          <p:cNvPicPr>
            <a:picLocks noChangeAspect="1"/>
          </p:cNvPicPr>
          <p:nvPr/>
        </p:nvPicPr>
        <p:blipFill>
          <a:blip r:embed="rId5"/>
          <a:stretch>
            <a:fillRect/>
          </a:stretch>
        </p:blipFill>
        <p:spPr>
          <a:xfrm>
            <a:off x="6783751" y="4296583"/>
            <a:ext cx="294803" cy="294803"/>
          </a:xfrm>
          <a:prstGeom prst="rect">
            <a:avLst/>
          </a:prstGeom>
        </p:spPr>
      </p:pic>
      <p:sp>
        <p:nvSpPr>
          <p:cNvPr id="22" name="Text 17"/>
          <p:cNvSpPr/>
          <p:nvPr/>
        </p:nvSpPr>
        <p:spPr>
          <a:xfrm>
            <a:off x="7406640" y="4105656"/>
            <a:ext cx="3977640" cy="365760"/>
          </a:xfrm>
          <a:prstGeom prst="rect">
            <a:avLst/>
          </a:prstGeom>
          <a:noFill/>
          <a:ln/>
        </p:spPr>
        <p:txBody>
          <a:bodyPr wrap="square" rtlCol="0" anchor="ctr"/>
          <a:lstStyle/>
          <a:p>
            <a:pPr marL="0" indent="0">
              <a:buNone/>
            </a:pPr>
            <a:r>
              <a:rPr lang="en-US" sz="1450" b="1" dirty="0">
                <a:solidFill>
                  <a:srgbClr val="1E2761"/>
                </a:solidFill>
                <a:latin typeface="Segoe UI Semibold" pitchFamily="34" charset="0"/>
                <a:ea typeface="Segoe UI Semibold" pitchFamily="34" charset="-122"/>
                <a:cs typeface="Segoe UI Semibold" pitchFamily="34" charset="-120"/>
              </a:rPr>
              <a:t>Safety &amp; compliance risk</a:t>
            </a:r>
            <a:endParaRPr lang="en-US" sz="1450" dirty="0"/>
          </a:p>
        </p:txBody>
      </p:sp>
      <p:sp>
        <p:nvSpPr>
          <p:cNvPr id="23" name="Text 18"/>
          <p:cNvSpPr/>
          <p:nvPr/>
        </p:nvSpPr>
        <p:spPr>
          <a:xfrm>
            <a:off x="7406640" y="4453128"/>
            <a:ext cx="3977640" cy="365760"/>
          </a:xfrm>
          <a:prstGeom prst="rect">
            <a:avLst/>
          </a:prstGeom>
          <a:noFill/>
          <a:ln/>
        </p:spPr>
        <p:txBody>
          <a:bodyPr wrap="square" rtlCol="0" anchor="ctr"/>
          <a:lstStyle/>
          <a:p>
            <a:pPr marL="0" indent="0">
              <a:buNone/>
            </a:pPr>
            <a:r>
              <a:rPr lang="en-US" sz="1200" dirty="0">
                <a:solidFill>
                  <a:srgbClr val="5B6488"/>
                </a:solidFill>
                <a:latin typeface="Segoe UI" pitchFamily="34" charset="0"/>
                <a:ea typeface="Segoe UI" pitchFamily="34" charset="-122"/>
                <a:cs typeface="Segoe UI" pitchFamily="34" charset="-120"/>
              </a:rPr>
              <a:t>Unsafe outputs reach production</a:t>
            </a:r>
            <a:endParaRPr lang="en-US" sz="1200" dirty="0"/>
          </a:p>
        </p:txBody>
      </p:sp>
      <p:sp>
        <p:nvSpPr>
          <p:cNvPr id="24" name="Shape 19"/>
          <p:cNvSpPr/>
          <p:nvPr/>
        </p:nvSpPr>
        <p:spPr>
          <a:xfrm>
            <a:off x="6446520" y="5038344"/>
            <a:ext cx="5074920" cy="1051560"/>
          </a:xfrm>
          <a:prstGeom prst="roundRect">
            <a:avLst>
              <a:gd name="adj" fmla="val 5217"/>
            </a:avLst>
          </a:prstGeom>
          <a:solidFill>
            <a:srgbClr val="FFFFFF"/>
          </a:solidFill>
          <a:ln w="12700">
            <a:solidFill>
              <a:srgbClr val="E2E7F5"/>
            </a:solidFill>
            <a:prstDash val="solid"/>
          </a:ln>
          <a:effectLst>
            <a:outerShdw blurRad="88900" dist="25400" dir="5400000" algn="bl" rotWithShape="0">
              <a:srgbClr val="C7CEE0">
                <a:alpha val="50000"/>
              </a:srgbClr>
            </a:outerShdw>
          </a:effectLst>
        </p:spPr>
        <p:txBody>
          <a:bodyPr/>
          <a:lstStyle/>
          <a:p>
            <a:endParaRPr lang="en-IN"/>
          </a:p>
        </p:txBody>
      </p:sp>
      <p:sp>
        <p:nvSpPr>
          <p:cNvPr id="25" name="Shape 20"/>
          <p:cNvSpPr/>
          <p:nvPr/>
        </p:nvSpPr>
        <p:spPr>
          <a:xfrm>
            <a:off x="6647688" y="5276088"/>
            <a:ext cx="566928" cy="566928"/>
          </a:xfrm>
          <a:prstGeom prst="roundRect">
            <a:avLst>
              <a:gd name="adj" fmla="val 12903"/>
            </a:avLst>
          </a:prstGeom>
          <a:solidFill>
            <a:srgbClr val="F96167"/>
          </a:solidFill>
          <a:ln/>
          <a:effectLst>
            <a:outerShdw blurRad="76200" dist="25400" dir="5400000" algn="bl" rotWithShape="0">
              <a:srgbClr val="8892B0">
                <a:alpha val="30000"/>
              </a:srgbClr>
            </a:outerShdw>
          </a:effectLst>
        </p:spPr>
        <p:txBody>
          <a:bodyPr/>
          <a:lstStyle/>
          <a:p>
            <a:endParaRPr lang="en-IN"/>
          </a:p>
        </p:txBody>
      </p:sp>
      <p:pic>
        <p:nvPicPr>
          <p:cNvPr id="26" name="Image 3" descr="preencoded.png"/>
          <p:cNvPicPr>
            <a:picLocks noChangeAspect="1"/>
          </p:cNvPicPr>
          <p:nvPr/>
        </p:nvPicPr>
        <p:blipFill>
          <a:blip r:embed="rId6"/>
          <a:stretch>
            <a:fillRect/>
          </a:stretch>
        </p:blipFill>
        <p:spPr>
          <a:xfrm>
            <a:off x="6783751" y="5412151"/>
            <a:ext cx="294803" cy="294803"/>
          </a:xfrm>
          <a:prstGeom prst="rect">
            <a:avLst/>
          </a:prstGeom>
        </p:spPr>
      </p:pic>
      <p:sp>
        <p:nvSpPr>
          <p:cNvPr id="27" name="Text 21"/>
          <p:cNvSpPr/>
          <p:nvPr/>
        </p:nvSpPr>
        <p:spPr>
          <a:xfrm>
            <a:off x="7406640" y="5221224"/>
            <a:ext cx="3977640" cy="365760"/>
          </a:xfrm>
          <a:prstGeom prst="rect">
            <a:avLst/>
          </a:prstGeom>
          <a:noFill/>
          <a:ln/>
        </p:spPr>
        <p:txBody>
          <a:bodyPr wrap="square" rtlCol="0" anchor="ctr"/>
          <a:lstStyle/>
          <a:p>
            <a:pPr marL="0" indent="0">
              <a:buNone/>
            </a:pPr>
            <a:r>
              <a:rPr lang="en-US" sz="1450" b="1" dirty="0">
                <a:solidFill>
                  <a:srgbClr val="1E2761"/>
                </a:solidFill>
                <a:latin typeface="Segoe UI Semibold" pitchFamily="34" charset="0"/>
                <a:ea typeface="Segoe UI Semibold" pitchFamily="34" charset="-122"/>
                <a:cs typeface="Segoe UI Semibold" pitchFamily="34" charset="-120"/>
              </a:rPr>
              <a:t>No visibility</a:t>
            </a:r>
            <a:endParaRPr lang="en-US" sz="1450" dirty="0"/>
          </a:p>
        </p:txBody>
      </p:sp>
      <p:sp>
        <p:nvSpPr>
          <p:cNvPr id="28" name="Text 22"/>
          <p:cNvSpPr/>
          <p:nvPr/>
        </p:nvSpPr>
        <p:spPr>
          <a:xfrm>
            <a:off x="7406640" y="5568696"/>
            <a:ext cx="3977640" cy="365760"/>
          </a:xfrm>
          <a:prstGeom prst="rect">
            <a:avLst/>
          </a:prstGeom>
          <a:noFill/>
          <a:ln/>
        </p:spPr>
        <p:txBody>
          <a:bodyPr wrap="square" rtlCol="0" anchor="ctr"/>
          <a:lstStyle/>
          <a:p>
            <a:pPr marL="0" indent="0">
              <a:buNone/>
            </a:pPr>
            <a:r>
              <a:rPr lang="en-US" sz="1200" dirty="0">
                <a:solidFill>
                  <a:srgbClr val="5B6488"/>
                </a:solidFill>
                <a:latin typeface="Segoe UI" pitchFamily="34" charset="0"/>
                <a:ea typeface="Segoe UI" pitchFamily="34" charset="-122"/>
                <a:cs typeface="Segoe UI" pitchFamily="34" charset="-120"/>
              </a:rPr>
              <a:t>Leaders lack measurable signals</a:t>
            </a:r>
            <a:endParaRPr lang="en-US" sz="1200" dirty="0"/>
          </a:p>
        </p:txBody>
      </p:sp>
      <p:sp>
        <p:nvSpPr>
          <p:cNvPr id="29" name="Shape 23"/>
          <p:cNvSpPr/>
          <p:nvPr/>
        </p:nvSpPr>
        <p:spPr>
          <a:xfrm>
            <a:off x="640080" y="4709160"/>
            <a:ext cx="5486400" cy="1097280"/>
          </a:xfrm>
          <a:prstGeom prst="roundRect">
            <a:avLst>
              <a:gd name="adj" fmla="val 5000"/>
            </a:avLst>
          </a:prstGeom>
          <a:solidFill>
            <a:srgbClr val="1E2761"/>
          </a:solidFill>
          <a:ln/>
        </p:spPr>
        <p:txBody>
          <a:bodyPr/>
          <a:lstStyle/>
          <a:p>
            <a:endParaRPr lang="en-IN"/>
          </a:p>
        </p:txBody>
      </p:sp>
      <p:sp>
        <p:nvSpPr>
          <p:cNvPr id="30" name="Text 24"/>
          <p:cNvSpPr/>
          <p:nvPr/>
        </p:nvSpPr>
        <p:spPr>
          <a:xfrm>
            <a:off x="868680" y="4846320"/>
            <a:ext cx="5029200" cy="822960"/>
          </a:xfrm>
          <a:prstGeom prst="rect">
            <a:avLst/>
          </a:prstGeom>
          <a:noFill/>
          <a:ln/>
        </p:spPr>
        <p:txBody>
          <a:bodyPr wrap="square" rtlCol="0" anchor="ctr"/>
          <a:lstStyle/>
          <a:p>
            <a:pPr marL="0" indent="0">
              <a:lnSpc>
                <a:spcPct val="115000"/>
              </a:lnSpc>
              <a:buNone/>
            </a:pPr>
            <a:r>
              <a:rPr lang="en-US" sz="1400" b="1" dirty="0">
                <a:solidFill>
                  <a:srgbClr val="F4B740"/>
                </a:solidFill>
                <a:latin typeface="Segoe UI Semibold" pitchFamily="34" charset="0"/>
                <a:ea typeface="Segoe UI Semibold" pitchFamily="34" charset="-122"/>
                <a:cs typeface="Segoe UI Semibold" pitchFamily="34" charset="-120"/>
              </a:rPr>
              <a:t>The gap  </a:t>
            </a:r>
            <a:r>
              <a:rPr lang="en-US" sz="1400" dirty="0">
                <a:solidFill>
                  <a:srgbClr val="FFFFFF"/>
                </a:solidFill>
                <a:latin typeface="Segoe UI" pitchFamily="34" charset="0"/>
                <a:ea typeface="Segoe UI" pitchFamily="34" charset="-122"/>
                <a:cs typeface="Segoe UI" pitchFamily="34" charset="-120"/>
              </a:rPr>
              <a:t>Enterprises need one repeatable, auditable method to measure and improve AI output quality at scale.</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6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1E2761"/>
          </a:solidFill>
          <a:ln/>
        </p:spPr>
        <p:txBody>
          <a:bodyPr/>
          <a:lstStyle/>
          <a:p>
            <a:endParaRPr lang="en-IN"/>
          </a:p>
        </p:txBody>
      </p:sp>
      <p:sp>
        <p:nvSpPr>
          <p:cNvPr id="3" name="Text 1"/>
          <p:cNvSpPr/>
          <p:nvPr/>
        </p:nvSpPr>
        <p:spPr>
          <a:xfrm>
            <a:off x="640080" y="457200"/>
            <a:ext cx="10058400" cy="274320"/>
          </a:xfrm>
          <a:prstGeom prst="rect">
            <a:avLst/>
          </a:prstGeom>
          <a:noFill/>
          <a:ln/>
        </p:spPr>
        <p:txBody>
          <a:bodyPr wrap="square" rtlCol="0" anchor="ctr"/>
          <a:lstStyle/>
          <a:p>
            <a:pPr marL="0" indent="0">
              <a:buNone/>
            </a:pPr>
            <a:r>
              <a:rPr lang="en-US" sz="1200" b="1" kern="0" spc="300" dirty="0">
                <a:solidFill>
                  <a:srgbClr val="F4B740"/>
                </a:solidFill>
                <a:latin typeface="Segoe UI Semibold" pitchFamily="34" charset="0"/>
                <a:ea typeface="Segoe UI Semibold" pitchFamily="34" charset="-122"/>
                <a:cs typeface="Segoe UI Semibold" pitchFamily="34" charset="-120"/>
              </a:rPr>
              <a:t>OBJECTIVES</a:t>
            </a:r>
            <a:endParaRPr lang="en-US" sz="1200" dirty="0"/>
          </a:p>
        </p:txBody>
      </p:sp>
      <p:sp>
        <p:nvSpPr>
          <p:cNvPr id="4" name="Text 2"/>
          <p:cNvSpPr/>
          <p:nvPr/>
        </p:nvSpPr>
        <p:spPr>
          <a:xfrm>
            <a:off x="640080" y="731520"/>
            <a:ext cx="10881360" cy="640080"/>
          </a:xfrm>
          <a:prstGeom prst="rect">
            <a:avLst/>
          </a:prstGeom>
          <a:noFill/>
          <a:ln/>
        </p:spPr>
        <p:txBody>
          <a:bodyPr wrap="square" rtlCol="0" anchor="ctr"/>
          <a:lstStyle/>
          <a:p>
            <a:pPr marL="0" indent="0">
              <a:buNone/>
            </a:pPr>
            <a:r>
              <a:rPr lang="en-US" sz="3000" b="1" dirty="0">
                <a:solidFill>
                  <a:srgbClr val="1E2761"/>
                </a:solidFill>
                <a:latin typeface="Segoe UI Light" pitchFamily="34" charset="0"/>
                <a:ea typeface="Segoe UI Light" pitchFamily="34" charset="-122"/>
                <a:cs typeface="Segoe UI Light" pitchFamily="34" charset="-120"/>
              </a:rPr>
              <a:t>What this framework sets out to achieve</a:t>
            </a:r>
            <a:endParaRPr lang="en-US" sz="3000" dirty="0"/>
          </a:p>
        </p:txBody>
      </p:sp>
      <p:sp>
        <p:nvSpPr>
          <p:cNvPr id="5" name="Shape 3"/>
          <p:cNvSpPr/>
          <p:nvPr/>
        </p:nvSpPr>
        <p:spPr>
          <a:xfrm>
            <a:off x="658368" y="1417320"/>
            <a:ext cx="1005840" cy="0"/>
          </a:xfrm>
          <a:prstGeom prst="line">
            <a:avLst/>
          </a:prstGeom>
          <a:noFill/>
          <a:ln w="31750">
            <a:solidFill>
              <a:srgbClr val="F4B740"/>
            </a:solidFill>
            <a:prstDash val="solid"/>
          </a:ln>
        </p:spPr>
        <p:txBody>
          <a:bodyPr/>
          <a:lstStyle/>
          <a:p>
            <a:endParaRPr lang="en-IN"/>
          </a:p>
        </p:txBody>
      </p:sp>
      <p:sp>
        <p:nvSpPr>
          <p:cNvPr id="6" name="Text 4"/>
          <p:cNvSpPr/>
          <p:nvPr/>
        </p:nvSpPr>
        <p:spPr>
          <a:xfrm>
            <a:off x="11338560" y="6309360"/>
            <a:ext cx="548640" cy="274320"/>
          </a:xfrm>
          <a:prstGeom prst="rect">
            <a:avLst/>
          </a:prstGeom>
          <a:noFill/>
          <a:ln/>
        </p:spPr>
        <p:txBody>
          <a:bodyPr wrap="square" rtlCol="0" anchor="ctr"/>
          <a:lstStyle/>
          <a:p>
            <a:pPr marL="0" indent="0" algn="r">
              <a:buNone/>
            </a:pPr>
            <a:r>
              <a:rPr lang="en-US" sz="1100" dirty="0">
                <a:solidFill>
                  <a:srgbClr val="5B6488"/>
                </a:solidFill>
                <a:latin typeface="Segoe UI Semibold" pitchFamily="34" charset="0"/>
                <a:ea typeface="Segoe UI Semibold" pitchFamily="34" charset="-122"/>
                <a:cs typeface="Segoe UI Semibold" pitchFamily="34" charset="-120"/>
              </a:rPr>
              <a:t>03</a:t>
            </a:r>
            <a:endParaRPr lang="en-US" sz="1100" dirty="0"/>
          </a:p>
        </p:txBody>
      </p:sp>
      <p:sp>
        <p:nvSpPr>
          <p:cNvPr id="7" name="Text 5"/>
          <p:cNvSpPr/>
          <p:nvPr/>
        </p:nvSpPr>
        <p:spPr>
          <a:xfrm>
            <a:off x="640080" y="6309360"/>
            <a:ext cx="5486400" cy="274320"/>
          </a:xfrm>
          <a:prstGeom prst="rect">
            <a:avLst/>
          </a:prstGeom>
          <a:noFill/>
          <a:ln/>
        </p:spPr>
        <p:txBody>
          <a:bodyPr wrap="square" rtlCol="0" anchor="ctr"/>
          <a:lstStyle/>
          <a:p>
            <a:pPr marL="0" indent="0">
              <a:buNone/>
            </a:pPr>
            <a:r>
              <a:rPr lang="en-US" sz="900" dirty="0">
                <a:solidFill>
                  <a:srgbClr val="5B6488"/>
                </a:solidFill>
                <a:latin typeface="Segoe UI" pitchFamily="34" charset="0"/>
                <a:ea typeface="Segoe UI" pitchFamily="34" charset="-122"/>
                <a:cs typeface="Segoe UI" pitchFamily="34" charset="-120"/>
              </a:rPr>
              <a:t>AI Quality Evaluation Framework</a:t>
            </a:r>
            <a:endParaRPr lang="en-US" sz="900" dirty="0"/>
          </a:p>
        </p:txBody>
      </p:sp>
      <p:sp>
        <p:nvSpPr>
          <p:cNvPr id="8" name="Shape 6"/>
          <p:cNvSpPr/>
          <p:nvPr/>
        </p:nvSpPr>
        <p:spPr>
          <a:xfrm>
            <a:off x="700888" y="1828800"/>
            <a:ext cx="3383280" cy="1920240"/>
          </a:xfrm>
          <a:prstGeom prst="roundRect">
            <a:avLst>
              <a:gd name="adj" fmla="val 3333"/>
            </a:avLst>
          </a:prstGeom>
          <a:solidFill>
            <a:srgbClr val="FFFFFF"/>
          </a:solidFill>
          <a:ln w="12700">
            <a:solidFill>
              <a:srgbClr val="E2E7F5"/>
            </a:solidFill>
            <a:prstDash val="solid"/>
          </a:ln>
          <a:effectLst>
            <a:outerShdw blurRad="101600" dist="25400" dir="5400000" algn="bl" rotWithShape="0">
              <a:srgbClr val="C7CEE0">
                <a:alpha val="50000"/>
              </a:srgbClr>
            </a:outerShdw>
          </a:effectLst>
        </p:spPr>
        <p:txBody>
          <a:bodyPr/>
          <a:lstStyle/>
          <a:p>
            <a:endParaRPr lang="en-IN"/>
          </a:p>
        </p:txBody>
      </p:sp>
      <p:sp>
        <p:nvSpPr>
          <p:cNvPr id="9" name="Shape 7"/>
          <p:cNvSpPr/>
          <p:nvPr/>
        </p:nvSpPr>
        <p:spPr>
          <a:xfrm>
            <a:off x="700888" y="1828800"/>
            <a:ext cx="3383280" cy="82296"/>
          </a:xfrm>
          <a:prstGeom prst="rect">
            <a:avLst/>
          </a:prstGeom>
          <a:solidFill>
            <a:srgbClr val="F4B740"/>
          </a:solidFill>
          <a:ln/>
        </p:spPr>
        <p:txBody>
          <a:bodyPr/>
          <a:lstStyle/>
          <a:p>
            <a:endParaRPr lang="en-IN"/>
          </a:p>
        </p:txBody>
      </p:sp>
      <p:sp>
        <p:nvSpPr>
          <p:cNvPr id="10" name="Shape 8"/>
          <p:cNvSpPr/>
          <p:nvPr/>
        </p:nvSpPr>
        <p:spPr>
          <a:xfrm>
            <a:off x="975208" y="2148840"/>
            <a:ext cx="731520" cy="731520"/>
          </a:xfrm>
          <a:prstGeom prst="roundRect">
            <a:avLst>
              <a:gd name="adj" fmla="val 10000"/>
            </a:avLst>
          </a:prstGeom>
          <a:solidFill>
            <a:srgbClr val="1E2761"/>
          </a:solidFill>
          <a:ln/>
          <a:effectLst>
            <a:outerShdw blurRad="76200" dist="25400" dir="5400000" algn="bl" rotWithShape="0">
              <a:srgbClr val="8892B0">
                <a:alpha val="30000"/>
              </a:srgbClr>
            </a:outerShdw>
          </a:effectLst>
        </p:spPr>
        <p:txBody>
          <a:bodyPr/>
          <a:lstStyle/>
          <a:p>
            <a:endParaRPr lang="en-IN"/>
          </a:p>
        </p:txBody>
      </p:sp>
      <p:pic>
        <p:nvPicPr>
          <p:cNvPr id="11" name="Image 0" descr="preencoded.png"/>
          <p:cNvPicPr>
            <a:picLocks noChangeAspect="1"/>
          </p:cNvPicPr>
          <p:nvPr/>
        </p:nvPicPr>
        <p:blipFill>
          <a:blip r:embed="rId3"/>
          <a:stretch>
            <a:fillRect/>
          </a:stretch>
        </p:blipFill>
        <p:spPr>
          <a:xfrm>
            <a:off x="1150772" y="2324405"/>
            <a:ext cx="380390" cy="380390"/>
          </a:xfrm>
          <a:prstGeom prst="rect">
            <a:avLst/>
          </a:prstGeom>
        </p:spPr>
      </p:pic>
      <p:sp>
        <p:nvSpPr>
          <p:cNvPr id="12" name="Text 9"/>
          <p:cNvSpPr/>
          <p:nvPr/>
        </p:nvSpPr>
        <p:spPr>
          <a:xfrm>
            <a:off x="3169768" y="2121408"/>
            <a:ext cx="731520" cy="548640"/>
          </a:xfrm>
          <a:prstGeom prst="rect">
            <a:avLst/>
          </a:prstGeom>
          <a:noFill/>
          <a:ln/>
        </p:spPr>
        <p:txBody>
          <a:bodyPr wrap="square" rtlCol="0" anchor="ctr"/>
          <a:lstStyle/>
          <a:p>
            <a:pPr marL="0" indent="0" algn="r">
              <a:buNone/>
            </a:pPr>
            <a:r>
              <a:rPr lang="en-US" sz="3000" b="1" dirty="0">
                <a:solidFill>
                  <a:srgbClr val="D6DCEC"/>
                </a:solidFill>
                <a:latin typeface="Segoe UI Light" pitchFamily="34" charset="0"/>
                <a:ea typeface="Segoe UI Light" pitchFamily="34" charset="-122"/>
                <a:cs typeface="Segoe UI Light" pitchFamily="34" charset="-120"/>
              </a:rPr>
              <a:t>01</a:t>
            </a:r>
            <a:endParaRPr lang="en-US" sz="3000" dirty="0"/>
          </a:p>
        </p:txBody>
      </p:sp>
      <p:sp>
        <p:nvSpPr>
          <p:cNvPr id="13" name="Text 10"/>
          <p:cNvSpPr/>
          <p:nvPr/>
        </p:nvSpPr>
        <p:spPr>
          <a:xfrm>
            <a:off x="975208" y="2999232"/>
            <a:ext cx="2834640" cy="457200"/>
          </a:xfrm>
          <a:prstGeom prst="rect">
            <a:avLst/>
          </a:prstGeom>
          <a:noFill/>
          <a:ln/>
        </p:spPr>
        <p:txBody>
          <a:bodyPr wrap="square" rtlCol="0" anchor="ctr"/>
          <a:lstStyle/>
          <a:p>
            <a:pPr marL="0" indent="0">
              <a:buNone/>
            </a:pPr>
            <a:r>
              <a:rPr lang="en-US" sz="1500" b="1" dirty="0">
                <a:solidFill>
                  <a:srgbClr val="1E2761"/>
                </a:solidFill>
                <a:latin typeface="Segoe UI Semibold" pitchFamily="34" charset="0"/>
                <a:ea typeface="Segoe UI Semibold" pitchFamily="34" charset="-122"/>
                <a:cs typeface="Segoe UI Semibold" pitchFamily="34" charset="-120"/>
              </a:rPr>
              <a:t>Standardize AI evaluation</a:t>
            </a:r>
            <a:endParaRPr lang="en-US" sz="1500" dirty="0"/>
          </a:p>
        </p:txBody>
      </p:sp>
      <p:sp>
        <p:nvSpPr>
          <p:cNvPr id="14" name="Text 11"/>
          <p:cNvSpPr/>
          <p:nvPr/>
        </p:nvSpPr>
        <p:spPr>
          <a:xfrm>
            <a:off x="975208" y="3401568"/>
            <a:ext cx="2834640" cy="320040"/>
          </a:xfrm>
          <a:prstGeom prst="rect">
            <a:avLst/>
          </a:prstGeom>
          <a:noFill/>
          <a:ln/>
        </p:spPr>
        <p:txBody>
          <a:bodyPr wrap="square" rtlCol="0" anchor="ctr"/>
          <a:lstStyle/>
          <a:p>
            <a:pPr marL="0" indent="0">
              <a:buNone/>
            </a:pPr>
            <a:r>
              <a:rPr lang="en-US" sz="1150" dirty="0">
                <a:solidFill>
                  <a:srgbClr val="5B6488"/>
                </a:solidFill>
                <a:latin typeface="Segoe UI" pitchFamily="34" charset="0"/>
                <a:ea typeface="Segoe UI" pitchFamily="34" charset="-122"/>
                <a:cs typeface="Segoe UI" pitchFamily="34" charset="-120"/>
              </a:rPr>
              <a:t>A consistent rubric for every response</a:t>
            </a:r>
            <a:endParaRPr lang="en-US" sz="1150" dirty="0"/>
          </a:p>
        </p:txBody>
      </p:sp>
      <p:sp>
        <p:nvSpPr>
          <p:cNvPr id="15" name="Shape 12"/>
          <p:cNvSpPr/>
          <p:nvPr/>
        </p:nvSpPr>
        <p:spPr>
          <a:xfrm>
            <a:off x="4404208" y="1828800"/>
            <a:ext cx="3383280" cy="1920240"/>
          </a:xfrm>
          <a:prstGeom prst="roundRect">
            <a:avLst>
              <a:gd name="adj" fmla="val 3333"/>
            </a:avLst>
          </a:prstGeom>
          <a:solidFill>
            <a:srgbClr val="FFFFFF"/>
          </a:solidFill>
          <a:ln w="12700">
            <a:solidFill>
              <a:srgbClr val="E2E7F5"/>
            </a:solidFill>
            <a:prstDash val="solid"/>
          </a:ln>
          <a:effectLst>
            <a:outerShdw blurRad="101600" dist="25400" dir="5400000" algn="bl" rotWithShape="0">
              <a:srgbClr val="C7CEE0">
                <a:alpha val="50000"/>
              </a:srgbClr>
            </a:outerShdw>
          </a:effectLst>
        </p:spPr>
        <p:txBody>
          <a:bodyPr/>
          <a:lstStyle/>
          <a:p>
            <a:endParaRPr lang="en-IN"/>
          </a:p>
        </p:txBody>
      </p:sp>
      <p:sp>
        <p:nvSpPr>
          <p:cNvPr id="16" name="Shape 13"/>
          <p:cNvSpPr/>
          <p:nvPr/>
        </p:nvSpPr>
        <p:spPr>
          <a:xfrm>
            <a:off x="4404208" y="1828800"/>
            <a:ext cx="3383280" cy="82296"/>
          </a:xfrm>
          <a:prstGeom prst="rect">
            <a:avLst/>
          </a:prstGeom>
          <a:solidFill>
            <a:srgbClr val="F4B740"/>
          </a:solidFill>
          <a:ln/>
        </p:spPr>
        <p:txBody>
          <a:bodyPr/>
          <a:lstStyle/>
          <a:p>
            <a:endParaRPr lang="en-IN"/>
          </a:p>
        </p:txBody>
      </p:sp>
      <p:sp>
        <p:nvSpPr>
          <p:cNvPr id="17" name="Shape 14"/>
          <p:cNvSpPr/>
          <p:nvPr/>
        </p:nvSpPr>
        <p:spPr>
          <a:xfrm>
            <a:off x="4678528" y="2148840"/>
            <a:ext cx="731520" cy="731520"/>
          </a:xfrm>
          <a:prstGeom prst="roundRect">
            <a:avLst>
              <a:gd name="adj" fmla="val 10000"/>
            </a:avLst>
          </a:prstGeom>
          <a:solidFill>
            <a:srgbClr val="1E2761"/>
          </a:solidFill>
          <a:ln/>
          <a:effectLst>
            <a:outerShdw blurRad="76200" dist="25400" dir="5400000" algn="bl" rotWithShape="0">
              <a:srgbClr val="8892B0">
                <a:alpha val="30000"/>
              </a:srgbClr>
            </a:outerShdw>
          </a:effectLst>
        </p:spPr>
        <p:txBody>
          <a:bodyPr/>
          <a:lstStyle/>
          <a:p>
            <a:endParaRPr lang="en-IN"/>
          </a:p>
        </p:txBody>
      </p:sp>
      <p:pic>
        <p:nvPicPr>
          <p:cNvPr id="18" name="Image 1" descr="preencoded.png"/>
          <p:cNvPicPr>
            <a:picLocks noChangeAspect="1"/>
          </p:cNvPicPr>
          <p:nvPr/>
        </p:nvPicPr>
        <p:blipFill>
          <a:blip r:embed="rId4"/>
          <a:stretch>
            <a:fillRect/>
          </a:stretch>
        </p:blipFill>
        <p:spPr>
          <a:xfrm>
            <a:off x="4854092" y="2324405"/>
            <a:ext cx="380390" cy="380390"/>
          </a:xfrm>
          <a:prstGeom prst="rect">
            <a:avLst/>
          </a:prstGeom>
        </p:spPr>
      </p:pic>
      <p:sp>
        <p:nvSpPr>
          <p:cNvPr id="19" name="Text 15"/>
          <p:cNvSpPr/>
          <p:nvPr/>
        </p:nvSpPr>
        <p:spPr>
          <a:xfrm>
            <a:off x="6873088" y="2121408"/>
            <a:ext cx="731520" cy="548640"/>
          </a:xfrm>
          <a:prstGeom prst="rect">
            <a:avLst/>
          </a:prstGeom>
          <a:noFill/>
          <a:ln/>
        </p:spPr>
        <p:txBody>
          <a:bodyPr wrap="square" rtlCol="0" anchor="ctr"/>
          <a:lstStyle/>
          <a:p>
            <a:pPr marL="0" indent="0" algn="r">
              <a:buNone/>
            </a:pPr>
            <a:r>
              <a:rPr lang="en-US" sz="3000" b="1" dirty="0">
                <a:solidFill>
                  <a:srgbClr val="D6DCEC"/>
                </a:solidFill>
                <a:latin typeface="Segoe UI Light" pitchFamily="34" charset="0"/>
                <a:ea typeface="Segoe UI Light" pitchFamily="34" charset="-122"/>
                <a:cs typeface="Segoe UI Light" pitchFamily="34" charset="-120"/>
              </a:rPr>
              <a:t>02</a:t>
            </a:r>
            <a:endParaRPr lang="en-US" sz="3000" dirty="0"/>
          </a:p>
        </p:txBody>
      </p:sp>
      <p:sp>
        <p:nvSpPr>
          <p:cNvPr id="20" name="Text 16"/>
          <p:cNvSpPr/>
          <p:nvPr/>
        </p:nvSpPr>
        <p:spPr>
          <a:xfrm>
            <a:off x="4678528" y="2999232"/>
            <a:ext cx="2834640" cy="457200"/>
          </a:xfrm>
          <a:prstGeom prst="rect">
            <a:avLst/>
          </a:prstGeom>
          <a:noFill/>
          <a:ln/>
        </p:spPr>
        <p:txBody>
          <a:bodyPr wrap="square" rtlCol="0" anchor="ctr"/>
          <a:lstStyle/>
          <a:p>
            <a:pPr marL="0" indent="0">
              <a:buNone/>
            </a:pPr>
            <a:r>
              <a:rPr lang="en-US" sz="1500" b="1" dirty="0">
                <a:solidFill>
                  <a:srgbClr val="1E2761"/>
                </a:solidFill>
                <a:latin typeface="Segoe UI Semibold" pitchFamily="34" charset="0"/>
                <a:ea typeface="Segoe UI Semibold" pitchFamily="34" charset="-122"/>
                <a:cs typeface="Segoe UI Semibold" pitchFamily="34" charset="-120"/>
              </a:rPr>
              <a:t>Improve reviewer consistency</a:t>
            </a:r>
            <a:endParaRPr lang="en-US" sz="1500" dirty="0"/>
          </a:p>
        </p:txBody>
      </p:sp>
      <p:sp>
        <p:nvSpPr>
          <p:cNvPr id="21" name="Text 17"/>
          <p:cNvSpPr/>
          <p:nvPr/>
        </p:nvSpPr>
        <p:spPr>
          <a:xfrm>
            <a:off x="4678528" y="3401568"/>
            <a:ext cx="2834640" cy="320040"/>
          </a:xfrm>
          <a:prstGeom prst="rect">
            <a:avLst/>
          </a:prstGeom>
          <a:noFill/>
          <a:ln/>
        </p:spPr>
        <p:txBody>
          <a:bodyPr wrap="square" rtlCol="0" anchor="ctr"/>
          <a:lstStyle/>
          <a:p>
            <a:pPr marL="0" indent="0">
              <a:buNone/>
            </a:pPr>
            <a:r>
              <a:rPr lang="en-US" sz="1150" dirty="0">
                <a:solidFill>
                  <a:srgbClr val="5B6488"/>
                </a:solidFill>
                <a:latin typeface="Segoe UI" pitchFamily="34" charset="0"/>
                <a:ea typeface="Segoe UI" pitchFamily="34" charset="-122"/>
                <a:cs typeface="Segoe UI" pitchFamily="34" charset="-120"/>
              </a:rPr>
              <a:t>Calibration that aligns human judgment</a:t>
            </a:r>
            <a:endParaRPr lang="en-US" sz="1150" dirty="0"/>
          </a:p>
        </p:txBody>
      </p:sp>
      <p:sp>
        <p:nvSpPr>
          <p:cNvPr id="22" name="Shape 18"/>
          <p:cNvSpPr/>
          <p:nvPr/>
        </p:nvSpPr>
        <p:spPr>
          <a:xfrm>
            <a:off x="8107528" y="1828800"/>
            <a:ext cx="3383280" cy="1920240"/>
          </a:xfrm>
          <a:prstGeom prst="roundRect">
            <a:avLst>
              <a:gd name="adj" fmla="val 3333"/>
            </a:avLst>
          </a:prstGeom>
          <a:solidFill>
            <a:srgbClr val="FFFFFF"/>
          </a:solidFill>
          <a:ln w="12700">
            <a:solidFill>
              <a:srgbClr val="E2E7F5"/>
            </a:solidFill>
            <a:prstDash val="solid"/>
          </a:ln>
          <a:effectLst>
            <a:outerShdw blurRad="101600" dist="25400" dir="5400000" algn="bl" rotWithShape="0">
              <a:srgbClr val="C7CEE0">
                <a:alpha val="50000"/>
              </a:srgbClr>
            </a:outerShdw>
          </a:effectLst>
        </p:spPr>
        <p:txBody>
          <a:bodyPr/>
          <a:lstStyle/>
          <a:p>
            <a:endParaRPr lang="en-IN"/>
          </a:p>
        </p:txBody>
      </p:sp>
      <p:sp>
        <p:nvSpPr>
          <p:cNvPr id="23" name="Shape 19"/>
          <p:cNvSpPr/>
          <p:nvPr/>
        </p:nvSpPr>
        <p:spPr>
          <a:xfrm>
            <a:off x="8107528" y="1828800"/>
            <a:ext cx="3383280" cy="82296"/>
          </a:xfrm>
          <a:prstGeom prst="rect">
            <a:avLst/>
          </a:prstGeom>
          <a:solidFill>
            <a:srgbClr val="F4B740"/>
          </a:solidFill>
          <a:ln/>
        </p:spPr>
        <p:txBody>
          <a:bodyPr/>
          <a:lstStyle/>
          <a:p>
            <a:endParaRPr lang="en-IN"/>
          </a:p>
        </p:txBody>
      </p:sp>
      <p:sp>
        <p:nvSpPr>
          <p:cNvPr id="24" name="Shape 20"/>
          <p:cNvSpPr/>
          <p:nvPr/>
        </p:nvSpPr>
        <p:spPr>
          <a:xfrm>
            <a:off x="8381848" y="2148840"/>
            <a:ext cx="731520" cy="731520"/>
          </a:xfrm>
          <a:prstGeom prst="roundRect">
            <a:avLst>
              <a:gd name="adj" fmla="val 10000"/>
            </a:avLst>
          </a:prstGeom>
          <a:solidFill>
            <a:srgbClr val="1E2761"/>
          </a:solidFill>
          <a:ln/>
          <a:effectLst>
            <a:outerShdw blurRad="76200" dist="25400" dir="5400000" algn="bl" rotWithShape="0">
              <a:srgbClr val="8892B0">
                <a:alpha val="30000"/>
              </a:srgbClr>
            </a:outerShdw>
          </a:effectLst>
        </p:spPr>
        <p:txBody>
          <a:bodyPr/>
          <a:lstStyle/>
          <a:p>
            <a:endParaRPr lang="en-IN"/>
          </a:p>
        </p:txBody>
      </p:sp>
      <p:pic>
        <p:nvPicPr>
          <p:cNvPr id="25" name="Image 2" descr="preencoded.png"/>
          <p:cNvPicPr>
            <a:picLocks noChangeAspect="1"/>
          </p:cNvPicPr>
          <p:nvPr/>
        </p:nvPicPr>
        <p:blipFill>
          <a:blip r:embed="rId5"/>
          <a:stretch>
            <a:fillRect/>
          </a:stretch>
        </p:blipFill>
        <p:spPr>
          <a:xfrm>
            <a:off x="8557412" y="2324405"/>
            <a:ext cx="380390" cy="380390"/>
          </a:xfrm>
          <a:prstGeom prst="rect">
            <a:avLst/>
          </a:prstGeom>
        </p:spPr>
      </p:pic>
      <p:sp>
        <p:nvSpPr>
          <p:cNvPr id="26" name="Text 21"/>
          <p:cNvSpPr/>
          <p:nvPr/>
        </p:nvSpPr>
        <p:spPr>
          <a:xfrm>
            <a:off x="10576408" y="2121408"/>
            <a:ext cx="731520" cy="548640"/>
          </a:xfrm>
          <a:prstGeom prst="rect">
            <a:avLst/>
          </a:prstGeom>
          <a:noFill/>
          <a:ln/>
        </p:spPr>
        <p:txBody>
          <a:bodyPr wrap="square" rtlCol="0" anchor="ctr"/>
          <a:lstStyle/>
          <a:p>
            <a:pPr marL="0" indent="0" algn="r">
              <a:buNone/>
            </a:pPr>
            <a:r>
              <a:rPr lang="en-US" sz="3000" b="1" dirty="0">
                <a:solidFill>
                  <a:srgbClr val="D6DCEC"/>
                </a:solidFill>
                <a:latin typeface="Segoe UI Light" pitchFamily="34" charset="0"/>
                <a:ea typeface="Segoe UI Light" pitchFamily="34" charset="-122"/>
                <a:cs typeface="Segoe UI Light" pitchFamily="34" charset="-120"/>
              </a:rPr>
              <a:t>03</a:t>
            </a:r>
            <a:endParaRPr lang="en-US" sz="3000" dirty="0"/>
          </a:p>
        </p:txBody>
      </p:sp>
      <p:sp>
        <p:nvSpPr>
          <p:cNvPr id="27" name="Text 22"/>
          <p:cNvSpPr/>
          <p:nvPr/>
        </p:nvSpPr>
        <p:spPr>
          <a:xfrm>
            <a:off x="8381848" y="2999232"/>
            <a:ext cx="2834640" cy="457200"/>
          </a:xfrm>
          <a:prstGeom prst="rect">
            <a:avLst/>
          </a:prstGeom>
          <a:noFill/>
          <a:ln/>
        </p:spPr>
        <p:txBody>
          <a:bodyPr wrap="square" rtlCol="0" anchor="ctr"/>
          <a:lstStyle/>
          <a:p>
            <a:pPr marL="0" indent="0">
              <a:buNone/>
            </a:pPr>
            <a:r>
              <a:rPr lang="en-US" sz="1500" b="1" dirty="0">
                <a:solidFill>
                  <a:srgbClr val="1E2761"/>
                </a:solidFill>
                <a:latin typeface="Segoe UI Semibold" pitchFamily="34" charset="0"/>
                <a:ea typeface="Segoe UI Semibold" pitchFamily="34" charset="-122"/>
                <a:cs typeface="Segoe UI Semibold" pitchFamily="34" charset="-120"/>
              </a:rPr>
              <a:t>Build governance</a:t>
            </a:r>
            <a:endParaRPr lang="en-US" sz="1500" dirty="0"/>
          </a:p>
        </p:txBody>
      </p:sp>
      <p:sp>
        <p:nvSpPr>
          <p:cNvPr id="28" name="Text 23"/>
          <p:cNvSpPr/>
          <p:nvPr/>
        </p:nvSpPr>
        <p:spPr>
          <a:xfrm>
            <a:off x="8381848" y="3401568"/>
            <a:ext cx="2834640" cy="320040"/>
          </a:xfrm>
          <a:prstGeom prst="rect">
            <a:avLst/>
          </a:prstGeom>
          <a:noFill/>
          <a:ln/>
        </p:spPr>
        <p:txBody>
          <a:bodyPr wrap="square" rtlCol="0" anchor="ctr"/>
          <a:lstStyle/>
          <a:p>
            <a:pPr marL="0" indent="0">
              <a:buNone/>
            </a:pPr>
            <a:r>
              <a:rPr lang="en-US" sz="1150" dirty="0">
                <a:solidFill>
                  <a:srgbClr val="5B6488"/>
                </a:solidFill>
                <a:latin typeface="Segoe UI" pitchFamily="34" charset="0"/>
                <a:ea typeface="Segoe UI" pitchFamily="34" charset="-122"/>
                <a:cs typeface="Segoe UI" pitchFamily="34" charset="-120"/>
              </a:rPr>
              <a:t>Clear severity, escalation, and ownership</a:t>
            </a:r>
            <a:endParaRPr lang="en-US" sz="1150" dirty="0"/>
          </a:p>
        </p:txBody>
      </p:sp>
      <p:sp>
        <p:nvSpPr>
          <p:cNvPr id="29" name="Shape 24"/>
          <p:cNvSpPr/>
          <p:nvPr/>
        </p:nvSpPr>
        <p:spPr>
          <a:xfrm>
            <a:off x="2552548" y="3977640"/>
            <a:ext cx="3383280" cy="1920240"/>
          </a:xfrm>
          <a:prstGeom prst="roundRect">
            <a:avLst>
              <a:gd name="adj" fmla="val 3333"/>
            </a:avLst>
          </a:prstGeom>
          <a:solidFill>
            <a:srgbClr val="FFFFFF"/>
          </a:solidFill>
          <a:ln w="12700">
            <a:solidFill>
              <a:srgbClr val="E2E7F5"/>
            </a:solidFill>
            <a:prstDash val="solid"/>
          </a:ln>
          <a:effectLst>
            <a:outerShdw blurRad="101600" dist="25400" dir="5400000" algn="bl" rotWithShape="0">
              <a:srgbClr val="C7CEE0">
                <a:alpha val="50000"/>
              </a:srgbClr>
            </a:outerShdw>
          </a:effectLst>
        </p:spPr>
        <p:txBody>
          <a:bodyPr/>
          <a:lstStyle/>
          <a:p>
            <a:endParaRPr lang="en-IN"/>
          </a:p>
        </p:txBody>
      </p:sp>
      <p:sp>
        <p:nvSpPr>
          <p:cNvPr id="30" name="Shape 25"/>
          <p:cNvSpPr/>
          <p:nvPr/>
        </p:nvSpPr>
        <p:spPr>
          <a:xfrm>
            <a:off x="2552548" y="3977640"/>
            <a:ext cx="3383280" cy="82296"/>
          </a:xfrm>
          <a:prstGeom prst="rect">
            <a:avLst/>
          </a:prstGeom>
          <a:solidFill>
            <a:srgbClr val="F4B740"/>
          </a:solidFill>
          <a:ln/>
        </p:spPr>
        <p:txBody>
          <a:bodyPr/>
          <a:lstStyle/>
          <a:p>
            <a:endParaRPr lang="en-IN"/>
          </a:p>
        </p:txBody>
      </p:sp>
      <p:sp>
        <p:nvSpPr>
          <p:cNvPr id="31" name="Shape 26"/>
          <p:cNvSpPr/>
          <p:nvPr/>
        </p:nvSpPr>
        <p:spPr>
          <a:xfrm>
            <a:off x="2826868" y="4297680"/>
            <a:ext cx="731520" cy="731520"/>
          </a:xfrm>
          <a:prstGeom prst="roundRect">
            <a:avLst>
              <a:gd name="adj" fmla="val 10000"/>
            </a:avLst>
          </a:prstGeom>
          <a:solidFill>
            <a:srgbClr val="1E2761"/>
          </a:solidFill>
          <a:ln/>
          <a:effectLst>
            <a:outerShdw blurRad="76200" dist="25400" dir="5400000" algn="bl" rotWithShape="0">
              <a:srgbClr val="8892B0">
                <a:alpha val="30000"/>
              </a:srgbClr>
            </a:outerShdw>
          </a:effectLst>
        </p:spPr>
        <p:txBody>
          <a:bodyPr/>
          <a:lstStyle/>
          <a:p>
            <a:endParaRPr lang="en-IN"/>
          </a:p>
        </p:txBody>
      </p:sp>
      <p:pic>
        <p:nvPicPr>
          <p:cNvPr id="32" name="Image 3" descr="preencoded.png"/>
          <p:cNvPicPr>
            <a:picLocks noChangeAspect="1"/>
          </p:cNvPicPr>
          <p:nvPr/>
        </p:nvPicPr>
        <p:blipFill>
          <a:blip r:embed="rId6"/>
          <a:stretch>
            <a:fillRect/>
          </a:stretch>
        </p:blipFill>
        <p:spPr>
          <a:xfrm>
            <a:off x="3002432" y="4473245"/>
            <a:ext cx="380390" cy="380390"/>
          </a:xfrm>
          <a:prstGeom prst="rect">
            <a:avLst/>
          </a:prstGeom>
        </p:spPr>
      </p:pic>
      <p:sp>
        <p:nvSpPr>
          <p:cNvPr id="33" name="Text 27"/>
          <p:cNvSpPr/>
          <p:nvPr/>
        </p:nvSpPr>
        <p:spPr>
          <a:xfrm>
            <a:off x="5021428" y="4270248"/>
            <a:ext cx="731520" cy="548640"/>
          </a:xfrm>
          <a:prstGeom prst="rect">
            <a:avLst/>
          </a:prstGeom>
          <a:noFill/>
          <a:ln/>
        </p:spPr>
        <p:txBody>
          <a:bodyPr wrap="square" rtlCol="0" anchor="ctr"/>
          <a:lstStyle/>
          <a:p>
            <a:pPr marL="0" indent="0" algn="r">
              <a:buNone/>
            </a:pPr>
            <a:r>
              <a:rPr lang="en-US" sz="3000" b="1" dirty="0">
                <a:solidFill>
                  <a:srgbClr val="D6DCEC"/>
                </a:solidFill>
                <a:latin typeface="Segoe UI Light" pitchFamily="34" charset="0"/>
                <a:ea typeface="Segoe UI Light" pitchFamily="34" charset="-122"/>
                <a:cs typeface="Segoe UI Light" pitchFamily="34" charset="-120"/>
              </a:rPr>
              <a:t>04</a:t>
            </a:r>
            <a:endParaRPr lang="en-US" sz="3000" dirty="0"/>
          </a:p>
        </p:txBody>
      </p:sp>
      <p:sp>
        <p:nvSpPr>
          <p:cNvPr id="34" name="Text 28"/>
          <p:cNvSpPr/>
          <p:nvPr/>
        </p:nvSpPr>
        <p:spPr>
          <a:xfrm>
            <a:off x="2826868" y="5148072"/>
            <a:ext cx="2834640" cy="457200"/>
          </a:xfrm>
          <a:prstGeom prst="rect">
            <a:avLst/>
          </a:prstGeom>
          <a:noFill/>
          <a:ln/>
        </p:spPr>
        <p:txBody>
          <a:bodyPr wrap="square" rtlCol="0" anchor="ctr"/>
          <a:lstStyle/>
          <a:p>
            <a:pPr marL="0" indent="0">
              <a:buNone/>
            </a:pPr>
            <a:r>
              <a:rPr lang="en-US" sz="1500" b="1" dirty="0">
                <a:solidFill>
                  <a:srgbClr val="1E2761"/>
                </a:solidFill>
                <a:latin typeface="Segoe UI Semibold" pitchFamily="34" charset="0"/>
                <a:ea typeface="Segoe UI Semibold" pitchFamily="34" charset="-122"/>
                <a:cs typeface="Segoe UI Semibold" pitchFamily="34" charset="-120"/>
              </a:rPr>
              <a:t>Develop KPIs</a:t>
            </a:r>
            <a:endParaRPr lang="en-US" sz="1500" dirty="0"/>
          </a:p>
        </p:txBody>
      </p:sp>
      <p:sp>
        <p:nvSpPr>
          <p:cNvPr id="35" name="Text 29"/>
          <p:cNvSpPr/>
          <p:nvPr/>
        </p:nvSpPr>
        <p:spPr>
          <a:xfrm>
            <a:off x="2826868" y="5550408"/>
            <a:ext cx="2834640" cy="320040"/>
          </a:xfrm>
          <a:prstGeom prst="rect">
            <a:avLst/>
          </a:prstGeom>
          <a:noFill/>
          <a:ln/>
        </p:spPr>
        <p:txBody>
          <a:bodyPr wrap="square" rtlCol="0" anchor="ctr"/>
          <a:lstStyle/>
          <a:p>
            <a:pPr marL="0" indent="0">
              <a:buNone/>
            </a:pPr>
            <a:r>
              <a:rPr lang="en-US" sz="1150" dirty="0">
                <a:solidFill>
                  <a:srgbClr val="5B6488"/>
                </a:solidFill>
                <a:latin typeface="Segoe UI" pitchFamily="34" charset="0"/>
                <a:ea typeface="Segoe UI" pitchFamily="34" charset="-122"/>
                <a:cs typeface="Segoe UI" pitchFamily="34" charset="-120"/>
              </a:rPr>
              <a:t>Quantifiable, trackable quality signals</a:t>
            </a:r>
            <a:endParaRPr lang="en-US" sz="1150" dirty="0"/>
          </a:p>
        </p:txBody>
      </p:sp>
      <p:sp>
        <p:nvSpPr>
          <p:cNvPr id="36" name="Shape 30"/>
          <p:cNvSpPr/>
          <p:nvPr/>
        </p:nvSpPr>
        <p:spPr>
          <a:xfrm>
            <a:off x="6255868" y="3977640"/>
            <a:ext cx="3383280" cy="1920240"/>
          </a:xfrm>
          <a:prstGeom prst="roundRect">
            <a:avLst>
              <a:gd name="adj" fmla="val 3333"/>
            </a:avLst>
          </a:prstGeom>
          <a:solidFill>
            <a:srgbClr val="FFFFFF"/>
          </a:solidFill>
          <a:ln w="12700">
            <a:solidFill>
              <a:srgbClr val="E2E7F5"/>
            </a:solidFill>
            <a:prstDash val="solid"/>
          </a:ln>
          <a:effectLst>
            <a:outerShdw blurRad="101600" dist="25400" dir="5400000" algn="bl" rotWithShape="0">
              <a:srgbClr val="C7CEE0">
                <a:alpha val="50000"/>
              </a:srgbClr>
            </a:outerShdw>
          </a:effectLst>
        </p:spPr>
        <p:txBody>
          <a:bodyPr/>
          <a:lstStyle/>
          <a:p>
            <a:endParaRPr lang="en-IN"/>
          </a:p>
        </p:txBody>
      </p:sp>
      <p:sp>
        <p:nvSpPr>
          <p:cNvPr id="37" name="Shape 31"/>
          <p:cNvSpPr/>
          <p:nvPr/>
        </p:nvSpPr>
        <p:spPr>
          <a:xfrm>
            <a:off x="6255868" y="3977640"/>
            <a:ext cx="3383280" cy="82296"/>
          </a:xfrm>
          <a:prstGeom prst="rect">
            <a:avLst/>
          </a:prstGeom>
          <a:solidFill>
            <a:srgbClr val="F4B740"/>
          </a:solidFill>
          <a:ln/>
        </p:spPr>
        <p:txBody>
          <a:bodyPr/>
          <a:lstStyle/>
          <a:p>
            <a:endParaRPr lang="en-IN"/>
          </a:p>
        </p:txBody>
      </p:sp>
      <p:sp>
        <p:nvSpPr>
          <p:cNvPr id="38" name="Shape 32"/>
          <p:cNvSpPr/>
          <p:nvPr/>
        </p:nvSpPr>
        <p:spPr>
          <a:xfrm>
            <a:off x="6530188" y="4297680"/>
            <a:ext cx="731520" cy="731520"/>
          </a:xfrm>
          <a:prstGeom prst="roundRect">
            <a:avLst>
              <a:gd name="adj" fmla="val 10000"/>
            </a:avLst>
          </a:prstGeom>
          <a:solidFill>
            <a:srgbClr val="1E2761"/>
          </a:solidFill>
          <a:ln/>
          <a:effectLst>
            <a:outerShdw blurRad="76200" dist="25400" dir="5400000" algn="bl" rotWithShape="0">
              <a:srgbClr val="8892B0">
                <a:alpha val="30000"/>
              </a:srgbClr>
            </a:outerShdw>
          </a:effectLst>
        </p:spPr>
        <p:txBody>
          <a:bodyPr/>
          <a:lstStyle/>
          <a:p>
            <a:endParaRPr lang="en-IN"/>
          </a:p>
        </p:txBody>
      </p:sp>
      <p:pic>
        <p:nvPicPr>
          <p:cNvPr id="39" name="Image 4" descr="preencoded.png"/>
          <p:cNvPicPr>
            <a:picLocks noChangeAspect="1"/>
          </p:cNvPicPr>
          <p:nvPr/>
        </p:nvPicPr>
        <p:blipFill>
          <a:blip r:embed="rId7"/>
          <a:stretch>
            <a:fillRect/>
          </a:stretch>
        </p:blipFill>
        <p:spPr>
          <a:xfrm>
            <a:off x="6705752" y="4473245"/>
            <a:ext cx="380390" cy="380390"/>
          </a:xfrm>
          <a:prstGeom prst="rect">
            <a:avLst/>
          </a:prstGeom>
        </p:spPr>
      </p:pic>
      <p:sp>
        <p:nvSpPr>
          <p:cNvPr id="40" name="Text 33"/>
          <p:cNvSpPr/>
          <p:nvPr/>
        </p:nvSpPr>
        <p:spPr>
          <a:xfrm>
            <a:off x="8724748" y="4270248"/>
            <a:ext cx="731520" cy="548640"/>
          </a:xfrm>
          <a:prstGeom prst="rect">
            <a:avLst/>
          </a:prstGeom>
          <a:noFill/>
          <a:ln/>
        </p:spPr>
        <p:txBody>
          <a:bodyPr wrap="square" rtlCol="0" anchor="ctr"/>
          <a:lstStyle/>
          <a:p>
            <a:pPr marL="0" indent="0" algn="r">
              <a:buNone/>
            </a:pPr>
            <a:r>
              <a:rPr lang="en-US" sz="3000" b="1" dirty="0">
                <a:solidFill>
                  <a:srgbClr val="D6DCEC"/>
                </a:solidFill>
                <a:latin typeface="Segoe UI Light" pitchFamily="34" charset="0"/>
                <a:ea typeface="Segoe UI Light" pitchFamily="34" charset="-122"/>
                <a:cs typeface="Segoe UI Light" pitchFamily="34" charset="-120"/>
              </a:rPr>
              <a:t>05</a:t>
            </a:r>
            <a:endParaRPr lang="en-US" sz="3000" dirty="0"/>
          </a:p>
        </p:txBody>
      </p:sp>
      <p:sp>
        <p:nvSpPr>
          <p:cNvPr id="41" name="Text 34"/>
          <p:cNvSpPr/>
          <p:nvPr/>
        </p:nvSpPr>
        <p:spPr>
          <a:xfrm>
            <a:off x="6530188" y="5148072"/>
            <a:ext cx="2834640" cy="457200"/>
          </a:xfrm>
          <a:prstGeom prst="rect">
            <a:avLst/>
          </a:prstGeom>
          <a:noFill/>
          <a:ln/>
        </p:spPr>
        <p:txBody>
          <a:bodyPr wrap="square" rtlCol="0" anchor="ctr"/>
          <a:lstStyle/>
          <a:p>
            <a:pPr marL="0" indent="0">
              <a:buNone/>
            </a:pPr>
            <a:r>
              <a:rPr lang="en-US" sz="1500" b="1" dirty="0">
                <a:solidFill>
                  <a:srgbClr val="1E2761"/>
                </a:solidFill>
                <a:latin typeface="Segoe UI Semibold" pitchFamily="34" charset="0"/>
                <a:ea typeface="Segoe UI Semibold" pitchFamily="34" charset="-122"/>
                <a:cs typeface="Segoe UI Semibold" pitchFamily="34" charset="-120"/>
              </a:rPr>
              <a:t>Create executive reporting</a:t>
            </a:r>
            <a:endParaRPr lang="en-US" sz="1500" dirty="0"/>
          </a:p>
        </p:txBody>
      </p:sp>
      <p:sp>
        <p:nvSpPr>
          <p:cNvPr id="42" name="Text 35"/>
          <p:cNvSpPr/>
          <p:nvPr/>
        </p:nvSpPr>
        <p:spPr>
          <a:xfrm>
            <a:off x="6530188" y="5550408"/>
            <a:ext cx="2834640" cy="320040"/>
          </a:xfrm>
          <a:prstGeom prst="rect">
            <a:avLst/>
          </a:prstGeom>
          <a:noFill/>
          <a:ln/>
        </p:spPr>
        <p:txBody>
          <a:bodyPr wrap="square" rtlCol="0" anchor="ctr"/>
          <a:lstStyle/>
          <a:p>
            <a:pPr marL="0" indent="0">
              <a:buNone/>
            </a:pPr>
            <a:r>
              <a:rPr lang="en-US" sz="1150" dirty="0">
                <a:solidFill>
                  <a:srgbClr val="5B6488"/>
                </a:solidFill>
                <a:latin typeface="Segoe UI" pitchFamily="34" charset="0"/>
                <a:ea typeface="Segoe UI" pitchFamily="34" charset="-122"/>
                <a:cs typeface="Segoe UI" pitchFamily="34" charset="-120"/>
              </a:rPr>
              <a:t>Dashboards leaders can act on</a:t>
            </a:r>
            <a:endParaRPr lang="en-US" sz="11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6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1E2761"/>
          </a:solidFill>
          <a:ln/>
        </p:spPr>
        <p:txBody>
          <a:bodyPr/>
          <a:lstStyle/>
          <a:p>
            <a:endParaRPr lang="en-IN"/>
          </a:p>
        </p:txBody>
      </p:sp>
      <p:sp>
        <p:nvSpPr>
          <p:cNvPr id="3" name="Text 1"/>
          <p:cNvSpPr/>
          <p:nvPr/>
        </p:nvSpPr>
        <p:spPr>
          <a:xfrm>
            <a:off x="640080" y="457200"/>
            <a:ext cx="10058400" cy="274320"/>
          </a:xfrm>
          <a:prstGeom prst="rect">
            <a:avLst/>
          </a:prstGeom>
          <a:noFill/>
          <a:ln/>
        </p:spPr>
        <p:txBody>
          <a:bodyPr wrap="square" rtlCol="0" anchor="ctr"/>
          <a:lstStyle/>
          <a:p>
            <a:pPr marL="0" indent="0">
              <a:buNone/>
            </a:pPr>
            <a:r>
              <a:rPr lang="en-US" sz="1200" b="1" kern="0" spc="300" dirty="0">
                <a:solidFill>
                  <a:srgbClr val="F4B740"/>
                </a:solidFill>
                <a:latin typeface="Segoe UI Semibold" pitchFamily="34" charset="0"/>
                <a:ea typeface="Segoe UI Semibold" pitchFamily="34" charset="-122"/>
                <a:cs typeface="Segoe UI Semibold" pitchFamily="34" charset="-120"/>
              </a:rPr>
              <a:t>METHODOLOGY</a:t>
            </a:r>
            <a:endParaRPr lang="en-US" sz="1200" dirty="0"/>
          </a:p>
        </p:txBody>
      </p:sp>
      <p:sp>
        <p:nvSpPr>
          <p:cNvPr id="4" name="Text 2"/>
          <p:cNvSpPr/>
          <p:nvPr/>
        </p:nvSpPr>
        <p:spPr>
          <a:xfrm>
            <a:off x="640080" y="731520"/>
            <a:ext cx="10881360" cy="640080"/>
          </a:xfrm>
          <a:prstGeom prst="rect">
            <a:avLst/>
          </a:prstGeom>
          <a:noFill/>
          <a:ln/>
        </p:spPr>
        <p:txBody>
          <a:bodyPr wrap="square" rtlCol="0" anchor="ctr"/>
          <a:lstStyle/>
          <a:p>
            <a:pPr marL="0" indent="0">
              <a:buNone/>
            </a:pPr>
            <a:r>
              <a:rPr lang="en-US" sz="3000" b="1" dirty="0">
                <a:solidFill>
                  <a:srgbClr val="1E2761"/>
                </a:solidFill>
                <a:latin typeface="Segoe UI Light" pitchFamily="34" charset="0"/>
                <a:ea typeface="Segoe UI Light" pitchFamily="34" charset="-122"/>
                <a:cs typeface="Segoe UI Light" pitchFamily="34" charset="-120"/>
              </a:rPr>
              <a:t>A 10-stage end-to-end approach</a:t>
            </a:r>
            <a:endParaRPr lang="en-US" sz="3000" dirty="0"/>
          </a:p>
        </p:txBody>
      </p:sp>
      <p:sp>
        <p:nvSpPr>
          <p:cNvPr id="5" name="Shape 3"/>
          <p:cNvSpPr/>
          <p:nvPr/>
        </p:nvSpPr>
        <p:spPr>
          <a:xfrm>
            <a:off x="658368" y="1417320"/>
            <a:ext cx="1005840" cy="0"/>
          </a:xfrm>
          <a:prstGeom prst="line">
            <a:avLst/>
          </a:prstGeom>
          <a:noFill/>
          <a:ln w="31750">
            <a:solidFill>
              <a:srgbClr val="F4B740"/>
            </a:solidFill>
            <a:prstDash val="solid"/>
          </a:ln>
        </p:spPr>
        <p:txBody>
          <a:bodyPr/>
          <a:lstStyle/>
          <a:p>
            <a:endParaRPr lang="en-IN"/>
          </a:p>
        </p:txBody>
      </p:sp>
      <p:sp>
        <p:nvSpPr>
          <p:cNvPr id="6" name="Text 4"/>
          <p:cNvSpPr/>
          <p:nvPr/>
        </p:nvSpPr>
        <p:spPr>
          <a:xfrm>
            <a:off x="11338560" y="6309360"/>
            <a:ext cx="548640" cy="274320"/>
          </a:xfrm>
          <a:prstGeom prst="rect">
            <a:avLst/>
          </a:prstGeom>
          <a:noFill/>
          <a:ln/>
        </p:spPr>
        <p:txBody>
          <a:bodyPr wrap="square" rtlCol="0" anchor="ctr"/>
          <a:lstStyle/>
          <a:p>
            <a:pPr marL="0" indent="0" algn="r">
              <a:buNone/>
            </a:pPr>
            <a:r>
              <a:rPr lang="en-US" sz="1100" dirty="0">
                <a:solidFill>
                  <a:srgbClr val="5B6488"/>
                </a:solidFill>
                <a:latin typeface="Segoe UI Semibold" pitchFamily="34" charset="0"/>
                <a:ea typeface="Segoe UI Semibold" pitchFamily="34" charset="-122"/>
                <a:cs typeface="Segoe UI Semibold" pitchFamily="34" charset="-120"/>
              </a:rPr>
              <a:t>04</a:t>
            </a:r>
            <a:endParaRPr lang="en-US" sz="1100" dirty="0"/>
          </a:p>
        </p:txBody>
      </p:sp>
      <p:sp>
        <p:nvSpPr>
          <p:cNvPr id="7" name="Text 5"/>
          <p:cNvSpPr/>
          <p:nvPr/>
        </p:nvSpPr>
        <p:spPr>
          <a:xfrm>
            <a:off x="640080" y="6309360"/>
            <a:ext cx="5486400" cy="274320"/>
          </a:xfrm>
          <a:prstGeom prst="rect">
            <a:avLst/>
          </a:prstGeom>
          <a:noFill/>
          <a:ln/>
        </p:spPr>
        <p:txBody>
          <a:bodyPr wrap="square" rtlCol="0" anchor="ctr"/>
          <a:lstStyle/>
          <a:p>
            <a:pPr marL="0" indent="0">
              <a:buNone/>
            </a:pPr>
            <a:r>
              <a:rPr lang="en-US" sz="900" dirty="0">
                <a:solidFill>
                  <a:srgbClr val="5B6488"/>
                </a:solidFill>
                <a:latin typeface="Segoe UI" pitchFamily="34" charset="0"/>
                <a:ea typeface="Segoe UI" pitchFamily="34" charset="-122"/>
                <a:cs typeface="Segoe UI" pitchFamily="34" charset="-120"/>
              </a:rPr>
              <a:t>AI Quality Evaluation Framework</a:t>
            </a:r>
            <a:endParaRPr lang="en-US" sz="900" dirty="0"/>
          </a:p>
        </p:txBody>
      </p:sp>
      <p:sp>
        <p:nvSpPr>
          <p:cNvPr id="8" name="Shape 6"/>
          <p:cNvSpPr/>
          <p:nvPr/>
        </p:nvSpPr>
        <p:spPr>
          <a:xfrm>
            <a:off x="595732" y="1965960"/>
            <a:ext cx="1965960" cy="1371600"/>
          </a:xfrm>
          <a:prstGeom prst="roundRect">
            <a:avLst>
              <a:gd name="adj" fmla="val 6000"/>
            </a:avLst>
          </a:prstGeom>
          <a:solidFill>
            <a:srgbClr val="2A3576"/>
          </a:solidFill>
          <a:ln/>
          <a:effectLst>
            <a:outerShdw blurRad="76200" dist="25400" dir="5400000" algn="bl" rotWithShape="0">
              <a:srgbClr val="B9C1DA">
                <a:alpha val="45000"/>
              </a:srgbClr>
            </a:outerShdw>
          </a:effectLst>
        </p:spPr>
        <p:txBody>
          <a:bodyPr/>
          <a:lstStyle/>
          <a:p>
            <a:endParaRPr lang="en-IN"/>
          </a:p>
        </p:txBody>
      </p:sp>
      <p:sp>
        <p:nvSpPr>
          <p:cNvPr id="9" name="Shape 7"/>
          <p:cNvSpPr/>
          <p:nvPr/>
        </p:nvSpPr>
        <p:spPr>
          <a:xfrm>
            <a:off x="760324" y="2148840"/>
            <a:ext cx="502920" cy="502920"/>
          </a:xfrm>
          <a:prstGeom prst="roundRect">
            <a:avLst>
              <a:gd name="adj" fmla="val 14545"/>
            </a:avLst>
          </a:prstGeom>
          <a:solidFill>
            <a:srgbClr val="F4B740"/>
          </a:solidFill>
          <a:ln/>
          <a:effectLst>
            <a:outerShdw blurRad="76200" dist="25400" dir="5400000" algn="bl" rotWithShape="0">
              <a:srgbClr val="8892B0">
                <a:alpha val="30000"/>
              </a:srgbClr>
            </a:outerShdw>
          </a:effectLst>
        </p:spPr>
        <p:txBody>
          <a:bodyPr/>
          <a:lstStyle/>
          <a:p>
            <a:endParaRPr lang="en-IN"/>
          </a:p>
        </p:txBody>
      </p:sp>
      <p:pic>
        <p:nvPicPr>
          <p:cNvPr id="10" name="Image 0" descr="preencoded.png"/>
          <p:cNvPicPr>
            <a:picLocks noChangeAspect="1"/>
          </p:cNvPicPr>
          <p:nvPr/>
        </p:nvPicPr>
        <p:blipFill>
          <a:blip r:embed="rId3"/>
          <a:stretch>
            <a:fillRect/>
          </a:stretch>
        </p:blipFill>
        <p:spPr>
          <a:xfrm>
            <a:off x="881024" y="2269541"/>
            <a:ext cx="261518" cy="261518"/>
          </a:xfrm>
          <a:prstGeom prst="rect">
            <a:avLst/>
          </a:prstGeom>
        </p:spPr>
      </p:pic>
      <p:sp>
        <p:nvSpPr>
          <p:cNvPr id="11" name="Text 8"/>
          <p:cNvSpPr/>
          <p:nvPr/>
        </p:nvSpPr>
        <p:spPr>
          <a:xfrm>
            <a:off x="1994764" y="2075688"/>
            <a:ext cx="457200" cy="365760"/>
          </a:xfrm>
          <a:prstGeom prst="rect">
            <a:avLst/>
          </a:prstGeom>
          <a:noFill/>
          <a:ln/>
        </p:spPr>
        <p:txBody>
          <a:bodyPr wrap="square" rtlCol="0" anchor="ctr"/>
          <a:lstStyle/>
          <a:p>
            <a:pPr marL="0" indent="0" algn="r">
              <a:buNone/>
            </a:pPr>
            <a:r>
              <a:rPr lang="en-US" sz="2200" b="1" dirty="0">
                <a:solidFill>
                  <a:srgbClr val="8A93BE"/>
                </a:solidFill>
                <a:latin typeface="Segoe UI Light" pitchFamily="34" charset="0"/>
                <a:ea typeface="Segoe UI Light" pitchFamily="34" charset="-122"/>
                <a:cs typeface="Segoe UI Light" pitchFamily="34" charset="-120"/>
              </a:rPr>
              <a:t>1</a:t>
            </a:r>
            <a:endParaRPr lang="en-US" sz="2200" dirty="0"/>
          </a:p>
        </p:txBody>
      </p:sp>
      <p:sp>
        <p:nvSpPr>
          <p:cNvPr id="12" name="Text 9"/>
          <p:cNvSpPr/>
          <p:nvPr/>
        </p:nvSpPr>
        <p:spPr>
          <a:xfrm>
            <a:off x="732892" y="2715768"/>
            <a:ext cx="1691640" cy="502920"/>
          </a:xfrm>
          <a:prstGeom prst="rect">
            <a:avLst/>
          </a:prstGeom>
          <a:noFill/>
          <a:ln/>
        </p:spPr>
        <p:txBody>
          <a:bodyPr wrap="square" rtlCol="0" anchor="t"/>
          <a:lstStyle/>
          <a:p>
            <a:pPr marL="0" indent="0">
              <a:buNone/>
            </a:pPr>
            <a:r>
              <a:rPr lang="en-US" sz="1150" b="1" dirty="0">
                <a:solidFill>
                  <a:srgbClr val="FFFFFF"/>
                </a:solidFill>
                <a:latin typeface="Segoe UI Semibold" pitchFamily="34" charset="0"/>
                <a:ea typeface="Segoe UI Semibold" pitchFamily="34" charset="-122"/>
                <a:cs typeface="Segoe UI Semibold" pitchFamily="34" charset="-120"/>
              </a:rPr>
              <a:t>Project Setup</a:t>
            </a:r>
            <a:endParaRPr lang="en-US" sz="1150" dirty="0"/>
          </a:p>
        </p:txBody>
      </p:sp>
      <p:sp>
        <p:nvSpPr>
          <p:cNvPr id="13" name="Shape 10"/>
          <p:cNvSpPr/>
          <p:nvPr/>
        </p:nvSpPr>
        <p:spPr>
          <a:xfrm>
            <a:off x="2854300" y="1965960"/>
            <a:ext cx="1965960" cy="1371600"/>
          </a:xfrm>
          <a:prstGeom prst="roundRect">
            <a:avLst>
              <a:gd name="adj" fmla="val 6000"/>
            </a:avLst>
          </a:prstGeom>
          <a:solidFill>
            <a:srgbClr val="1E2761"/>
          </a:solidFill>
          <a:ln/>
          <a:effectLst>
            <a:outerShdw blurRad="76200" dist="25400" dir="5400000" algn="bl" rotWithShape="0">
              <a:srgbClr val="B9C1DA">
                <a:alpha val="45000"/>
              </a:srgbClr>
            </a:outerShdw>
          </a:effectLst>
        </p:spPr>
        <p:txBody>
          <a:bodyPr/>
          <a:lstStyle/>
          <a:p>
            <a:endParaRPr lang="en-IN"/>
          </a:p>
        </p:txBody>
      </p:sp>
      <p:sp>
        <p:nvSpPr>
          <p:cNvPr id="14" name="Shape 11"/>
          <p:cNvSpPr/>
          <p:nvPr/>
        </p:nvSpPr>
        <p:spPr>
          <a:xfrm>
            <a:off x="3018892" y="2148840"/>
            <a:ext cx="502920" cy="502920"/>
          </a:xfrm>
          <a:prstGeom prst="roundRect">
            <a:avLst>
              <a:gd name="adj" fmla="val 14545"/>
            </a:avLst>
          </a:prstGeom>
          <a:solidFill>
            <a:srgbClr val="F4B740"/>
          </a:solidFill>
          <a:ln/>
          <a:effectLst>
            <a:outerShdw blurRad="76200" dist="25400" dir="5400000" algn="bl" rotWithShape="0">
              <a:srgbClr val="8892B0">
                <a:alpha val="30000"/>
              </a:srgbClr>
            </a:outerShdw>
          </a:effectLst>
        </p:spPr>
        <p:txBody>
          <a:bodyPr/>
          <a:lstStyle/>
          <a:p>
            <a:endParaRPr lang="en-IN"/>
          </a:p>
        </p:txBody>
      </p:sp>
      <p:pic>
        <p:nvPicPr>
          <p:cNvPr id="15" name="Image 1" descr="preencoded.png"/>
          <p:cNvPicPr>
            <a:picLocks noChangeAspect="1"/>
          </p:cNvPicPr>
          <p:nvPr/>
        </p:nvPicPr>
        <p:blipFill>
          <a:blip r:embed="rId4"/>
          <a:stretch>
            <a:fillRect/>
          </a:stretch>
        </p:blipFill>
        <p:spPr>
          <a:xfrm>
            <a:off x="3139592" y="2269541"/>
            <a:ext cx="261518" cy="261518"/>
          </a:xfrm>
          <a:prstGeom prst="rect">
            <a:avLst/>
          </a:prstGeom>
        </p:spPr>
      </p:pic>
      <p:sp>
        <p:nvSpPr>
          <p:cNvPr id="16" name="Text 12"/>
          <p:cNvSpPr/>
          <p:nvPr/>
        </p:nvSpPr>
        <p:spPr>
          <a:xfrm>
            <a:off x="4253332" y="2075688"/>
            <a:ext cx="457200" cy="365760"/>
          </a:xfrm>
          <a:prstGeom prst="rect">
            <a:avLst/>
          </a:prstGeom>
          <a:noFill/>
          <a:ln/>
        </p:spPr>
        <p:txBody>
          <a:bodyPr wrap="square" rtlCol="0" anchor="ctr"/>
          <a:lstStyle/>
          <a:p>
            <a:pPr marL="0" indent="0" algn="r">
              <a:buNone/>
            </a:pPr>
            <a:r>
              <a:rPr lang="en-US" sz="2200" b="1" dirty="0">
                <a:solidFill>
                  <a:srgbClr val="8A93BE"/>
                </a:solidFill>
                <a:latin typeface="Segoe UI Light" pitchFamily="34" charset="0"/>
                <a:ea typeface="Segoe UI Light" pitchFamily="34" charset="-122"/>
                <a:cs typeface="Segoe UI Light" pitchFamily="34" charset="-120"/>
              </a:rPr>
              <a:t>2</a:t>
            </a:r>
            <a:endParaRPr lang="en-US" sz="2200" dirty="0"/>
          </a:p>
        </p:txBody>
      </p:sp>
      <p:sp>
        <p:nvSpPr>
          <p:cNvPr id="17" name="Text 13"/>
          <p:cNvSpPr/>
          <p:nvPr/>
        </p:nvSpPr>
        <p:spPr>
          <a:xfrm>
            <a:off x="2991460" y="2715768"/>
            <a:ext cx="1691640" cy="502920"/>
          </a:xfrm>
          <a:prstGeom prst="rect">
            <a:avLst/>
          </a:prstGeom>
          <a:noFill/>
          <a:ln/>
        </p:spPr>
        <p:txBody>
          <a:bodyPr wrap="square" rtlCol="0" anchor="t"/>
          <a:lstStyle/>
          <a:p>
            <a:pPr marL="0" indent="0">
              <a:buNone/>
            </a:pPr>
            <a:r>
              <a:rPr lang="en-US" sz="1150" b="1" dirty="0">
                <a:solidFill>
                  <a:srgbClr val="FFFFFF"/>
                </a:solidFill>
                <a:latin typeface="Segoe UI Semibold" pitchFamily="34" charset="0"/>
                <a:ea typeface="Segoe UI Semibold" pitchFamily="34" charset="-122"/>
                <a:cs typeface="Segoe UI Semibold" pitchFamily="34" charset="-120"/>
              </a:rPr>
              <a:t>Evaluation Rubric</a:t>
            </a:r>
            <a:endParaRPr lang="en-US" sz="1150" dirty="0"/>
          </a:p>
        </p:txBody>
      </p:sp>
      <p:sp>
        <p:nvSpPr>
          <p:cNvPr id="18" name="Shape 14"/>
          <p:cNvSpPr/>
          <p:nvPr/>
        </p:nvSpPr>
        <p:spPr>
          <a:xfrm>
            <a:off x="5112868" y="1965960"/>
            <a:ext cx="1965960" cy="1371600"/>
          </a:xfrm>
          <a:prstGeom prst="roundRect">
            <a:avLst>
              <a:gd name="adj" fmla="val 6000"/>
            </a:avLst>
          </a:prstGeom>
          <a:solidFill>
            <a:srgbClr val="2A3576"/>
          </a:solidFill>
          <a:ln/>
          <a:effectLst>
            <a:outerShdw blurRad="76200" dist="25400" dir="5400000" algn="bl" rotWithShape="0">
              <a:srgbClr val="B9C1DA">
                <a:alpha val="45000"/>
              </a:srgbClr>
            </a:outerShdw>
          </a:effectLst>
        </p:spPr>
        <p:txBody>
          <a:bodyPr/>
          <a:lstStyle/>
          <a:p>
            <a:endParaRPr lang="en-IN"/>
          </a:p>
        </p:txBody>
      </p:sp>
      <p:sp>
        <p:nvSpPr>
          <p:cNvPr id="19" name="Shape 15"/>
          <p:cNvSpPr/>
          <p:nvPr/>
        </p:nvSpPr>
        <p:spPr>
          <a:xfrm>
            <a:off x="5277460" y="2148840"/>
            <a:ext cx="502920" cy="502920"/>
          </a:xfrm>
          <a:prstGeom prst="roundRect">
            <a:avLst>
              <a:gd name="adj" fmla="val 14545"/>
            </a:avLst>
          </a:prstGeom>
          <a:solidFill>
            <a:srgbClr val="F4B740"/>
          </a:solidFill>
          <a:ln/>
          <a:effectLst>
            <a:outerShdw blurRad="76200" dist="25400" dir="5400000" algn="bl" rotWithShape="0">
              <a:srgbClr val="8892B0">
                <a:alpha val="30000"/>
              </a:srgbClr>
            </a:outerShdw>
          </a:effectLst>
        </p:spPr>
        <p:txBody>
          <a:bodyPr/>
          <a:lstStyle/>
          <a:p>
            <a:endParaRPr lang="en-IN"/>
          </a:p>
        </p:txBody>
      </p:sp>
      <p:pic>
        <p:nvPicPr>
          <p:cNvPr id="20" name="Image 2" descr="preencoded.png"/>
          <p:cNvPicPr>
            <a:picLocks noChangeAspect="1"/>
          </p:cNvPicPr>
          <p:nvPr/>
        </p:nvPicPr>
        <p:blipFill>
          <a:blip r:embed="rId5"/>
          <a:stretch>
            <a:fillRect/>
          </a:stretch>
        </p:blipFill>
        <p:spPr>
          <a:xfrm>
            <a:off x="5398160" y="2269541"/>
            <a:ext cx="261518" cy="261518"/>
          </a:xfrm>
          <a:prstGeom prst="rect">
            <a:avLst/>
          </a:prstGeom>
        </p:spPr>
      </p:pic>
      <p:sp>
        <p:nvSpPr>
          <p:cNvPr id="21" name="Text 16"/>
          <p:cNvSpPr/>
          <p:nvPr/>
        </p:nvSpPr>
        <p:spPr>
          <a:xfrm>
            <a:off x="6511900" y="2075688"/>
            <a:ext cx="457200" cy="365760"/>
          </a:xfrm>
          <a:prstGeom prst="rect">
            <a:avLst/>
          </a:prstGeom>
          <a:noFill/>
          <a:ln/>
        </p:spPr>
        <p:txBody>
          <a:bodyPr wrap="square" rtlCol="0" anchor="ctr"/>
          <a:lstStyle/>
          <a:p>
            <a:pPr marL="0" indent="0" algn="r">
              <a:buNone/>
            </a:pPr>
            <a:r>
              <a:rPr lang="en-US" sz="2200" b="1" dirty="0">
                <a:solidFill>
                  <a:srgbClr val="8A93BE"/>
                </a:solidFill>
                <a:latin typeface="Segoe UI Light" pitchFamily="34" charset="0"/>
                <a:ea typeface="Segoe UI Light" pitchFamily="34" charset="-122"/>
                <a:cs typeface="Segoe UI Light" pitchFamily="34" charset="-120"/>
              </a:rPr>
              <a:t>3</a:t>
            </a:r>
            <a:endParaRPr lang="en-US" sz="2200" dirty="0"/>
          </a:p>
        </p:txBody>
      </p:sp>
      <p:sp>
        <p:nvSpPr>
          <p:cNvPr id="22" name="Text 17"/>
          <p:cNvSpPr/>
          <p:nvPr/>
        </p:nvSpPr>
        <p:spPr>
          <a:xfrm>
            <a:off x="5250028" y="2715768"/>
            <a:ext cx="1691640" cy="502920"/>
          </a:xfrm>
          <a:prstGeom prst="rect">
            <a:avLst/>
          </a:prstGeom>
          <a:noFill/>
          <a:ln/>
        </p:spPr>
        <p:txBody>
          <a:bodyPr wrap="square" rtlCol="0" anchor="t"/>
          <a:lstStyle/>
          <a:p>
            <a:pPr marL="0" indent="0">
              <a:buNone/>
            </a:pPr>
            <a:r>
              <a:rPr lang="en-US" sz="1150" b="1" dirty="0">
                <a:solidFill>
                  <a:srgbClr val="FFFFFF"/>
                </a:solidFill>
                <a:latin typeface="Segoe UI Semibold" pitchFamily="34" charset="0"/>
                <a:ea typeface="Segoe UI Semibold" pitchFamily="34" charset="-122"/>
                <a:cs typeface="Segoe UI Semibold" pitchFamily="34" charset="-120"/>
              </a:rPr>
              <a:t>Calibration</a:t>
            </a:r>
            <a:endParaRPr lang="en-US" sz="1150" dirty="0"/>
          </a:p>
        </p:txBody>
      </p:sp>
      <p:sp>
        <p:nvSpPr>
          <p:cNvPr id="23" name="Shape 18"/>
          <p:cNvSpPr/>
          <p:nvPr/>
        </p:nvSpPr>
        <p:spPr>
          <a:xfrm>
            <a:off x="7371436" y="1965960"/>
            <a:ext cx="1965960" cy="1371600"/>
          </a:xfrm>
          <a:prstGeom prst="roundRect">
            <a:avLst>
              <a:gd name="adj" fmla="val 6000"/>
            </a:avLst>
          </a:prstGeom>
          <a:solidFill>
            <a:srgbClr val="1E2761"/>
          </a:solidFill>
          <a:ln/>
          <a:effectLst>
            <a:outerShdw blurRad="76200" dist="25400" dir="5400000" algn="bl" rotWithShape="0">
              <a:srgbClr val="B9C1DA">
                <a:alpha val="45000"/>
              </a:srgbClr>
            </a:outerShdw>
          </a:effectLst>
        </p:spPr>
        <p:txBody>
          <a:bodyPr/>
          <a:lstStyle/>
          <a:p>
            <a:endParaRPr lang="en-IN"/>
          </a:p>
        </p:txBody>
      </p:sp>
      <p:sp>
        <p:nvSpPr>
          <p:cNvPr id="24" name="Shape 19"/>
          <p:cNvSpPr/>
          <p:nvPr/>
        </p:nvSpPr>
        <p:spPr>
          <a:xfrm>
            <a:off x="7536028" y="2148840"/>
            <a:ext cx="502920" cy="502920"/>
          </a:xfrm>
          <a:prstGeom prst="roundRect">
            <a:avLst>
              <a:gd name="adj" fmla="val 14545"/>
            </a:avLst>
          </a:prstGeom>
          <a:solidFill>
            <a:srgbClr val="F4B740"/>
          </a:solidFill>
          <a:ln/>
          <a:effectLst>
            <a:outerShdw blurRad="76200" dist="25400" dir="5400000" algn="bl" rotWithShape="0">
              <a:srgbClr val="8892B0">
                <a:alpha val="30000"/>
              </a:srgbClr>
            </a:outerShdw>
          </a:effectLst>
        </p:spPr>
        <p:txBody>
          <a:bodyPr/>
          <a:lstStyle/>
          <a:p>
            <a:endParaRPr lang="en-IN"/>
          </a:p>
        </p:txBody>
      </p:sp>
      <p:pic>
        <p:nvPicPr>
          <p:cNvPr id="25" name="Image 3" descr="preencoded.png"/>
          <p:cNvPicPr>
            <a:picLocks noChangeAspect="1"/>
          </p:cNvPicPr>
          <p:nvPr/>
        </p:nvPicPr>
        <p:blipFill>
          <a:blip r:embed="rId6"/>
          <a:stretch>
            <a:fillRect/>
          </a:stretch>
        </p:blipFill>
        <p:spPr>
          <a:xfrm>
            <a:off x="7656728" y="2269541"/>
            <a:ext cx="261518" cy="261518"/>
          </a:xfrm>
          <a:prstGeom prst="rect">
            <a:avLst/>
          </a:prstGeom>
        </p:spPr>
      </p:pic>
      <p:sp>
        <p:nvSpPr>
          <p:cNvPr id="26" name="Text 20"/>
          <p:cNvSpPr/>
          <p:nvPr/>
        </p:nvSpPr>
        <p:spPr>
          <a:xfrm>
            <a:off x="8770468" y="2075688"/>
            <a:ext cx="457200" cy="365760"/>
          </a:xfrm>
          <a:prstGeom prst="rect">
            <a:avLst/>
          </a:prstGeom>
          <a:noFill/>
          <a:ln/>
        </p:spPr>
        <p:txBody>
          <a:bodyPr wrap="square" rtlCol="0" anchor="ctr"/>
          <a:lstStyle/>
          <a:p>
            <a:pPr marL="0" indent="0" algn="r">
              <a:buNone/>
            </a:pPr>
            <a:r>
              <a:rPr lang="en-US" sz="2200" b="1" dirty="0">
                <a:solidFill>
                  <a:srgbClr val="8A93BE"/>
                </a:solidFill>
                <a:latin typeface="Segoe UI Light" pitchFamily="34" charset="0"/>
                <a:ea typeface="Segoe UI Light" pitchFamily="34" charset="-122"/>
                <a:cs typeface="Segoe UI Light" pitchFamily="34" charset="-120"/>
              </a:rPr>
              <a:t>4</a:t>
            </a:r>
            <a:endParaRPr lang="en-US" sz="2200" dirty="0"/>
          </a:p>
        </p:txBody>
      </p:sp>
      <p:sp>
        <p:nvSpPr>
          <p:cNvPr id="27" name="Text 21"/>
          <p:cNvSpPr/>
          <p:nvPr/>
        </p:nvSpPr>
        <p:spPr>
          <a:xfrm>
            <a:off x="7508596" y="2715768"/>
            <a:ext cx="1691640" cy="502920"/>
          </a:xfrm>
          <a:prstGeom prst="rect">
            <a:avLst/>
          </a:prstGeom>
          <a:noFill/>
          <a:ln/>
        </p:spPr>
        <p:txBody>
          <a:bodyPr wrap="square" rtlCol="0" anchor="t"/>
          <a:lstStyle/>
          <a:p>
            <a:pPr marL="0" indent="0">
              <a:buNone/>
            </a:pPr>
            <a:r>
              <a:rPr lang="en-US" sz="1150" b="1" dirty="0">
                <a:solidFill>
                  <a:srgbClr val="FFFFFF"/>
                </a:solidFill>
                <a:latin typeface="Segoe UI Semibold" pitchFamily="34" charset="0"/>
                <a:ea typeface="Segoe UI Semibold" pitchFamily="34" charset="-122"/>
                <a:cs typeface="Segoe UI Semibold" pitchFamily="34" charset="-120"/>
              </a:rPr>
              <a:t>Error Taxonomy</a:t>
            </a:r>
            <a:endParaRPr lang="en-US" sz="1150" dirty="0"/>
          </a:p>
        </p:txBody>
      </p:sp>
      <p:sp>
        <p:nvSpPr>
          <p:cNvPr id="28" name="Shape 22"/>
          <p:cNvSpPr/>
          <p:nvPr/>
        </p:nvSpPr>
        <p:spPr>
          <a:xfrm>
            <a:off x="9630004" y="1965960"/>
            <a:ext cx="1965960" cy="1371600"/>
          </a:xfrm>
          <a:prstGeom prst="roundRect">
            <a:avLst>
              <a:gd name="adj" fmla="val 6000"/>
            </a:avLst>
          </a:prstGeom>
          <a:solidFill>
            <a:srgbClr val="2A3576"/>
          </a:solidFill>
          <a:ln/>
          <a:effectLst>
            <a:outerShdw blurRad="76200" dist="25400" dir="5400000" algn="bl" rotWithShape="0">
              <a:srgbClr val="B9C1DA">
                <a:alpha val="45000"/>
              </a:srgbClr>
            </a:outerShdw>
          </a:effectLst>
        </p:spPr>
        <p:txBody>
          <a:bodyPr/>
          <a:lstStyle/>
          <a:p>
            <a:endParaRPr lang="en-IN"/>
          </a:p>
        </p:txBody>
      </p:sp>
      <p:sp>
        <p:nvSpPr>
          <p:cNvPr id="29" name="Shape 23"/>
          <p:cNvSpPr/>
          <p:nvPr/>
        </p:nvSpPr>
        <p:spPr>
          <a:xfrm>
            <a:off x="9794596" y="2148840"/>
            <a:ext cx="502920" cy="502920"/>
          </a:xfrm>
          <a:prstGeom prst="roundRect">
            <a:avLst>
              <a:gd name="adj" fmla="val 14545"/>
            </a:avLst>
          </a:prstGeom>
          <a:solidFill>
            <a:srgbClr val="F4B740"/>
          </a:solidFill>
          <a:ln/>
          <a:effectLst>
            <a:outerShdw blurRad="76200" dist="25400" dir="5400000" algn="bl" rotWithShape="0">
              <a:srgbClr val="8892B0">
                <a:alpha val="30000"/>
              </a:srgbClr>
            </a:outerShdw>
          </a:effectLst>
        </p:spPr>
        <p:txBody>
          <a:bodyPr/>
          <a:lstStyle/>
          <a:p>
            <a:endParaRPr lang="en-IN"/>
          </a:p>
        </p:txBody>
      </p:sp>
      <p:pic>
        <p:nvPicPr>
          <p:cNvPr id="30" name="Image 4" descr="preencoded.png"/>
          <p:cNvPicPr>
            <a:picLocks noChangeAspect="1"/>
          </p:cNvPicPr>
          <p:nvPr/>
        </p:nvPicPr>
        <p:blipFill>
          <a:blip r:embed="rId7"/>
          <a:stretch>
            <a:fillRect/>
          </a:stretch>
        </p:blipFill>
        <p:spPr>
          <a:xfrm>
            <a:off x="9915296" y="2269541"/>
            <a:ext cx="261518" cy="261518"/>
          </a:xfrm>
          <a:prstGeom prst="rect">
            <a:avLst/>
          </a:prstGeom>
        </p:spPr>
      </p:pic>
      <p:sp>
        <p:nvSpPr>
          <p:cNvPr id="31" name="Text 24"/>
          <p:cNvSpPr/>
          <p:nvPr/>
        </p:nvSpPr>
        <p:spPr>
          <a:xfrm>
            <a:off x="11029036" y="2075688"/>
            <a:ext cx="457200" cy="365760"/>
          </a:xfrm>
          <a:prstGeom prst="rect">
            <a:avLst/>
          </a:prstGeom>
          <a:noFill/>
          <a:ln/>
        </p:spPr>
        <p:txBody>
          <a:bodyPr wrap="square" rtlCol="0" anchor="ctr"/>
          <a:lstStyle/>
          <a:p>
            <a:pPr marL="0" indent="0" algn="r">
              <a:buNone/>
            </a:pPr>
            <a:r>
              <a:rPr lang="en-US" sz="2200" b="1" dirty="0">
                <a:solidFill>
                  <a:srgbClr val="8A93BE"/>
                </a:solidFill>
                <a:latin typeface="Segoe UI Light" pitchFamily="34" charset="0"/>
                <a:ea typeface="Segoe UI Light" pitchFamily="34" charset="-122"/>
                <a:cs typeface="Segoe UI Light" pitchFamily="34" charset="-120"/>
              </a:rPr>
              <a:t>5</a:t>
            </a:r>
            <a:endParaRPr lang="en-US" sz="2200" dirty="0"/>
          </a:p>
        </p:txBody>
      </p:sp>
      <p:sp>
        <p:nvSpPr>
          <p:cNvPr id="32" name="Text 25"/>
          <p:cNvSpPr/>
          <p:nvPr/>
        </p:nvSpPr>
        <p:spPr>
          <a:xfrm>
            <a:off x="9767164" y="2715768"/>
            <a:ext cx="1691640" cy="502920"/>
          </a:xfrm>
          <a:prstGeom prst="rect">
            <a:avLst/>
          </a:prstGeom>
          <a:noFill/>
          <a:ln/>
        </p:spPr>
        <p:txBody>
          <a:bodyPr wrap="square" rtlCol="0" anchor="t"/>
          <a:lstStyle/>
          <a:p>
            <a:pPr marL="0" indent="0">
              <a:buNone/>
            </a:pPr>
            <a:r>
              <a:rPr lang="en-US" sz="1150" b="1" dirty="0">
                <a:solidFill>
                  <a:srgbClr val="FFFFFF"/>
                </a:solidFill>
                <a:latin typeface="Segoe UI Semibold" pitchFamily="34" charset="0"/>
                <a:ea typeface="Segoe UI Semibold" pitchFamily="34" charset="-122"/>
                <a:cs typeface="Segoe UI Semibold" pitchFamily="34" charset="-120"/>
              </a:rPr>
              <a:t>Dataset</a:t>
            </a:r>
            <a:endParaRPr lang="en-US" sz="1150" dirty="0"/>
          </a:p>
        </p:txBody>
      </p:sp>
      <p:sp>
        <p:nvSpPr>
          <p:cNvPr id="33" name="Shape 26"/>
          <p:cNvSpPr/>
          <p:nvPr/>
        </p:nvSpPr>
        <p:spPr>
          <a:xfrm>
            <a:off x="9630004" y="4023360"/>
            <a:ext cx="1965960" cy="1371600"/>
          </a:xfrm>
          <a:prstGeom prst="roundRect">
            <a:avLst>
              <a:gd name="adj" fmla="val 6000"/>
            </a:avLst>
          </a:prstGeom>
          <a:solidFill>
            <a:srgbClr val="1E2761"/>
          </a:solidFill>
          <a:ln/>
          <a:effectLst>
            <a:outerShdw blurRad="76200" dist="25400" dir="5400000" algn="bl" rotWithShape="0">
              <a:srgbClr val="B9C1DA">
                <a:alpha val="45000"/>
              </a:srgbClr>
            </a:outerShdw>
          </a:effectLst>
        </p:spPr>
        <p:txBody>
          <a:bodyPr/>
          <a:lstStyle/>
          <a:p>
            <a:endParaRPr lang="en-IN"/>
          </a:p>
        </p:txBody>
      </p:sp>
      <p:sp>
        <p:nvSpPr>
          <p:cNvPr id="34" name="Shape 27"/>
          <p:cNvSpPr/>
          <p:nvPr/>
        </p:nvSpPr>
        <p:spPr>
          <a:xfrm>
            <a:off x="9794596" y="4206240"/>
            <a:ext cx="502920" cy="502920"/>
          </a:xfrm>
          <a:prstGeom prst="roundRect">
            <a:avLst>
              <a:gd name="adj" fmla="val 14545"/>
            </a:avLst>
          </a:prstGeom>
          <a:solidFill>
            <a:srgbClr val="F4B740"/>
          </a:solidFill>
          <a:ln/>
          <a:effectLst>
            <a:outerShdw blurRad="76200" dist="25400" dir="5400000" algn="bl" rotWithShape="0">
              <a:srgbClr val="8892B0">
                <a:alpha val="30000"/>
              </a:srgbClr>
            </a:outerShdw>
          </a:effectLst>
        </p:spPr>
        <p:txBody>
          <a:bodyPr/>
          <a:lstStyle/>
          <a:p>
            <a:endParaRPr lang="en-IN"/>
          </a:p>
        </p:txBody>
      </p:sp>
      <p:pic>
        <p:nvPicPr>
          <p:cNvPr id="35" name="Image 5" descr="preencoded.png"/>
          <p:cNvPicPr>
            <a:picLocks noChangeAspect="1"/>
          </p:cNvPicPr>
          <p:nvPr/>
        </p:nvPicPr>
        <p:blipFill>
          <a:blip r:embed="rId8"/>
          <a:stretch>
            <a:fillRect/>
          </a:stretch>
        </p:blipFill>
        <p:spPr>
          <a:xfrm>
            <a:off x="9915296" y="4326941"/>
            <a:ext cx="261518" cy="261518"/>
          </a:xfrm>
          <a:prstGeom prst="rect">
            <a:avLst/>
          </a:prstGeom>
        </p:spPr>
      </p:pic>
      <p:sp>
        <p:nvSpPr>
          <p:cNvPr id="36" name="Text 28"/>
          <p:cNvSpPr/>
          <p:nvPr/>
        </p:nvSpPr>
        <p:spPr>
          <a:xfrm>
            <a:off x="11029036" y="4133088"/>
            <a:ext cx="457200" cy="365760"/>
          </a:xfrm>
          <a:prstGeom prst="rect">
            <a:avLst/>
          </a:prstGeom>
          <a:noFill/>
          <a:ln/>
        </p:spPr>
        <p:txBody>
          <a:bodyPr wrap="square" rtlCol="0" anchor="ctr"/>
          <a:lstStyle/>
          <a:p>
            <a:pPr marL="0" indent="0" algn="r">
              <a:buNone/>
            </a:pPr>
            <a:r>
              <a:rPr lang="en-US" sz="2200" b="1" dirty="0">
                <a:solidFill>
                  <a:srgbClr val="8A93BE"/>
                </a:solidFill>
                <a:latin typeface="Segoe UI Light" pitchFamily="34" charset="0"/>
                <a:ea typeface="Segoe UI Light" pitchFamily="34" charset="-122"/>
                <a:cs typeface="Segoe UI Light" pitchFamily="34" charset="-120"/>
              </a:rPr>
              <a:t>6</a:t>
            </a:r>
            <a:endParaRPr lang="en-US" sz="2200" dirty="0"/>
          </a:p>
        </p:txBody>
      </p:sp>
      <p:sp>
        <p:nvSpPr>
          <p:cNvPr id="37" name="Text 29"/>
          <p:cNvSpPr/>
          <p:nvPr/>
        </p:nvSpPr>
        <p:spPr>
          <a:xfrm>
            <a:off x="9767164" y="4773168"/>
            <a:ext cx="1691640" cy="502920"/>
          </a:xfrm>
          <a:prstGeom prst="rect">
            <a:avLst/>
          </a:prstGeom>
          <a:noFill/>
          <a:ln/>
        </p:spPr>
        <p:txBody>
          <a:bodyPr wrap="square" rtlCol="0" anchor="t"/>
          <a:lstStyle/>
          <a:p>
            <a:pPr marL="0" indent="0">
              <a:buNone/>
            </a:pPr>
            <a:r>
              <a:rPr lang="en-US" sz="1150" b="1" dirty="0">
                <a:solidFill>
                  <a:srgbClr val="FFFFFF"/>
                </a:solidFill>
                <a:latin typeface="Segoe UI Semibold" pitchFamily="34" charset="0"/>
                <a:ea typeface="Segoe UI Semibold" pitchFamily="34" charset="-122"/>
                <a:cs typeface="Segoe UI Semibold" pitchFamily="34" charset="-120"/>
              </a:rPr>
              <a:t>Annotation</a:t>
            </a:r>
            <a:endParaRPr lang="en-US" sz="1150" dirty="0"/>
          </a:p>
        </p:txBody>
      </p:sp>
      <p:sp>
        <p:nvSpPr>
          <p:cNvPr id="38" name="Shape 30"/>
          <p:cNvSpPr/>
          <p:nvPr/>
        </p:nvSpPr>
        <p:spPr>
          <a:xfrm>
            <a:off x="7371436" y="4023360"/>
            <a:ext cx="1965960" cy="1371600"/>
          </a:xfrm>
          <a:prstGeom prst="roundRect">
            <a:avLst>
              <a:gd name="adj" fmla="val 6000"/>
            </a:avLst>
          </a:prstGeom>
          <a:solidFill>
            <a:srgbClr val="2A3576"/>
          </a:solidFill>
          <a:ln/>
          <a:effectLst>
            <a:outerShdw blurRad="76200" dist="25400" dir="5400000" algn="bl" rotWithShape="0">
              <a:srgbClr val="B9C1DA">
                <a:alpha val="45000"/>
              </a:srgbClr>
            </a:outerShdw>
          </a:effectLst>
        </p:spPr>
        <p:txBody>
          <a:bodyPr/>
          <a:lstStyle/>
          <a:p>
            <a:endParaRPr lang="en-IN"/>
          </a:p>
        </p:txBody>
      </p:sp>
      <p:sp>
        <p:nvSpPr>
          <p:cNvPr id="39" name="Shape 31"/>
          <p:cNvSpPr/>
          <p:nvPr/>
        </p:nvSpPr>
        <p:spPr>
          <a:xfrm>
            <a:off x="7536028" y="4206240"/>
            <a:ext cx="502920" cy="502920"/>
          </a:xfrm>
          <a:prstGeom prst="roundRect">
            <a:avLst>
              <a:gd name="adj" fmla="val 14545"/>
            </a:avLst>
          </a:prstGeom>
          <a:solidFill>
            <a:srgbClr val="F4B740"/>
          </a:solidFill>
          <a:ln/>
          <a:effectLst>
            <a:outerShdw blurRad="76200" dist="25400" dir="5400000" algn="bl" rotWithShape="0">
              <a:srgbClr val="8892B0">
                <a:alpha val="30000"/>
              </a:srgbClr>
            </a:outerShdw>
          </a:effectLst>
        </p:spPr>
        <p:txBody>
          <a:bodyPr/>
          <a:lstStyle/>
          <a:p>
            <a:endParaRPr lang="en-IN"/>
          </a:p>
        </p:txBody>
      </p:sp>
      <p:pic>
        <p:nvPicPr>
          <p:cNvPr id="40" name="Image 6" descr="preencoded.png"/>
          <p:cNvPicPr>
            <a:picLocks noChangeAspect="1"/>
          </p:cNvPicPr>
          <p:nvPr/>
        </p:nvPicPr>
        <p:blipFill>
          <a:blip r:embed="rId9"/>
          <a:stretch>
            <a:fillRect/>
          </a:stretch>
        </p:blipFill>
        <p:spPr>
          <a:xfrm>
            <a:off x="7656728" y="4326941"/>
            <a:ext cx="261518" cy="261518"/>
          </a:xfrm>
          <a:prstGeom prst="rect">
            <a:avLst/>
          </a:prstGeom>
        </p:spPr>
      </p:pic>
      <p:sp>
        <p:nvSpPr>
          <p:cNvPr id="41" name="Text 32"/>
          <p:cNvSpPr/>
          <p:nvPr/>
        </p:nvSpPr>
        <p:spPr>
          <a:xfrm>
            <a:off x="8770468" y="4133088"/>
            <a:ext cx="457200" cy="365760"/>
          </a:xfrm>
          <a:prstGeom prst="rect">
            <a:avLst/>
          </a:prstGeom>
          <a:noFill/>
          <a:ln/>
        </p:spPr>
        <p:txBody>
          <a:bodyPr wrap="square" rtlCol="0" anchor="ctr"/>
          <a:lstStyle/>
          <a:p>
            <a:pPr marL="0" indent="0" algn="r">
              <a:buNone/>
            </a:pPr>
            <a:r>
              <a:rPr lang="en-US" sz="2200" b="1" dirty="0">
                <a:solidFill>
                  <a:srgbClr val="8A93BE"/>
                </a:solidFill>
                <a:latin typeface="Segoe UI Light" pitchFamily="34" charset="0"/>
                <a:ea typeface="Segoe UI Light" pitchFamily="34" charset="-122"/>
                <a:cs typeface="Segoe UI Light" pitchFamily="34" charset="-120"/>
              </a:rPr>
              <a:t>7</a:t>
            </a:r>
            <a:endParaRPr lang="en-US" sz="2200" dirty="0"/>
          </a:p>
        </p:txBody>
      </p:sp>
      <p:sp>
        <p:nvSpPr>
          <p:cNvPr id="42" name="Text 33"/>
          <p:cNvSpPr/>
          <p:nvPr/>
        </p:nvSpPr>
        <p:spPr>
          <a:xfrm>
            <a:off x="7508596" y="4773168"/>
            <a:ext cx="1691640" cy="502920"/>
          </a:xfrm>
          <a:prstGeom prst="rect">
            <a:avLst/>
          </a:prstGeom>
          <a:noFill/>
          <a:ln/>
        </p:spPr>
        <p:txBody>
          <a:bodyPr wrap="square" rtlCol="0" anchor="t"/>
          <a:lstStyle/>
          <a:p>
            <a:pPr marL="0" indent="0">
              <a:buNone/>
            </a:pPr>
            <a:r>
              <a:rPr lang="en-US" sz="1150" b="1" dirty="0">
                <a:solidFill>
                  <a:srgbClr val="FFFFFF"/>
                </a:solidFill>
                <a:latin typeface="Segoe UI Semibold" pitchFamily="34" charset="0"/>
                <a:ea typeface="Segoe UI Semibold" pitchFamily="34" charset="-122"/>
                <a:cs typeface="Segoe UI Semibold" pitchFamily="34" charset="-120"/>
              </a:rPr>
              <a:t>RLHF</a:t>
            </a:r>
            <a:endParaRPr lang="en-US" sz="1150" dirty="0"/>
          </a:p>
        </p:txBody>
      </p:sp>
      <p:sp>
        <p:nvSpPr>
          <p:cNvPr id="43" name="Shape 34"/>
          <p:cNvSpPr/>
          <p:nvPr/>
        </p:nvSpPr>
        <p:spPr>
          <a:xfrm>
            <a:off x="5112868" y="4023360"/>
            <a:ext cx="1965960" cy="1371600"/>
          </a:xfrm>
          <a:prstGeom prst="roundRect">
            <a:avLst>
              <a:gd name="adj" fmla="val 6000"/>
            </a:avLst>
          </a:prstGeom>
          <a:solidFill>
            <a:srgbClr val="1E2761"/>
          </a:solidFill>
          <a:ln/>
          <a:effectLst>
            <a:outerShdw blurRad="76200" dist="25400" dir="5400000" algn="bl" rotWithShape="0">
              <a:srgbClr val="B9C1DA">
                <a:alpha val="45000"/>
              </a:srgbClr>
            </a:outerShdw>
          </a:effectLst>
        </p:spPr>
        <p:txBody>
          <a:bodyPr/>
          <a:lstStyle/>
          <a:p>
            <a:endParaRPr lang="en-IN"/>
          </a:p>
        </p:txBody>
      </p:sp>
      <p:sp>
        <p:nvSpPr>
          <p:cNvPr id="44" name="Shape 35"/>
          <p:cNvSpPr/>
          <p:nvPr/>
        </p:nvSpPr>
        <p:spPr>
          <a:xfrm>
            <a:off x="5277460" y="4206240"/>
            <a:ext cx="502920" cy="502920"/>
          </a:xfrm>
          <a:prstGeom prst="roundRect">
            <a:avLst>
              <a:gd name="adj" fmla="val 14545"/>
            </a:avLst>
          </a:prstGeom>
          <a:solidFill>
            <a:srgbClr val="F4B740"/>
          </a:solidFill>
          <a:ln/>
          <a:effectLst>
            <a:outerShdw blurRad="76200" dist="25400" dir="5400000" algn="bl" rotWithShape="0">
              <a:srgbClr val="8892B0">
                <a:alpha val="30000"/>
              </a:srgbClr>
            </a:outerShdw>
          </a:effectLst>
        </p:spPr>
        <p:txBody>
          <a:bodyPr/>
          <a:lstStyle/>
          <a:p>
            <a:endParaRPr lang="en-IN"/>
          </a:p>
        </p:txBody>
      </p:sp>
      <p:pic>
        <p:nvPicPr>
          <p:cNvPr id="45" name="Image 7" descr="preencoded.png"/>
          <p:cNvPicPr>
            <a:picLocks noChangeAspect="1"/>
          </p:cNvPicPr>
          <p:nvPr/>
        </p:nvPicPr>
        <p:blipFill>
          <a:blip r:embed="rId10"/>
          <a:stretch>
            <a:fillRect/>
          </a:stretch>
        </p:blipFill>
        <p:spPr>
          <a:xfrm>
            <a:off x="5398160" y="4326941"/>
            <a:ext cx="261518" cy="261518"/>
          </a:xfrm>
          <a:prstGeom prst="rect">
            <a:avLst/>
          </a:prstGeom>
        </p:spPr>
      </p:pic>
      <p:sp>
        <p:nvSpPr>
          <p:cNvPr id="46" name="Text 36"/>
          <p:cNvSpPr/>
          <p:nvPr/>
        </p:nvSpPr>
        <p:spPr>
          <a:xfrm>
            <a:off x="6511900" y="4133088"/>
            <a:ext cx="457200" cy="365760"/>
          </a:xfrm>
          <a:prstGeom prst="rect">
            <a:avLst/>
          </a:prstGeom>
          <a:noFill/>
          <a:ln/>
        </p:spPr>
        <p:txBody>
          <a:bodyPr wrap="square" rtlCol="0" anchor="ctr"/>
          <a:lstStyle/>
          <a:p>
            <a:pPr marL="0" indent="0" algn="r">
              <a:buNone/>
            </a:pPr>
            <a:r>
              <a:rPr lang="en-US" sz="2200" b="1" dirty="0">
                <a:solidFill>
                  <a:srgbClr val="8A93BE"/>
                </a:solidFill>
                <a:latin typeface="Segoe UI Light" pitchFamily="34" charset="0"/>
                <a:ea typeface="Segoe UI Light" pitchFamily="34" charset="-122"/>
                <a:cs typeface="Segoe UI Light" pitchFamily="34" charset="-120"/>
              </a:rPr>
              <a:t>8</a:t>
            </a:r>
            <a:endParaRPr lang="en-US" sz="2200" dirty="0"/>
          </a:p>
        </p:txBody>
      </p:sp>
      <p:sp>
        <p:nvSpPr>
          <p:cNvPr id="47" name="Text 37"/>
          <p:cNvSpPr/>
          <p:nvPr/>
        </p:nvSpPr>
        <p:spPr>
          <a:xfrm>
            <a:off x="5250028" y="4773168"/>
            <a:ext cx="1691640" cy="502920"/>
          </a:xfrm>
          <a:prstGeom prst="rect">
            <a:avLst/>
          </a:prstGeom>
          <a:noFill/>
          <a:ln/>
        </p:spPr>
        <p:txBody>
          <a:bodyPr wrap="square" rtlCol="0" anchor="t"/>
          <a:lstStyle/>
          <a:p>
            <a:pPr marL="0" indent="0">
              <a:buNone/>
            </a:pPr>
            <a:r>
              <a:rPr lang="en-US" sz="1150" b="1" dirty="0">
                <a:solidFill>
                  <a:srgbClr val="FFFFFF"/>
                </a:solidFill>
                <a:latin typeface="Segoe UI Semibold" pitchFamily="34" charset="0"/>
                <a:ea typeface="Segoe UI Semibold" pitchFamily="34" charset="-122"/>
                <a:cs typeface="Segoe UI Semibold" pitchFamily="34" charset="-120"/>
              </a:rPr>
              <a:t>Metrics</a:t>
            </a:r>
            <a:endParaRPr lang="en-US" sz="1150" dirty="0"/>
          </a:p>
        </p:txBody>
      </p:sp>
      <p:sp>
        <p:nvSpPr>
          <p:cNvPr id="48" name="Shape 38"/>
          <p:cNvSpPr/>
          <p:nvPr/>
        </p:nvSpPr>
        <p:spPr>
          <a:xfrm>
            <a:off x="2854300" y="4023360"/>
            <a:ext cx="1965960" cy="1371600"/>
          </a:xfrm>
          <a:prstGeom prst="roundRect">
            <a:avLst>
              <a:gd name="adj" fmla="val 6000"/>
            </a:avLst>
          </a:prstGeom>
          <a:solidFill>
            <a:srgbClr val="2A3576"/>
          </a:solidFill>
          <a:ln/>
          <a:effectLst>
            <a:outerShdw blurRad="76200" dist="25400" dir="5400000" algn="bl" rotWithShape="0">
              <a:srgbClr val="B9C1DA">
                <a:alpha val="45000"/>
              </a:srgbClr>
            </a:outerShdw>
          </a:effectLst>
        </p:spPr>
        <p:txBody>
          <a:bodyPr/>
          <a:lstStyle/>
          <a:p>
            <a:endParaRPr lang="en-IN"/>
          </a:p>
        </p:txBody>
      </p:sp>
      <p:sp>
        <p:nvSpPr>
          <p:cNvPr id="49" name="Shape 39"/>
          <p:cNvSpPr/>
          <p:nvPr/>
        </p:nvSpPr>
        <p:spPr>
          <a:xfrm>
            <a:off x="3018892" y="4206240"/>
            <a:ext cx="502920" cy="502920"/>
          </a:xfrm>
          <a:prstGeom prst="roundRect">
            <a:avLst>
              <a:gd name="adj" fmla="val 14545"/>
            </a:avLst>
          </a:prstGeom>
          <a:solidFill>
            <a:srgbClr val="F4B740"/>
          </a:solidFill>
          <a:ln/>
          <a:effectLst>
            <a:outerShdw blurRad="76200" dist="25400" dir="5400000" algn="bl" rotWithShape="0">
              <a:srgbClr val="8892B0">
                <a:alpha val="30000"/>
              </a:srgbClr>
            </a:outerShdw>
          </a:effectLst>
        </p:spPr>
        <p:txBody>
          <a:bodyPr/>
          <a:lstStyle/>
          <a:p>
            <a:endParaRPr lang="en-IN"/>
          </a:p>
        </p:txBody>
      </p:sp>
      <p:pic>
        <p:nvPicPr>
          <p:cNvPr id="50" name="Image 8" descr="preencoded.png"/>
          <p:cNvPicPr>
            <a:picLocks noChangeAspect="1"/>
          </p:cNvPicPr>
          <p:nvPr/>
        </p:nvPicPr>
        <p:blipFill>
          <a:blip r:embed="rId11"/>
          <a:stretch>
            <a:fillRect/>
          </a:stretch>
        </p:blipFill>
        <p:spPr>
          <a:xfrm>
            <a:off x="3139592" y="4326941"/>
            <a:ext cx="261518" cy="261518"/>
          </a:xfrm>
          <a:prstGeom prst="rect">
            <a:avLst/>
          </a:prstGeom>
        </p:spPr>
      </p:pic>
      <p:sp>
        <p:nvSpPr>
          <p:cNvPr id="51" name="Text 40"/>
          <p:cNvSpPr/>
          <p:nvPr/>
        </p:nvSpPr>
        <p:spPr>
          <a:xfrm>
            <a:off x="4253332" y="4133088"/>
            <a:ext cx="457200" cy="365760"/>
          </a:xfrm>
          <a:prstGeom prst="rect">
            <a:avLst/>
          </a:prstGeom>
          <a:noFill/>
          <a:ln/>
        </p:spPr>
        <p:txBody>
          <a:bodyPr wrap="square" rtlCol="0" anchor="ctr"/>
          <a:lstStyle/>
          <a:p>
            <a:pPr marL="0" indent="0" algn="r">
              <a:buNone/>
            </a:pPr>
            <a:r>
              <a:rPr lang="en-US" sz="2200" b="1" dirty="0">
                <a:solidFill>
                  <a:srgbClr val="8A93BE"/>
                </a:solidFill>
                <a:latin typeface="Segoe UI Light" pitchFamily="34" charset="0"/>
                <a:ea typeface="Segoe UI Light" pitchFamily="34" charset="-122"/>
                <a:cs typeface="Segoe UI Light" pitchFamily="34" charset="-120"/>
              </a:rPr>
              <a:t>9</a:t>
            </a:r>
            <a:endParaRPr lang="en-US" sz="2200" dirty="0"/>
          </a:p>
        </p:txBody>
      </p:sp>
      <p:sp>
        <p:nvSpPr>
          <p:cNvPr id="52" name="Text 41"/>
          <p:cNvSpPr/>
          <p:nvPr/>
        </p:nvSpPr>
        <p:spPr>
          <a:xfrm>
            <a:off x="2991460" y="4773168"/>
            <a:ext cx="1691640" cy="502920"/>
          </a:xfrm>
          <a:prstGeom prst="rect">
            <a:avLst/>
          </a:prstGeom>
          <a:noFill/>
          <a:ln/>
        </p:spPr>
        <p:txBody>
          <a:bodyPr wrap="square" rtlCol="0" anchor="t"/>
          <a:lstStyle/>
          <a:p>
            <a:pPr marL="0" indent="0">
              <a:buNone/>
            </a:pPr>
            <a:r>
              <a:rPr lang="en-US" sz="1150" b="1" dirty="0">
                <a:solidFill>
                  <a:srgbClr val="FFFFFF"/>
                </a:solidFill>
                <a:latin typeface="Segoe UI Semibold" pitchFamily="34" charset="0"/>
                <a:ea typeface="Segoe UI Semibold" pitchFamily="34" charset="-122"/>
                <a:cs typeface="Segoe UI Semibold" pitchFamily="34" charset="-120"/>
              </a:rPr>
              <a:t>Dashboard</a:t>
            </a:r>
            <a:endParaRPr lang="en-US" sz="1150" dirty="0"/>
          </a:p>
        </p:txBody>
      </p:sp>
      <p:sp>
        <p:nvSpPr>
          <p:cNvPr id="53" name="Shape 42"/>
          <p:cNvSpPr/>
          <p:nvPr/>
        </p:nvSpPr>
        <p:spPr>
          <a:xfrm>
            <a:off x="595732" y="4023360"/>
            <a:ext cx="1965960" cy="1371600"/>
          </a:xfrm>
          <a:prstGeom prst="roundRect">
            <a:avLst>
              <a:gd name="adj" fmla="val 6000"/>
            </a:avLst>
          </a:prstGeom>
          <a:solidFill>
            <a:srgbClr val="1E2761"/>
          </a:solidFill>
          <a:ln/>
          <a:effectLst>
            <a:outerShdw blurRad="76200" dist="25400" dir="5400000" algn="bl" rotWithShape="0">
              <a:srgbClr val="B9C1DA">
                <a:alpha val="45000"/>
              </a:srgbClr>
            </a:outerShdw>
          </a:effectLst>
        </p:spPr>
        <p:txBody>
          <a:bodyPr/>
          <a:lstStyle/>
          <a:p>
            <a:endParaRPr lang="en-IN"/>
          </a:p>
        </p:txBody>
      </p:sp>
      <p:sp>
        <p:nvSpPr>
          <p:cNvPr id="54" name="Shape 43"/>
          <p:cNvSpPr/>
          <p:nvPr/>
        </p:nvSpPr>
        <p:spPr>
          <a:xfrm>
            <a:off x="760324" y="4206240"/>
            <a:ext cx="502920" cy="502920"/>
          </a:xfrm>
          <a:prstGeom prst="roundRect">
            <a:avLst>
              <a:gd name="adj" fmla="val 14545"/>
            </a:avLst>
          </a:prstGeom>
          <a:solidFill>
            <a:srgbClr val="F4B740"/>
          </a:solidFill>
          <a:ln/>
          <a:effectLst>
            <a:outerShdw blurRad="76200" dist="25400" dir="5400000" algn="bl" rotWithShape="0">
              <a:srgbClr val="8892B0">
                <a:alpha val="30000"/>
              </a:srgbClr>
            </a:outerShdw>
          </a:effectLst>
        </p:spPr>
        <p:txBody>
          <a:bodyPr/>
          <a:lstStyle/>
          <a:p>
            <a:endParaRPr lang="en-IN"/>
          </a:p>
        </p:txBody>
      </p:sp>
      <p:pic>
        <p:nvPicPr>
          <p:cNvPr id="55" name="Image 9" descr="preencoded.png"/>
          <p:cNvPicPr>
            <a:picLocks noChangeAspect="1"/>
          </p:cNvPicPr>
          <p:nvPr/>
        </p:nvPicPr>
        <p:blipFill>
          <a:blip r:embed="rId12"/>
          <a:stretch>
            <a:fillRect/>
          </a:stretch>
        </p:blipFill>
        <p:spPr>
          <a:xfrm>
            <a:off x="881024" y="4326941"/>
            <a:ext cx="261518" cy="261518"/>
          </a:xfrm>
          <a:prstGeom prst="rect">
            <a:avLst/>
          </a:prstGeom>
        </p:spPr>
      </p:pic>
      <p:sp>
        <p:nvSpPr>
          <p:cNvPr id="56" name="Text 44"/>
          <p:cNvSpPr/>
          <p:nvPr/>
        </p:nvSpPr>
        <p:spPr>
          <a:xfrm>
            <a:off x="1994764" y="4133088"/>
            <a:ext cx="457200" cy="365760"/>
          </a:xfrm>
          <a:prstGeom prst="rect">
            <a:avLst/>
          </a:prstGeom>
          <a:noFill/>
          <a:ln/>
        </p:spPr>
        <p:txBody>
          <a:bodyPr wrap="square" rtlCol="0" anchor="ctr"/>
          <a:lstStyle/>
          <a:p>
            <a:pPr marL="0" indent="0" algn="r">
              <a:buNone/>
            </a:pPr>
            <a:r>
              <a:rPr lang="en-US" sz="2200" b="1" dirty="0">
                <a:solidFill>
                  <a:srgbClr val="8A93BE"/>
                </a:solidFill>
                <a:latin typeface="Segoe UI Light" pitchFamily="34" charset="0"/>
                <a:ea typeface="Segoe UI Light" pitchFamily="34" charset="-122"/>
                <a:cs typeface="Segoe UI Light" pitchFamily="34" charset="-120"/>
              </a:rPr>
              <a:t>10</a:t>
            </a:r>
            <a:endParaRPr lang="en-US" sz="2200" dirty="0"/>
          </a:p>
        </p:txBody>
      </p:sp>
      <p:sp>
        <p:nvSpPr>
          <p:cNvPr id="57" name="Text 45"/>
          <p:cNvSpPr/>
          <p:nvPr/>
        </p:nvSpPr>
        <p:spPr>
          <a:xfrm>
            <a:off x="732892" y="4773168"/>
            <a:ext cx="1691640" cy="502920"/>
          </a:xfrm>
          <a:prstGeom prst="rect">
            <a:avLst/>
          </a:prstGeom>
          <a:noFill/>
          <a:ln/>
        </p:spPr>
        <p:txBody>
          <a:bodyPr wrap="square" rtlCol="0" anchor="t"/>
          <a:lstStyle/>
          <a:p>
            <a:pPr marL="0" indent="0">
              <a:buNone/>
            </a:pPr>
            <a:r>
              <a:rPr lang="en-US" sz="1150" b="1" dirty="0">
                <a:solidFill>
                  <a:srgbClr val="FFFFFF"/>
                </a:solidFill>
                <a:latin typeface="Segoe UI Semibold" pitchFamily="34" charset="0"/>
                <a:ea typeface="Segoe UI Semibold" pitchFamily="34" charset="-122"/>
                <a:cs typeface="Segoe UI Semibold" pitchFamily="34" charset="-120"/>
              </a:rPr>
              <a:t>Final Report</a:t>
            </a:r>
            <a:endParaRPr lang="en-US" sz="1150" dirty="0"/>
          </a:p>
        </p:txBody>
      </p:sp>
      <p:pic>
        <p:nvPicPr>
          <p:cNvPr id="58" name="Image 10" descr="preencoded.png"/>
          <p:cNvPicPr>
            <a:picLocks noChangeAspect="1"/>
          </p:cNvPicPr>
          <p:nvPr/>
        </p:nvPicPr>
        <p:blipFill>
          <a:blip r:embed="rId13"/>
          <a:stretch>
            <a:fillRect/>
          </a:stretch>
        </p:blipFill>
        <p:spPr>
          <a:xfrm>
            <a:off x="2589124" y="2532888"/>
            <a:ext cx="237744" cy="237744"/>
          </a:xfrm>
          <a:prstGeom prst="rect">
            <a:avLst/>
          </a:prstGeom>
        </p:spPr>
      </p:pic>
      <p:pic>
        <p:nvPicPr>
          <p:cNvPr id="59" name="Image 11" descr="preencoded.png"/>
          <p:cNvPicPr>
            <a:picLocks noChangeAspect="1"/>
          </p:cNvPicPr>
          <p:nvPr/>
        </p:nvPicPr>
        <p:blipFill>
          <a:blip r:embed="rId13"/>
          <a:stretch>
            <a:fillRect/>
          </a:stretch>
        </p:blipFill>
        <p:spPr>
          <a:xfrm>
            <a:off x="4847692" y="2532888"/>
            <a:ext cx="237744" cy="237744"/>
          </a:xfrm>
          <a:prstGeom prst="rect">
            <a:avLst/>
          </a:prstGeom>
        </p:spPr>
      </p:pic>
      <p:pic>
        <p:nvPicPr>
          <p:cNvPr id="60" name="Image 12" descr="preencoded.png"/>
          <p:cNvPicPr>
            <a:picLocks noChangeAspect="1"/>
          </p:cNvPicPr>
          <p:nvPr/>
        </p:nvPicPr>
        <p:blipFill>
          <a:blip r:embed="rId13"/>
          <a:stretch>
            <a:fillRect/>
          </a:stretch>
        </p:blipFill>
        <p:spPr>
          <a:xfrm>
            <a:off x="7106260" y="2532888"/>
            <a:ext cx="237744" cy="237744"/>
          </a:xfrm>
          <a:prstGeom prst="rect">
            <a:avLst/>
          </a:prstGeom>
        </p:spPr>
      </p:pic>
      <p:pic>
        <p:nvPicPr>
          <p:cNvPr id="61" name="Image 13" descr="preencoded.png"/>
          <p:cNvPicPr>
            <a:picLocks noChangeAspect="1"/>
          </p:cNvPicPr>
          <p:nvPr/>
        </p:nvPicPr>
        <p:blipFill>
          <a:blip r:embed="rId13"/>
          <a:stretch>
            <a:fillRect/>
          </a:stretch>
        </p:blipFill>
        <p:spPr>
          <a:xfrm>
            <a:off x="9364828" y="2532888"/>
            <a:ext cx="237744" cy="237744"/>
          </a:xfrm>
          <a:prstGeom prst="rect">
            <a:avLst/>
          </a:prstGeom>
        </p:spPr>
      </p:pic>
      <p:sp>
        <p:nvSpPr>
          <p:cNvPr id="62" name="Text 46"/>
          <p:cNvSpPr/>
          <p:nvPr/>
        </p:nvSpPr>
        <p:spPr>
          <a:xfrm>
            <a:off x="10475824" y="3447288"/>
            <a:ext cx="365760" cy="365760"/>
          </a:xfrm>
          <a:prstGeom prst="rect">
            <a:avLst/>
          </a:prstGeom>
          <a:noFill/>
          <a:ln/>
        </p:spPr>
        <p:txBody>
          <a:bodyPr wrap="square" rtlCol="0" anchor="ctr"/>
          <a:lstStyle/>
          <a:p>
            <a:pPr marL="0" indent="0" algn="ctr">
              <a:buNone/>
            </a:pPr>
            <a:r>
              <a:rPr lang="en-US" sz="1600" dirty="0">
                <a:solidFill>
                  <a:srgbClr val="F4B740"/>
                </a:solidFill>
                <a:latin typeface="Segoe UI" pitchFamily="34" charset="0"/>
                <a:ea typeface="Segoe UI" pitchFamily="34" charset="-122"/>
                <a:cs typeface="Segoe UI" pitchFamily="34" charset="-120"/>
              </a:rPr>
              <a:t>▼</a:t>
            </a:r>
            <a:endParaRPr lang="en-US" sz="16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6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1E2761"/>
          </a:solidFill>
          <a:ln/>
        </p:spPr>
        <p:txBody>
          <a:bodyPr/>
          <a:lstStyle/>
          <a:p>
            <a:endParaRPr lang="en-IN"/>
          </a:p>
        </p:txBody>
      </p:sp>
      <p:sp>
        <p:nvSpPr>
          <p:cNvPr id="3" name="Text 1"/>
          <p:cNvSpPr/>
          <p:nvPr/>
        </p:nvSpPr>
        <p:spPr>
          <a:xfrm>
            <a:off x="640080" y="457200"/>
            <a:ext cx="10058400" cy="274320"/>
          </a:xfrm>
          <a:prstGeom prst="rect">
            <a:avLst/>
          </a:prstGeom>
          <a:noFill/>
          <a:ln/>
        </p:spPr>
        <p:txBody>
          <a:bodyPr wrap="square" rtlCol="0" anchor="ctr"/>
          <a:lstStyle/>
          <a:p>
            <a:pPr marL="0" indent="0">
              <a:buNone/>
            </a:pPr>
            <a:r>
              <a:rPr lang="en-US" sz="1200" b="1" kern="0" spc="300" dirty="0">
                <a:solidFill>
                  <a:srgbClr val="F4B740"/>
                </a:solidFill>
                <a:latin typeface="Segoe UI Semibold" pitchFamily="34" charset="0"/>
                <a:ea typeface="Segoe UI Semibold" pitchFamily="34" charset="-122"/>
                <a:cs typeface="Segoe UI Semibold" pitchFamily="34" charset="-120"/>
              </a:rPr>
              <a:t>EVALUATION RUBRIC</a:t>
            </a:r>
            <a:endParaRPr lang="en-US" sz="1200" dirty="0"/>
          </a:p>
        </p:txBody>
      </p:sp>
      <p:sp>
        <p:nvSpPr>
          <p:cNvPr id="4" name="Text 2"/>
          <p:cNvSpPr/>
          <p:nvPr/>
        </p:nvSpPr>
        <p:spPr>
          <a:xfrm>
            <a:off x="640080" y="731520"/>
            <a:ext cx="10881360" cy="640080"/>
          </a:xfrm>
          <a:prstGeom prst="rect">
            <a:avLst/>
          </a:prstGeom>
          <a:noFill/>
          <a:ln/>
        </p:spPr>
        <p:txBody>
          <a:bodyPr wrap="square" rtlCol="0" anchor="ctr"/>
          <a:lstStyle/>
          <a:p>
            <a:pPr marL="0" indent="0">
              <a:buNone/>
            </a:pPr>
            <a:r>
              <a:rPr lang="en-US" sz="3000" b="1" dirty="0">
                <a:solidFill>
                  <a:srgbClr val="1E2761"/>
                </a:solidFill>
                <a:latin typeface="Segoe UI Light" pitchFamily="34" charset="0"/>
                <a:ea typeface="Segoe UI Light" pitchFamily="34" charset="-122"/>
                <a:cs typeface="Segoe UI Light" pitchFamily="34" charset="-120"/>
              </a:rPr>
              <a:t>Five scored dimensions, plus reviewer guidance</a:t>
            </a:r>
            <a:endParaRPr lang="en-US" sz="3000" dirty="0"/>
          </a:p>
        </p:txBody>
      </p:sp>
      <p:sp>
        <p:nvSpPr>
          <p:cNvPr id="5" name="Shape 3"/>
          <p:cNvSpPr/>
          <p:nvPr/>
        </p:nvSpPr>
        <p:spPr>
          <a:xfrm>
            <a:off x="658368" y="1417320"/>
            <a:ext cx="1005840" cy="0"/>
          </a:xfrm>
          <a:prstGeom prst="line">
            <a:avLst/>
          </a:prstGeom>
          <a:noFill/>
          <a:ln w="31750">
            <a:solidFill>
              <a:srgbClr val="F4B740"/>
            </a:solidFill>
            <a:prstDash val="solid"/>
          </a:ln>
        </p:spPr>
        <p:txBody>
          <a:bodyPr/>
          <a:lstStyle/>
          <a:p>
            <a:endParaRPr lang="en-IN"/>
          </a:p>
        </p:txBody>
      </p:sp>
      <p:sp>
        <p:nvSpPr>
          <p:cNvPr id="6" name="Text 4"/>
          <p:cNvSpPr/>
          <p:nvPr/>
        </p:nvSpPr>
        <p:spPr>
          <a:xfrm>
            <a:off x="11338560" y="6309360"/>
            <a:ext cx="548640" cy="274320"/>
          </a:xfrm>
          <a:prstGeom prst="rect">
            <a:avLst/>
          </a:prstGeom>
          <a:noFill/>
          <a:ln/>
        </p:spPr>
        <p:txBody>
          <a:bodyPr wrap="square" rtlCol="0" anchor="ctr"/>
          <a:lstStyle/>
          <a:p>
            <a:pPr marL="0" indent="0" algn="r">
              <a:buNone/>
            </a:pPr>
            <a:r>
              <a:rPr lang="en-US" sz="1100" dirty="0">
                <a:solidFill>
                  <a:srgbClr val="5B6488"/>
                </a:solidFill>
                <a:latin typeface="Segoe UI Semibold" pitchFamily="34" charset="0"/>
                <a:ea typeface="Segoe UI Semibold" pitchFamily="34" charset="-122"/>
                <a:cs typeface="Segoe UI Semibold" pitchFamily="34" charset="-120"/>
              </a:rPr>
              <a:t>05</a:t>
            </a:r>
            <a:endParaRPr lang="en-US" sz="1100" dirty="0"/>
          </a:p>
        </p:txBody>
      </p:sp>
      <p:sp>
        <p:nvSpPr>
          <p:cNvPr id="7" name="Text 5"/>
          <p:cNvSpPr/>
          <p:nvPr/>
        </p:nvSpPr>
        <p:spPr>
          <a:xfrm>
            <a:off x="640080" y="6309360"/>
            <a:ext cx="5486400" cy="274320"/>
          </a:xfrm>
          <a:prstGeom prst="rect">
            <a:avLst/>
          </a:prstGeom>
          <a:noFill/>
          <a:ln/>
        </p:spPr>
        <p:txBody>
          <a:bodyPr wrap="square" rtlCol="0" anchor="ctr"/>
          <a:lstStyle/>
          <a:p>
            <a:pPr marL="0" indent="0">
              <a:buNone/>
            </a:pPr>
            <a:r>
              <a:rPr lang="en-US" sz="900" dirty="0">
                <a:solidFill>
                  <a:srgbClr val="5B6488"/>
                </a:solidFill>
                <a:latin typeface="Segoe UI" pitchFamily="34" charset="0"/>
                <a:ea typeface="Segoe UI" pitchFamily="34" charset="-122"/>
                <a:cs typeface="Segoe UI" pitchFamily="34" charset="-120"/>
              </a:rPr>
              <a:t>AI Quality Evaluation Framework</a:t>
            </a:r>
            <a:endParaRPr lang="en-US" sz="900" dirty="0"/>
          </a:p>
        </p:txBody>
      </p:sp>
      <p:sp>
        <p:nvSpPr>
          <p:cNvPr id="8" name="Text 6"/>
          <p:cNvSpPr/>
          <p:nvPr/>
        </p:nvSpPr>
        <p:spPr>
          <a:xfrm>
            <a:off x="640080" y="1737360"/>
            <a:ext cx="5486400" cy="274320"/>
          </a:xfrm>
          <a:prstGeom prst="rect">
            <a:avLst/>
          </a:prstGeom>
          <a:noFill/>
          <a:ln/>
        </p:spPr>
        <p:txBody>
          <a:bodyPr wrap="square" rtlCol="0" anchor="ctr"/>
          <a:lstStyle/>
          <a:p>
            <a:pPr marL="0" indent="0">
              <a:buNone/>
            </a:pPr>
            <a:r>
              <a:rPr lang="en-US" sz="1200" b="1" kern="0" spc="200" dirty="0">
                <a:solidFill>
                  <a:srgbClr val="F4B740"/>
                </a:solidFill>
                <a:latin typeface="Segoe UI Semibold" pitchFamily="34" charset="0"/>
                <a:ea typeface="Segoe UI Semibold" pitchFamily="34" charset="-122"/>
                <a:cs typeface="Segoe UI Semibold" pitchFamily="34" charset="-120"/>
              </a:rPr>
              <a:t>SCORED EVALUATION DIMENSIONS</a:t>
            </a:r>
            <a:endParaRPr lang="en-US" sz="1200" dirty="0"/>
          </a:p>
        </p:txBody>
      </p:sp>
      <p:sp>
        <p:nvSpPr>
          <p:cNvPr id="9" name="Shape 7"/>
          <p:cNvSpPr/>
          <p:nvPr/>
        </p:nvSpPr>
        <p:spPr>
          <a:xfrm>
            <a:off x="640080" y="2148840"/>
            <a:ext cx="5760720" cy="640080"/>
          </a:xfrm>
          <a:prstGeom prst="roundRect">
            <a:avLst>
              <a:gd name="adj" fmla="val 8571"/>
            </a:avLst>
          </a:prstGeom>
          <a:solidFill>
            <a:srgbClr val="FFFFFF"/>
          </a:solidFill>
          <a:ln w="12700">
            <a:solidFill>
              <a:srgbClr val="E2E7F5"/>
            </a:solidFill>
            <a:prstDash val="solid"/>
          </a:ln>
          <a:effectLst>
            <a:outerShdw blurRad="63500" dist="12700" dir="5400000" algn="bl" rotWithShape="0">
              <a:srgbClr val="C7CEE0">
                <a:alpha val="40000"/>
              </a:srgbClr>
            </a:outerShdw>
          </a:effectLst>
        </p:spPr>
        <p:txBody>
          <a:bodyPr/>
          <a:lstStyle/>
          <a:p>
            <a:endParaRPr lang="en-IN"/>
          </a:p>
        </p:txBody>
      </p:sp>
      <p:sp>
        <p:nvSpPr>
          <p:cNvPr id="10" name="Shape 8"/>
          <p:cNvSpPr/>
          <p:nvPr/>
        </p:nvSpPr>
        <p:spPr>
          <a:xfrm>
            <a:off x="758952" y="2249424"/>
            <a:ext cx="438912" cy="438912"/>
          </a:xfrm>
          <a:prstGeom prst="roundRect">
            <a:avLst>
              <a:gd name="adj" fmla="val 16667"/>
            </a:avLst>
          </a:prstGeom>
          <a:solidFill>
            <a:srgbClr val="1E2761"/>
          </a:solidFill>
          <a:ln/>
          <a:effectLst>
            <a:outerShdw blurRad="76200" dist="25400" dir="5400000" algn="bl" rotWithShape="0">
              <a:srgbClr val="8892B0">
                <a:alpha val="30000"/>
              </a:srgbClr>
            </a:outerShdw>
          </a:effectLst>
        </p:spPr>
        <p:txBody>
          <a:bodyPr/>
          <a:lstStyle/>
          <a:p>
            <a:endParaRPr lang="en-IN"/>
          </a:p>
        </p:txBody>
      </p:sp>
      <p:pic>
        <p:nvPicPr>
          <p:cNvPr id="11" name="Image 0" descr="preencoded.png"/>
          <p:cNvPicPr>
            <a:picLocks noChangeAspect="1"/>
          </p:cNvPicPr>
          <p:nvPr/>
        </p:nvPicPr>
        <p:blipFill>
          <a:blip r:embed="rId3"/>
          <a:stretch>
            <a:fillRect/>
          </a:stretch>
        </p:blipFill>
        <p:spPr>
          <a:xfrm>
            <a:off x="864291" y="2354763"/>
            <a:ext cx="228234" cy="228234"/>
          </a:xfrm>
          <a:prstGeom prst="rect">
            <a:avLst/>
          </a:prstGeom>
        </p:spPr>
      </p:pic>
      <p:sp>
        <p:nvSpPr>
          <p:cNvPr id="12" name="Text 9"/>
          <p:cNvSpPr/>
          <p:nvPr/>
        </p:nvSpPr>
        <p:spPr>
          <a:xfrm>
            <a:off x="1353312" y="2148840"/>
            <a:ext cx="2926080" cy="640080"/>
          </a:xfrm>
          <a:prstGeom prst="rect">
            <a:avLst/>
          </a:prstGeom>
          <a:noFill/>
          <a:ln/>
        </p:spPr>
        <p:txBody>
          <a:bodyPr wrap="square" rtlCol="0" anchor="ctr"/>
          <a:lstStyle/>
          <a:p>
            <a:pPr marL="0" indent="0">
              <a:buNone/>
            </a:pPr>
            <a:r>
              <a:rPr lang="en-US" sz="1500" b="1" dirty="0">
                <a:solidFill>
                  <a:srgbClr val="1E2761"/>
                </a:solidFill>
                <a:latin typeface="Segoe UI Semibold" pitchFamily="34" charset="0"/>
                <a:ea typeface="Segoe UI Semibold" pitchFamily="34" charset="-122"/>
                <a:cs typeface="Segoe UI Semibold" pitchFamily="34" charset="-120"/>
              </a:rPr>
              <a:t>Accuracy</a:t>
            </a:r>
            <a:endParaRPr lang="en-US" sz="1500" dirty="0"/>
          </a:p>
        </p:txBody>
      </p:sp>
      <p:sp>
        <p:nvSpPr>
          <p:cNvPr id="13" name="Text 10"/>
          <p:cNvSpPr/>
          <p:nvPr/>
        </p:nvSpPr>
        <p:spPr>
          <a:xfrm>
            <a:off x="5760720" y="2148840"/>
            <a:ext cx="457200" cy="640080"/>
          </a:xfrm>
          <a:prstGeom prst="rect">
            <a:avLst/>
          </a:prstGeom>
          <a:noFill/>
          <a:ln/>
        </p:spPr>
        <p:txBody>
          <a:bodyPr wrap="square" rtlCol="0" anchor="ctr"/>
          <a:lstStyle/>
          <a:p>
            <a:pPr marL="0" indent="0" algn="r">
              <a:buNone/>
            </a:pPr>
            <a:r>
              <a:rPr lang="en-US" sz="2200" b="1" dirty="0">
                <a:solidFill>
                  <a:srgbClr val="D0D6EA"/>
                </a:solidFill>
                <a:latin typeface="Segoe UI Light" pitchFamily="34" charset="0"/>
                <a:ea typeface="Segoe UI Light" pitchFamily="34" charset="-122"/>
                <a:cs typeface="Segoe UI Light" pitchFamily="34" charset="-120"/>
              </a:rPr>
              <a:t>1</a:t>
            </a:r>
            <a:endParaRPr lang="en-US" sz="2200" dirty="0"/>
          </a:p>
        </p:txBody>
      </p:sp>
      <p:sp>
        <p:nvSpPr>
          <p:cNvPr id="14" name="Shape 11"/>
          <p:cNvSpPr/>
          <p:nvPr/>
        </p:nvSpPr>
        <p:spPr>
          <a:xfrm>
            <a:off x="640080" y="2907792"/>
            <a:ext cx="5760720" cy="640080"/>
          </a:xfrm>
          <a:prstGeom prst="roundRect">
            <a:avLst>
              <a:gd name="adj" fmla="val 8571"/>
            </a:avLst>
          </a:prstGeom>
          <a:solidFill>
            <a:srgbClr val="FFFFFF"/>
          </a:solidFill>
          <a:ln w="12700">
            <a:solidFill>
              <a:srgbClr val="E2E7F5"/>
            </a:solidFill>
            <a:prstDash val="solid"/>
          </a:ln>
          <a:effectLst>
            <a:outerShdw blurRad="63500" dist="12700" dir="5400000" algn="bl" rotWithShape="0">
              <a:srgbClr val="C7CEE0">
                <a:alpha val="40000"/>
              </a:srgbClr>
            </a:outerShdw>
          </a:effectLst>
        </p:spPr>
        <p:txBody>
          <a:bodyPr/>
          <a:lstStyle/>
          <a:p>
            <a:endParaRPr lang="en-IN"/>
          </a:p>
        </p:txBody>
      </p:sp>
      <p:sp>
        <p:nvSpPr>
          <p:cNvPr id="15" name="Shape 12"/>
          <p:cNvSpPr/>
          <p:nvPr/>
        </p:nvSpPr>
        <p:spPr>
          <a:xfrm>
            <a:off x="758952" y="3008376"/>
            <a:ext cx="438912" cy="438912"/>
          </a:xfrm>
          <a:prstGeom prst="roundRect">
            <a:avLst>
              <a:gd name="adj" fmla="val 16667"/>
            </a:avLst>
          </a:prstGeom>
          <a:solidFill>
            <a:srgbClr val="1E2761"/>
          </a:solidFill>
          <a:ln/>
          <a:effectLst>
            <a:outerShdw blurRad="76200" dist="25400" dir="5400000" algn="bl" rotWithShape="0">
              <a:srgbClr val="8892B0">
                <a:alpha val="30000"/>
              </a:srgbClr>
            </a:outerShdw>
          </a:effectLst>
        </p:spPr>
        <p:txBody>
          <a:bodyPr/>
          <a:lstStyle/>
          <a:p>
            <a:endParaRPr lang="en-IN"/>
          </a:p>
        </p:txBody>
      </p:sp>
      <p:pic>
        <p:nvPicPr>
          <p:cNvPr id="16" name="Image 1" descr="preencoded.png"/>
          <p:cNvPicPr>
            <a:picLocks noChangeAspect="1"/>
          </p:cNvPicPr>
          <p:nvPr/>
        </p:nvPicPr>
        <p:blipFill>
          <a:blip r:embed="rId4"/>
          <a:stretch>
            <a:fillRect/>
          </a:stretch>
        </p:blipFill>
        <p:spPr>
          <a:xfrm>
            <a:off x="864291" y="3113715"/>
            <a:ext cx="228234" cy="228234"/>
          </a:xfrm>
          <a:prstGeom prst="rect">
            <a:avLst/>
          </a:prstGeom>
        </p:spPr>
      </p:pic>
      <p:sp>
        <p:nvSpPr>
          <p:cNvPr id="17" name="Text 13"/>
          <p:cNvSpPr/>
          <p:nvPr/>
        </p:nvSpPr>
        <p:spPr>
          <a:xfrm>
            <a:off x="1353312" y="2907792"/>
            <a:ext cx="2926080" cy="640080"/>
          </a:xfrm>
          <a:prstGeom prst="rect">
            <a:avLst/>
          </a:prstGeom>
          <a:noFill/>
          <a:ln/>
        </p:spPr>
        <p:txBody>
          <a:bodyPr wrap="square" rtlCol="0" anchor="ctr"/>
          <a:lstStyle/>
          <a:p>
            <a:pPr marL="0" indent="0">
              <a:buNone/>
            </a:pPr>
            <a:r>
              <a:rPr lang="en-US" sz="1500" b="1" dirty="0">
                <a:solidFill>
                  <a:srgbClr val="1E2761"/>
                </a:solidFill>
                <a:latin typeface="Segoe UI Semibold" pitchFamily="34" charset="0"/>
                <a:ea typeface="Segoe UI Semibold" pitchFamily="34" charset="-122"/>
                <a:cs typeface="Segoe UI Semibold" pitchFamily="34" charset="-120"/>
              </a:rPr>
              <a:t>Completeness</a:t>
            </a:r>
            <a:endParaRPr lang="en-US" sz="1500" dirty="0"/>
          </a:p>
        </p:txBody>
      </p:sp>
      <p:sp>
        <p:nvSpPr>
          <p:cNvPr id="18" name="Text 14"/>
          <p:cNvSpPr/>
          <p:nvPr/>
        </p:nvSpPr>
        <p:spPr>
          <a:xfrm>
            <a:off x="5760720" y="2907792"/>
            <a:ext cx="457200" cy="640080"/>
          </a:xfrm>
          <a:prstGeom prst="rect">
            <a:avLst/>
          </a:prstGeom>
          <a:noFill/>
          <a:ln/>
        </p:spPr>
        <p:txBody>
          <a:bodyPr wrap="square" rtlCol="0" anchor="ctr"/>
          <a:lstStyle/>
          <a:p>
            <a:pPr marL="0" indent="0" algn="r">
              <a:buNone/>
            </a:pPr>
            <a:r>
              <a:rPr lang="en-US" sz="2200" b="1" dirty="0">
                <a:solidFill>
                  <a:srgbClr val="D0D6EA"/>
                </a:solidFill>
                <a:latin typeface="Segoe UI Light" pitchFamily="34" charset="0"/>
                <a:ea typeface="Segoe UI Light" pitchFamily="34" charset="-122"/>
                <a:cs typeface="Segoe UI Light" pitchFamily="34" charset="-120"/>
              </a:rPr>
              <a:t>2</a:t>
            </a:r>
            <a:endParaRPr lang="en-US" sz="2200" dirty="0"/>
          </a:p>
        </p:txBody>
      </p:sp>
      <p:sp>
        <p:nvSpPr>
          <p:cNvPr id="19" name="Shape 15"/>
          <p:cNvSpPr/>
          <p:nvPr/>
        </p:nvSpPr>
        <p:spPr>
          <a:xfrm>
            <a:off x="640080" y="3666744"/>
            <a:ext cx="5760720" cy="640080"/>
          </a:xfrm>
          <a:prstGeom prst="roundRect">
            <a:avLst>
              <a:gd name="adj" fmla="val 8571"/>
            </a:avLst>
          </a:prstGeom>
          <a:solidFill>
            <a:srgbClr val="FFFFFF"/>
          </a:solidFill>
          <a:ln w="12700">
            <a:solidFill>
              <a:srgbClr val="E2E7F5"/>
            </a:solidFill>
            <a:prstDash val="solid"/>
          </a:ln>
          <a:effectLst>
            <a:outerShdw blurRad="63500" dist="12700" dir="5400000" algn="bl" rotWithShape="0">
              <a:srgbClr val="C7CEE0">
                <a:alpha val="40000"/>
              </a:srgbClr>
            </a:outerShdw>
          </a:effectLst>
        </p:spPr>
        <p:txBody>
          <a:bodyPr/>
          <a:lstStyle/>
          <a:p>
            <a:endParaRPr lang="en-IN"/>
          </a:p>
        </p:txBody>
      </p:sp>
      <p:sp>
        <p:nvSpPr>
          <p:cNvPr id="20" name="Shape 16"/>
          <p:cNvSpPr/>
          <p:nvPr/>
        </p:nvSpPr>
        <p:spPr>
          <a:xfrm>
            <a:off x="758952" y="3767328"/>
            <a:ext cx="438912" cy="438912"/>
          </a:xfrm>
          <a:prstGeom prst="roundRect">
            <a:avLst>
              <a:gd name="adj" fmla="val 16667"/>
            </a:avLst>
          </a:prstGeom>
          <a:solidFill>
            <a:srgbClr val="1E2761"/>
          </a:solidFill>
          <a:ln/>
          <a:effectLst>
            <a:outerShdw blurRad="76200" dist="25400" dir="5400000" algn="bl" rotWithShape="0">
              <a:srgbClr val="8892B0">
                <a:alpha val="30000"/>
              </a:srgbClr>
            </a:outerShdw>
          </a:effectLst>
        </p:spPr>
        <p:txBody>
          <a:bodyPr/>
          <a:lstStyle/>
          <a:p>
            <a:endParaRPr lang="en-IN"/>
          </a:p>
        </p:txBody>
      </p:sp>
      <p:pic>
        <p:nvPicPr>
          <p:cNvPr id="21" name="Image 2" descr="preencoded.png"/>
          <p:cNvPicPr>
            <a:picLocks noChangeAspect="1"/>
          </p:cNvPicPr>
          <p:nvPr/>
        </p:nvPicPr>
        <p:blipFill>
          <a:blip r:embed="rId5"/>
          <a:stretch>
            <a:fillRect/>
          </a:stretch>
        </p:blipFill>
        <p:spPr>
          <a:xfrm>
            <a:off x="864291" y="3872667"/>
            <a:ext cx="228234" cy="228234"/>
          </a:xfrm>
          <a:prstGeom prst="rect">
            <a:avLst/>
          </a:prstGeom>
        </p:spPr>
      </p:pic>
      <p:sp>
        <p:nvSpPr>
          <p:cNvPr id="22" name="Text 17"/>
          <p:cNvSpPr/>
          <p:nvPr/>
        </p:nvSpPr>
        <p:spPr>
          <a:xfrm>
            <a:off x="1353312" y="3666744"/>
            <a:ext cx="2926080" cy="640080"/>
          </a:xfrm>
          <a:prstGeom prst="rect">
            <a:avLst/>
          </a:prstGeom>
          <a:noFill/>
          <a:ln/>
        </p:spPr>
        <p:txBody>
          <a:bodyPr wrap="square" rtlCol="0" anchor="ctr"/>
          <a:lstStyle/>
          <a:p>
            <a:pPr marL="0" indent="0">
              <a:buNone/>
            </a:pPr>
            <a:r>
              <a:rPr lang="en-US" sz="1500" b="1" dirty="0">
                <a:solidFill>
                  <a:srgbClr val="1E2761"/>
                </a:solidFill>
                <a:latin typeface="Segoe UI Semibold" pitchFamily="34" charset="0"/>
                <a:ea typeface="Segoe UI Semibold" pitchFamily="34" charset="-122"/>
                <a:cs typeface="Segoe UI Semibold" pitchFamily="34" charset="-120"/>
              </a:rPr>
              <a:t>Relevance</a:t>
            </a:r>
            <a:endParaRPr lang="en-US" sz="1500" dirty="0"/>
          </a:p>
        </p:txBody>
      </p:sp>
      <p:sp>
        <p:nvSpPr>
          <p:cNvPr id="23" name="Text 18"/>
          <p:cNvSpPr/>
          <p:nvPr/>
        </p:nvSpPr>
        <p:spPr>
          <a:xfrm>
            <a:off x="5760720" y="3666744"/>
            <a:ext cx="457200" cy="640080"/>
          </a:xfrm>
          <a:prstGeom prst="rect">
            <a:avLst/>
          </a:prstGeom>
          <a:noFill/>
          <a:ln/>
        </p:spPr>
        <p:txBody>
          <a:bodyPr wrap="square" rtlCol="0" anchor="ctr"/>
          <a:lstStyle/>
          <a:p>
            <a:pPr marL="0" indent="0" algn="r">
              <a:buNone/>
            </a:pPr>
            <a:r>
              <a:rPr lang="en-US" sz="2200" b="1" dirty="0">
                <a:solidFill>
                  <a:srgbClr val="D0D6EA"/>
                </a:solidFill>
                <a:latin typeface="Segoe UI Light" pitchFamily="34" charset="0"/>
                <a:ea typeface="Segoe UI Light" pitchFamily="34" charset="-122"/>
                <a:cs typeface="Segoe UI Light" pitchFamily="34" charset="-120"/>
              </a:rPr>
              <a:t>3</a:t>
            </a:r>
            <a:endParaRPr lang="en-US" sz="2200" dirty="0"/>
          </a:p>
        </p:txBody>
      </p:sp>
      <p:sp>
        <p:nvSpPr>
          <p:cNvPr id="24" name="Shape 19"/>
          <p:cNvSpPr/>
          <p:nvPr/>
        </p:nvSpPr>
        <p:spPr>
          <a:xfrm>
            <a:off x="640080" y="4425696"/>
            <a:ext cx="5760720" cy="640080"/>
          </a:xfrm>
          <a:prstGeom prst="roundRect">
            <a:avLst>
              <a:gd name="adj" fmla="val 8571"/>
            </a:avLst>
          </a:prstGeom>
          <a:solidFill>
            <a:srgbClr val="FFFFFF"/>
          </a:solidFill>
          <a:ln w="12700">
            <a:solidFill>
              <a:srgbClr val="E2E7F5"/>
            </a:solidFill>
            <a:prstDash val="solid"/>
          </a:ln>
          <a:effectLst>
            <a:outerShdw blurRad="63500" dist="12700" dir="5400000" algn="bl" rotWithShape="0">
              <a:srgbClr val="C7CEE0">
                <a:alpha val="40000"/>
              </a:srgbClr>
            </a:outerShdw>
          </a:effectLst>
        </p:spPr>
        <p:txBody>
          <a:bodyPr/>
          <a:lstStyle/>
          <a:p>
            <a:endParaRPr lang="en-IN"/>
          </a:p>
        </p:txBody>
      </p:sp>
      <p:sp>
        <p:nvSpPr>
          <p:cNvPr id="25" name="Shape 20"/>
          <p:cNvSpPr/>
          <p:nvPr/>
        </p:nvSpPr>
        <p:spPr>
          <a:xfrm>
            <a:off x="758952" y="4526280"/>
            <a:ext cx="438912" cy="438912"/>
          </a:xfrm>
          <a:prstGeom prst="roundRect">
            <a:avLst>
              <a:gd name="adj" fmla="val 16667"/>
            </a:avLst>
          </a:prstGeom>
          <a:solidFill>
            <a:srgbClr val="1E2761"/>
          </a:solidFill>
          <a:ln/>
          <a:effectLst>
            <a:outerShdw blurRad="76200" dist="25400" dir="5400000" algn="bl" rotWithShape="0">
              <a:srgbClr val="8892B0">
                <a:alpha val="30000"/>
              </a:srgbClr>
            </a:outerShdw>
          </a:effectLst>
        </p:spPr>
        <p:txBody>
          <a:bodyPr/>
          <a:lstStyle/>
          <a:p>
            <a:endParaRPr lang="en-IN"/>
          </a:p>
        </p:txBody>
      </p:sp>
      <p:pic>
        <p:nvPicPr>
          <p:cNvPr id="26" name="Image 3" descr="preencoded.png"/>
          <p:cNvPicPr>
            <a:picLocks noChangeAspect="1"/>
          </p:cNvPicPr>
          <p:nvPr/>
        </p:nvPicPr>
        <p:blipFill>
          <a:blip r:embed="rId6"/>
          <a:stretch>
            <a:fillRect/>
          </a:stretch>
        </p:blipFill>
        <p:spPr>
          <a:xfrm>
            <a:off x="864291" y="4631619"/>
            <a:ext cx="228234" cy="228234"/>
          </a:xfrm>
          <a:prstGeom prst="rect">
            <a:avLst/>
          </a:prstGeom>
        </p:spPr>
      </p:pic>
      <p:sp>
        <p:nvSpPr>
          <p:cNvPr id="27" name="Text 21"/>
          <p:cNvSpPr/>
          <p:nvPr/>
        </p:nvSpPr>
        <p:spPr>
          <a:xfrm>
            <a:off x="1353312" y="4425696"/>
            <a:ext cx="2926080" cy="640080"/>
          </a:xfrm>
          <a:prstGeom prst="rect">
            <a:avLst/>
          </a:prstGeom>
          <a:noFill/>
          <a:ln/>
        </p:spPr>
        <p:txBody>
          <a:bodyPr wrap="square" rtlCol="0" anchor="ctr"/>
          <a:lstStyle/>
          <a:p>
            <a:pPr marL="0" indent="0">
              <a:buNone/>
            </a:pPr>
            <a:r>
              <a:rPr lang="en-US" sz="1500" b="1" dirty="0">
                <a:solidFill>
                  <a:srgbClr val="1E2761"/>
                </a:solidFill>
                <a:latin typeface="Segoe UI Semibold" pitchFamily="34" charset="0"/>
                <a:ea typeface="Segoe UI Semibold" pitchFamily="34" charset="-122"/>
                <a:cs typeface="Segoe UI Semibold" pitchFamily="34" charset="-120"/>
              </a:rPr>
              <a:t>Clarity</a:t>
            </a:r>
            <a:endParaRPr lang="en-US" sz="1500" dirty="0"/>
          </a:p>
        </p:txBody>
      </p:sp>
      <p:sp>
        <p:nvSpPr>
          <p:cNvPr id="28" name="Text 22"/>
          <p:cNvSpPr/>
          <p:nvPr/>
        </p:nvSpPr>
        <p:spPr>
          <a:xfrm>
            <a:off x="5760720" y="4425696"/>
            <a:ext cx="457200" cy="640080"/>
          </a:xfrm>
          <a:prstGeom prst="rect">
            <a:avLst/>
          </a:prstGeom>
          <a:noFill/>
          <a:ln/>
        </p:spPr>
        <p:txBody>
          <a:bodyPr wrap="square" rtlCol="0" anchor="ctr"/>
          <a:lstStyle/>
          <a:p>
            <a:pPr marL="0" indent="0" algn="r">
              <a:buNone/>
            </a:pPr>
            <a:r>
              <a:rPr lang="en-US" sz="2200" b="1" dirty="0">
                <a:solidFill>
                  <a:srgbClr val="D0D6EA"/>
                </a:solidFill>
                <a:latin typeface="Segoe UI Light" pitchFamily="34" charset="0"/>
                <a:ea typeface="Segoe UI Light" pitchFamily="34" charset="-122"/>
                <a:cs typeface="Segoe UI Light" pitchFamily="34" charset="-120"/>
              </a:rPr>
              <a:t>4</a:t>
            </a:r>
            <a:endParaRPr lang="en-US" sz="2200" dirty="0"/>
          </a:p>
        </p:txBody>
      </p:sp>
      <p:sp>
        <p:nvSpPr>
          <p:cNvPr id="29" name="Shape 23"/>
          <p:cNvSpPr/>
          <p:nvPr/>
        </p:nvSpPr>
        <p:spPr>
          <a:xfrm>
            <a:off x="640080" y="5184648"/>
            <a:ext cx="5760720" cy="640080"/>
          </a:xfrm>
          <a:prstGeom prst="roundRect">
            <a:avLst>
              <a:gd name="adj" fmla="val 8571"/>
            </a:avLst>
          </a:prstGeom>
          <a:solidFill>
            <a:srgbClr val="FFFFFF"/>
          </a:solidFill>
          <a:ln w="12700">
            <a:solidFill>
              <a:srgbClr val="E2E7F5"/>
            </a:solidFill>
            <a:prstDash val="solid"/>
          </a:ln>
          <a:effectLst>
            <a:outerShdw blurRad="63500" dist="12700" dir="5400000" algn="bl" rotWithShape="0">
              <a:srgbClr val="C7CEE0">
                <a:alpha val="40000"/>
              </a:srgbClr>
            </a:outerShdw>
          </a:effectLst>
        </p:spPr>
        <p:txBody>
          <a:bodyPr/>
          <a:lstStyle/>
          <a:p>
            <a:endParaRPr lang="en-IN"/>
          </a:p>
        </p:txBody>
      </p:sp>
      <p:sp>
        <p:nvSpPr>
          <p:cNvPr id="30" name="Shape 24"/>
          <p:cNvSpPr/>
          <p:nvPr/>
        </p:nvSpPr>
        <p:spPr>
          <a:xfrm>
            <a:off x="758952" y="5285232"/>
            <a:ext cx="438912" cy="438912"/>
          </a:xfrm>
          <a:prstGeom prst="roundRect">
            <a:avLst>
              <a:gd name="adj" fmla="val 16667"/>
            </a:avLst>
          </a:prstGeom>
          <a:solidFill>
            <a:srgbClr val="1E2761"/>
          </a:solidFill>
          <a:ln/>
          <a:effectLst>
            <a:outerShdw blurRad="76200" dist="25400" dir="5400000" algn="bl" rotWithShape="0">
              <a:srgbClr val="8892B0">
                <a:alpha val="30000"/>
              </a:srgbClr>
            </a:outerShdw>
          </a:effectLst>
        </p:spPr>
        <p:txBody>
          <a:bodyPr/>
          <a:lstStyle/>
          <a:p>
            <a:endParaRPr lang="en-IN"/>
          </a:p>
        </p:txBody>
      </p:sp>
      <p:pic>
        <p:nvPicPr>
          <p:cNvPr id="31" name="Image 4" descr="preencoded.png"/>
          <p:cNvPicPr>
            <a:picLocks noChangeAspect="1"/>
          </p:cNvPicPr>
          <p:nvPr/>
        </p:nvPicPr>
        <p:blipFill>
          <a:blip r:embed="rId7"/>
          <a:stretch>
            <a:fillRect/>
          </a:stretch>
        </p:blipFill>
        <p:spPr>
          <a:xfrm>
            <a:off x="864291" y="5390571"/>
            <a:ext cx="228234" cy="228234"/>
          </a:xfrm>
          <a:prstGeom prst="rect">
            <a:avLst/>
          </a:prstGeom>
        </p:spPr>
      </p:pic>
      <p:sp>
        <p:nvSpPr>
          <p:cNvPr id="32" name="Text 25"/>
          <p:cNvSpPr/>
          <p:nvPr/>
        </p:nvSpPr>
        <p:spPr>
          <a:xfrm>
            <a:off x="1353312" y="5184648"/>
            <a:ext cx="2926080" cy="640080"/>
          </a:xfrm>
          <a:prstGeom prst="rect">
            <a:avLst/>
          </a:prstGeom>
          <a:noFill/>
          <a:ln/>
        </p:spPr>
        <p:txBody>
          <a:bodyPr wrap="square" rtlCol="0" anchor="ctr"/>
          <a:lstStyle/>
          <a:p>
            <a:pPr marL="0" indent="0">
              <a:buNone/>
            </a:pPr>
            <a:r>
              <a:rPr lang="en-US" sz="1500" b="1" dirty="0">
                <a:solidFill>
                  <a:srgbClr val="1E2761"/>
                </a:solidFill>
                <a:latin typeface="Segoe UI Semibold" pitchFamily="34" charset="0"/>
                <a:ea typeface="Segoe UI Semibold" pitchFamily="34" charset="-122"/>
                <a:cs typeface="Segoe UI Semibold" pitchFamily="34" charset="-120"/>
              </a:rPr>
              <a:t>Safety</a:t>
            </a:r>
            <a:endParaRPr lang="en-US" sz="1500" dirty="0"/>
          </a:p>
        </p:txBody>
      </p:sp>
      <p:sp>
        <p:nvSpPr>
          <p:cNvPr id="33" name="Text 26"/>
          <p:cNvSpPr/>
          <p:nvPr/>
        </p:nvSpPr>
        <p:spPr>
          <a:xfrm>
            <a:off x="5760720" y="5184648"/>
            <a:ext cx="457200" cy="640080"/>
          </a:xfrm>
          <a:prstGeom prst="rect">
            <a:avLst/>
          </a:prstGeom>
          <a:noFill/>
          <a:ln/>
        </p:spPr>
        <p:txBody>
          <a:bodyPr wrap="square" rtlCol="0" anchor="ctr"/>
          <a:lstStyle/>
          <a:p>
            <a:pPr marL="0" indent="0" algn="r">
              <a:buNone/>
            </a:pPr>
            <a:r>
              <a:rPr lang="en-US" sz="2200" b="1" dirty="0">
                <a:solidFill>
                  <a:srgbClr val="D0D6EA"/>
                </a:solidFill>
                <a:latin typeface="Segoe UI Light" pitchFamily="34" charset="0"/>
                <a:ea typeface="Segoe UI Light" pitchFamily="34" charset="-122"/>
                <a:cs typeface="Segoe UI Light" pitchFamily="34" charset="-120"/>
              </a:rPr>
              <a:t>5</a:t>
            </a:r>
            <a:endParaRPr lang="en-US" sz="2200" dirty="0"/>
          </a:p>
        </p:txBody>
      </p:sp>
      <p:sp>
        <p:nvSpPr>
          <p:cNvPr id="34" name="Text 27"/>
          <p:cNvSpPr/>
          <p:nvPr/>
        </p:nvSpPr>
        <p:spPr>
          <a:xfrm>
            <a:off x="640080" y="5989320"/>
            <a:ext cx="5760720" cy="274320"/>
          </a:xfrm>
          <a:prstGeom prst="rect">
            <a:avLst/>
          </a:prstGeom>
          <a:noFill/>
          <a:ln/>
        </p:spPr>
        <p:txBody>
          <a:bodyPr wrap="square" rtlCol="0" anchor="ctr"/>
          <a:lstStyle/>
          <a:p>
            <a:pPr marL="0" indent="0">
              <a:buNone/>
            </a:pPr>
            <a:r>
              <a:rPr lang="en-US" sz="1100" i="1" dirty="0">
                <a:solidFill>
                  <a:srgbClr val="5B6488"/>
                </a:solidFill>
                <a:latin typeface="Segoe UI" pitchFamily="34" charset="0"/>
                <a:ea typeface="Segoe UI" pitchFamily="34" charset="-122"/>
                <a:cs typeface="Segoe UI" pitchFamily="34" charset="-120"/>
              </a:rPr>
              <a:t>Overall Score = average of the five scored dimensions</a:t>
            </a:r>
            <a:endParaRPr lang="en-US" sz="1100" dirty="0"/>
          </a:p>
        </p:txBody>
      </p:sp>
      <p:sp>
        <p:nvSpPr>
          <p:cNvPr id="35" name="Shape 28"/>
          <p:cNvSpPr/>
          <p:nvPr/>
        </p:nvSpPr>
        <p:spPr>
          <a:xfrm>
            <a:off x="6720840" y="2148840"/>
            <a:ext cx="4828032" cy="3063240"/>
          </a:xfrm>
          <a:prstGeom prst="roundRect">
            <a:avLst>
              <a:gd name="adj" fmla="val 2090"/>
            </a:avLst>
          </a:prstGeom>
          <a:solidFill>
            <a:srgbClr val="1E2761"/>
          </a:solidFill>
          <a:ln/>
        </p:spPr>
        <p:txBody>
          <a:bodyPr/>
          <a:lstStyle/>
          <a:p>
            <a:endParaRPr lang="en-IN"/>
          </a:p>
        </p:txBody>
      </p:sp>
      <p:sp>
        <p:nvSpPr>
          <p:cNvPr id="36" name="Text 29"/>
          <p:cNvSpPr/>
          <p:nvPr/>
        </p:nvSpPr>
        <p:spPr>
          <a:xfrm>
            <a:off x="6995160" y="2377440"/>
            <a:ext cx="4297680" cy="274320"/>
          </a:xfrm>
          <a:prstGeom prst="rect">
            <a:avLst/>
          </a:prstGeom>
          <a:noFill/>
          <a:ln/>
        </p:spPr>
        <p:txBody>
          <a:bodyPr wrap="square" rtlCol="0" anchor="ctr"/>
          <a:lstStyle/>
          <a:p>
            <a:pPr marL="0" indent="0">
              <a:buNone/>
            </a:pPr>
            <a:r>
              <a:rPr lang="en-US" sz="1200" b="1" kern="0" spc="200" dirty="0">
                <a:solidFill>
                  <a:srgbClr val="F4B740"/>
                </a:solidFill>
                <a:latin typeface="Segoe UI Semibold" pitchFamily="34" charset="0"/>
                <a:ea typeface="Segoe UI Semibold" pitchFamily="34" charset="-122"/>
                <a:cs typeface="Segoe UI Semibold" pitchFamily="34" charset="-120"/>
              </a:rPr>
              <a:t>RUBRIC GUIDANCE</a:t>
            </a:r>
            <a:endParaRPr lang="en-US" sz="1200" dirty="0"/>
          </a:p>
        </p:txBody>
      </p:sp>
      <p:sp>
        <p:nvSpPr>
          <p:cNvPr id="37" name="Text 30"/>
          <p:cNvSpPr/>
          <p:nvPr/>
        </p:nvSpPr>
        <p:spPr>
          <a:xfrm>
            <a:off x="6995160" y="2651760"/>
            <a:ext cx="4297680" cy="457200"/>
          </a:xfrm>
          <a:prstGeom prst="rect">
            <a:avLst/>
          </a:prstGeom>
          <a:noFill/>
          <a:ln/>
        </p:spPr>
        <p:txBody>
          <a:bodyPr wrap="square" rtlCol="0" anchor="ctr"/>
          <a:lstStyle/>
          <a:p>
            <a:pPr marL="0" indent="0">
              <a:buNone/>
            </a:pPr>
            <a:r>
              <a:rPr lang="en-US" sz="1200" i="1" dirty="0">
                <a:solidFill>
                  <a:srgbClr val="CADCFC"/>
                </a:solidFill>
                <a:latin typeface="Segoe UI" pitchFamily="34" charset="0"/>
                <a:ea typeface="Segoe UI" pitchFamily="34" charset="-122"/>
                <a:cs typeface="Segoe UI" pitchFamily="34" charset="-120"/>
              </a:rPr>
              <a:t>Supports reviewer judgment — not scored as dimensions</a:t>
            </a:r>
            <a:endParaRPr lang="en-US" sz="1200" dirty="0"/>
          </a:p>
        </p:txBody>
      </p:sp>
      <p:sp>
        <p:nvSpPr>
          <p:cNvPr id="38" name="Shape 31"/>
          <p:cNvSpPr/>
          <p:nvPr/>
        </p:nvSpPr>
        <p:spPr>
          <a:xfrm>
            <a:off x="6995160" y="3246120"/>
            <a:ext cx="402336" cy="402336"/>
          </a:xfrm>
          <a:prstGeom prst="roundRect">
            <a:avLst>
              <a:gd name="adj" fmla="val 18182"/>
            </a:avLst>
          </a:prstGeom>
          <a:solidFill>
            <a:srgbClr val="CADCFC"/>
          </a:solidFill>
          <a:ln/>
          <a:effectLst>
            <a:outerShdw blurRad="76200" dist="25400" dir="5400000" algn="bl" rotWithShape="0">
              <a:srgbClr val="8892B0">
                <a:alpha val="30000"/>
              </a:srgbClr>
            </a:outerShdw>
          </a:effectLst>
        </p:spPr>
        <p:txBody>
          <a:bodyPr/>
          <a:lstStyle/>
          <a:p>
            <a:endParaRPr lang="en-IN"/>
          </a:p>
        </p:txBody>
      </p:sp>
      <p:pic>
        <p:nvPicPr>
          <p:cNvPr id="39" name="Image 5" descr="preencoded.png"/>
          <p:cNvPicPr>
            <a:picLocks noChangeAspect="1"/>
          </p:cNvPicPr>
          <p:nvPr/>
        </p:nvPicPr>
        <p:blipFill>
          <a:blip r:embed="rId8"/>
          <a:stretch>
            <a:fillRect/>
          </a:stretch>
        </p:blipFill>
        <p:spPr>
          <a:xfrm>
            <a:off x="7091721" y="3342681"/>
            <a:ext cx="209215" cy="209215"/>
          </a:xfrm>
          <a:prstGeom prst="rect">
            <a:avLst/>
          </a:prstGeom>
        </p:spPr>
      </p:pic>
      <p:sp>
        <p:nvSpPr>
          <p:cNvPr id="40" name="Text 32"/>
          <p:cNvSpPr/>
          <p:nvPr/>
        </p:nvSpPr>
        <p:spPr>
          <a:xfrm>
            <a:off x="7543800" y="3246120"/>
            <a:ext cx="3657600" cy="402336"/>
          </a:xfrm>
          <a:prstGeom prst="rect">
            <a:avLst/>
          </a:prstGeom>
          <a:noFill/>
          <a:ln/>
        </p:spPr>
        <p:txBody>
          <a:bodyPr wrap="square" rtlCol="0" anchor="ctr"/>
          <a:lstStyle/>
          <a:p>
            <a:pPr marL="0" indent="0">
              <a:buNone/>
            </a:pPr>
            <a:r>
              <a:rPr lang="en-US" sz="1400" b="1" dirty="0">
                <a:solidFill>
                  <a:srgbClr val="FFFFFF"/>
                </a:solidFill>
                <a:latin typeface="Segoe UI Semibold" pitchFamily="34" charset="0"/>
                <a:ea typeface="Segoe UI Semibold" pitchFamily="34" charset="-122"/>
                <a:cs typeface="Segoe UI Semibold" pitchFamily="34" charset="-120"/>
              </a:rPr>
              <a:t>Instruction Following</a:t>
            </a:r>
            <a:endParaRPr lang="en-US" sz="1400" dirty="0"/>
          </a:p>
        </p:txBody>
      </p:sp>
      <p:sp>
        <p:nvSpPr>
          <p:cNvPr id="41" name="Shape 33"/>
          <p:cNvSpPr/>
          <p:nvPr/>
        </p:nvSpPr>
        <p:spPr>
          <a:xfrm>
            <a:off x="6995160" y="3840480"/>
            <a:ext cx="402336" cy="402336"/>
          </a:xfrm>
          <a:prstGeom prst="roundRect">
            <a:avLst>
              <a:gd name="adj" fmla="val 18182"/>
            </a:avLst>
          </a:prstGeom>
          <a:solidFill>
            <a:srgbClr val="CADCFC"/>
          </a:solidFill>
          <a:ln/>
          <a:effectLst>
            <a:outerShdw blurRad="76200" dist="25400" dir="5400000" algn="bl" rotWithShape="0">
              <a:srgbClr val="8892B0">
                <a:alpha val="30000"/>
              </a:srgbClr>
            </a:outerShdw>
          </a:effectLst>
        </p:spPr>
        <p:txBody>
          <a:bodyPr/>
          <a:lstStyle/>
          <a:p>
            <a:endParaRPr lang="en-IN"/>
          </a:p>
        </p:txBody>
      </p:sp>
      <p:pic>
        <p:nvPicPr>
          <p:cNvPr id="42" name="Image 6" descr="preencoded.png"/>
          <p:cNvPicPr>
            <a:picLocks noChangeAspect="1"/>
          </p:cNvPicPr>
          <p:nvPr/>
        </p:nvPicPr>
        <p:blipFill>
          <a:blip r:embed="rId9"/>
          <a:stretch>
            <a:fillRect/>
          </a:stretch>
        </p:blipFill>
        <p:spPr>
          <a:xfrm>
            <a:off x="7091721" y="3937041"/>
            <a:ext cx="209215" cy="209215"/>
          </a:xfrm>
          <a:prstGeom prst="rect">
            <a:avLst/>
          </a:prstGeom>
        </p:spPr>
      </p:pic>
      <p:sp>
        <p:nvSpPr>
          <p:cNvPr id="43" name="Text 34"/>
          <p:cNvSpPr/>
          <p:nvPr/>
        </p:nvSpPr>
        <p:spPr>
          <a:xfrm>
            <a:off x="7543800" y="3840480"/>
            <a:ext cx="3657600" cy="402336"/>
          </a:xfrm>
          <a:prstGeom prst="rect">
            <a:avLst/>
          </a:prstGeom>
          <a:noFill/>
          <a:ln/>
        </p:spPr>
        <p:txBody>
          <a:bodyPr wrap="square" rtlCol="0" anchor="ctr"/>
          <a:lstStyle/>
          <a:p>
            <a:pPr marL="0" indent="0">
              <a:buNone/>
            </a:pPr>
            <a:r>
              <a:rPr lang="en-US" sz="1400" b="1" dirty="0">
                <a:solidFill>
                  <a:srgbClr val="FFFFFF"/>
                </a:solidFill>
                <a:latin typeface="Segoe UI Semibold" pitchFamily="34" charset="0"/>
                <a:ea typeface="Segoe UI Semibold" pitchFamily="34" charset="-122"/>
                <a:cs typeface="Segoe UI Semibold" pitchFamily="34" charset="-120"/>
              </a:rPr>
              <a:t>Reasoning</a:t>
            </a:r>
            <a:endParaRPr lang="en-US" sz="1400" dirty="0"/>
          </a:p>
        </p:txBody>
      </p:sp>
      <p:sp>
        <p:nvSpPr>
          <p:cNvPr id="44" name="Shape 35"/>
          <p:cNvSpPr/>
          <p:nvPr/>
        </p:nvSpPr>
        <p:spPr>
          <a:xfrm>
            <a:off x="6995160" y="4434840"/>
            <a:ext cx="402336" cy="402336"/>
          </a:xfrm>
          <a:prstGeom prst="roundRect">
            <a:avLst>
              <a:gd name="adj" fmla="val 18182"/>
            </a:avLst>
          </a:prstGeom>
          <a:solidFill>
            <a:srgbClr val="CADCFC"/>
          </a:solidFill>
          <a:ln/>
          <a:effectLst>
            <a:outerShdw blurRad="76200" dist="25400" dir="5400000" algn="bl" rotWithShape="0">
              <a:srgbClr val="8892B0">
                <a:alpha val="30000"/>
              </a:srgbClr>
            </a:outerShdw>
          </a:effectLst>
        </p:spPr>
        <p:txBody>
          <a:bodyPr/>
          <a:lstStyle/>
          <a:p>
            <a:endParaRPr lang="en-IN"/>
          </a:p>
        </p:txBody>
      </p:sp>
      <p:pic>
        <p:nvPicPr>
          <p:cNvPr id="45" name="Image 7" descr="preencoded.png"/>
          <p:cNvPicPr>
            <a:picLocks noChangeAspect="1"/>
          </p:cNvPicPr>
          <p:nvPr/>
        </p:nvPicPr>
        <p:blipFill>
          <a:blip r:embed="rId10"/>
          <a:stretch>
            <a:fillRect/>
          </a:stretch>
        </p:blipFill>
        <p:spPr>
          <a:xfrm>
            <a:off x="7091721" y="4531401"/>
            <a:ext cx="209215" cy="209215"/>
          </a:xfrm>
          <a:prstGeom prst="rect">
            <a:avLst/>
          </a:prstGeom>
        </p:spPr>
      </p:pic>
      <p:sp>
        <p:nvSpPr>
          <p:cNvPr id="46" name="Text 36"/>
          <p:cNvSpPr/>
          <p:nvPr/>
        </p:nvSpPr>
        <p:spPr>
          <a:xfrm>
            <a:off x="7543800" y="4434840"/>
            <a:ext cx="3657600" cy="402336"/>
          </a:xfrm>
          <a:prstGeom prst="rect">
            <a:avLst/>
          </a:prstGeom>
          <a:noFill/>
          <a:ln/>
        </p:spPr>
        <p:txBody>
          <a:bodyPr wrap="square" rtlCol="0" anchor="ctr"/>
          <a:lstStyle/>
          <a:p>
            <a:pPr marL="0" indent="0">
              <a:buNone/>
            </a:pPr>
            <a:r>
              <a:rPr lang="en-US" sz="1400" b="1" dirty="0">
                <a:solidFill>
                  <a:srgbClr val="FFFFFF"/>
                </a:solidFill>
                <a:latin typeface="Segoe UI Semibold" pitchFamily="34" charset="0"/>
                <a:ea typeface="Segoe UI Semibold" pitchFamily="34" charset="-122"/>
                <a:cs typeface="Segoe UI Semibold" pitchFamily="34" charset="-120"/>
              </a:rPr>
              <a:t>Formatting</a:t>
            </a:r>
            <a:endParaRPr lang="en-US" sz="1400" dirty="0"/>
          </a:p>
        </p:txBody>
      </p:sp>
      <p:sp>
        <p:nvSpPr>
          <p:cNvPr id="47" name="Text 37"/>
          <p:cNvSpPr/>
          <p:nvPr/>
        </p:nvSpPr>
        <p:spPr>
          <a:xfrm>
            <a:off x="6995160" y="5074920"/>
            <a:ext cx="4297680" cy="73152"/>
          </a:xfrm>
          <a:prstGeom prst="rect">
            <a:avLst/>
          </a:prstGeom>
          <a:noFill/>
          <a:ln/>
        </p:spPr>
        <p:txBody>
          <a:bodyPr wrap="square" rtlCol="0" anchor="ctr"/>
          <a:lstStyle/>
          <a:p>
            <a:pPr marL="0" indent="0">
              <a:buNone/>
            </a:pPr>
            <a:r>
              <a:rPr lang="en-US" sz="100" dirty="0">
                <a:solidFill>
                  <a:srgbClr val="1E2761"/>
                </a:solidFill>
                <a:latin typeface="Segoe UI" pitchFamily="34" charset="0"/>
                <a:ea typeface="Segoe UI" pitchFamily="34" charset="-122"/>
                <a:cs typeface="Segoe UI" pitchFamily="34" charset="-120"/>
              </a:rPr>
              <a:t>These criteria guide reviewers but are intentionally excluded from the numeric score.</a:t>
            </a:r>
            <a:endParaRPr lang="en-US" sz="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6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1E2761"/>
          </a:solidFill>
          <a:ln/>
        </p:spPr>
        <p:txBody>
          <a:bodyPr/>
          <a:lstStyle/>
          <a:p>
            <a:endParaRPr lang="en-IN"/>
          </a:p>
        </p:txBody>
      </p:sp>
      <p:sp>
        <p:nvSpPr>
          <p:cNvPr id="3" name="Text 1"/>
          <p:cNvSpPr/>
          <p:nvPr/>
        </p:nvSpPr>
        <p:spPr>
          <a:xfrm>
            <a:off x="640080" y="457200"/>
            <a:ext cx="10058400" cy="274320"/>
          </a:xfrm>
          <a:prstGeom prst="rect">
            <a:avLst/>
          </a:prstGeom>
          <a:noFill/>
          <a:ln/>
        </p:spPr>
        <p:txBody>
          <a:bodyPr wrap="square" rtlCol="0" anchor="ctr"/>
          <a:lstStyle/>
          <a:p>
            <a:pPr marL="0" indent="0">
              <a:buNone/>
            </a:pPr>
            <a:r>
              <a:rPr lang="en-US" sz="1200" b="1" kern="0" spc="300" dirty="0">
                <a:solidFill>
                  <a:srgbClr val="F4B740"/>
                </a:solidFill>
                <a:latin typeface="Segoe UI Semibold" pitchFamily="34" charset="0"/>
                <a:ea typeface="Segoe UI Semibold" pitchFamily="34" charset="-122"/>
                <a:cs typeface="Segoe UI Semibold" pitchFamily="34" charset="-120"/>
              </a:rPr>
              <a:t>ERROR TAXONOMY</a:t>
            </a:r>
            <a:endParaRPr lang="en-US" sz="1200" dirty="0"/>
          </a:p>
        </p:txBody>
      </p:sp>
      <p:sp>
        <p:nvSpPr>
          <p:cNvPr id="4" name="Text 2"/>
          <p:cNvSpPr/>
          <p:nvPr/>
        </p:nvSpPr>
        <p:spPr>
          <a:xfrm>
            <a:off x="640080" y="731520"/>
            <a:ext cx="10881360" cy="640080"/>
          </a:xfrm>
          <a:prstGeom prst="rect">
            <a:avLst/>
          </a:prstGeom>
          <a:noFill/>
          <a:ln/>
        </p:spPr>
        <p:txBody>
          <a:bodyPr wrap="square" rtlCol="0" anchor="ctr"/>
          <a:lstStyle/>
          <a:p>
            <a:pPr marL="0" indent="0">
              <a:buNone/>
            </a:pPr>
            <a:r>
              <a:rPr lang="en-US" sz="3000" b="1" dirty="0">
                <a:solidFill>
                  <a:srgbClr val="1E2761"/>
                </a:solidFill>
                <a:latin typeface="Segoe UI Light" pitchFamily="34" charset="0"/>
                <a:ea typeface="Segoe UI Light" pitchFamily="34" charset="-122"/>
                <a:cs typeface="Segoe UI Light" pitchFamily="34" charset="-120"/>
              </a:rPr>
              <a:t>13 canonical error categories</a:t>
            </a:r>
            <a:endParaRPr lang="en-US" sz="3000" dirty="0"/>
          </a:p>
        </p:txBody>
      </p:sp>
      <p:sp>
        <p:nvSpPr>
          <p:cNvPr id="5" name="Shape 3"/>
          <p:cNvSpPr/>
          <p:nvPr/>
        </p:nvSpPr>
        <p:spPr>
          <a:xfrm>
            <a:off x="658368" y="1417320"/>
            <a:ext cx="1005840" cy="0"/>
          </a:xfrm>
          <a:prstGeom prst="line">
            <a:avLst/>
          </a:prstGeom>
          <a:noFill/>
          <a:ln w="31750">
            <a:solidFill>
              <a:srgbClr val="F4B740"/>
            </a:solidFill>
            <a:prstDash val="solid"/>
          </a:ln>
        </p:spPr>
        <p:txBody>
          <a:bodyPr/>
          <a:lstStyle/>
          <a:p>
            <a:endParaRPr lang="en-IN"/>
          </a:p>
        </p:txBody>
      </p:sp>
      <p:sp>
        <p:nvSpPr>
          <p:cNvPr id="6" name="Text 4"/>
          <p:cNvSpPr/>
          <p:nvPr/>
        </p:nvSpPr>
        <p:spPr>
          <a:xfrm>
            <a:off x="11338560" y="6309360"/>
            <a:ext cx="548640" cy="274320"/>
          </a:xfrm>
          <a:prstGeom prst="rect">
            <a:avLst/>
          </a:prstGeom>
          <a:noFill/>
          <a:ln/>
        </p:spPr>
        <p:txBody>
          <a:bodyPr wrap="square" rtlCol="0" anchor="ctr"/>
          <a:lstStyle/>
          <a:p>
            <a:pPr marL="0" indent="0" algn="r">
              <a:buNone/>
            </a:pPr>
            <a:r>
              <a:rPr lang="en-US" sz="1100" dirty="0">
                <a:solidFill>
                  <a:srgbClr val="5B6488"/>
                </a:solidFill>
                <a:latin typeface="Segoe UI Semibold" pitchFamily="34" charset="0"/>
                <a:ea typeface="Segoe UI Semibold" pitchFamily="34" charset="-122"/>
                <a:cs typeface="Segoe UI Semibold" pitchFamily="34" charset="-120"/>
              </a:rPr>
              <a:t>06</a:t>
            </a:r>
            <a:endParaRPr lang="en-US" sz="1100" dirty="0"/>
          </a:p>
        </p:txBody>
      </p:sp>
      <p:sp>
        <p:nvSpPr>
          <p:cNvPr id="7" name="Text 5"/>
          <p:cNvSpPr/>
          <p:nvPr/>
        </p:nvSpPr>
        <p:spPr>
          <a:xfrm>
            <a:off x="640080" y="6309360"/>
            <a:ext cx="5486400" cy="274320"/>
          </a:xfrm>
          <a:prstGeom prst="rect">
            <a:avLst/>
          </a:prstGeom>
          <a:noFill/>
          <a:ln/>
        </p:spPr>
        <p:txBody>
          <a:bodyPr wrap="square" rtlCol="0" anchor="ctr"/>
          <a:lstStyle/>
          <a:p>
            <a:pPr marL="0" indent="0">
              <a:buNone/>
            </a:pPr>
            <a:r>
              <a:rPr lang="en-US" sz="900" dirty="0">
                <a:solidFill>
                  <a:srgbClr val="5B6488"/>
                </a:solidFill>
                <a:latin typeface="Segoe UI" pitchFamily="34" charset="0"/>
                <a:ea typeface="Segoe UI" pitchFamily="34" charset="-122"/>
                <a:cs typeface="Segoe UI" pitchFamily="34" charset="-120"/>
              </a:rPr>
              <a:t>AI Quality Evaluation Framework</a:t>
            </a:r>
            <a:endParaRPr lang="en-US" sz="900" dirty="0"/>
          </a:p>
        </p:txBody>
      </p:sp>
      <p:sp>
        <p:nvSpPr>
          <p:cNvPr id="8" name="Shape 6"/>
          <p:cNvSpPr/>
          <p:nvPr/>
        </p:nvSpPr>
        <p:spPr>
          <a:xfrm>
            <a:off x="490576" y="1783080"/>
            <a:ext cx="2651760" cy="841248"/>
          </a:xfrm>
          <a:prstGeom prst="roundRect">
            <a:avLst>
              <a:gd name="adj" fmla="val 6522"/>
            </a:avLst>
          </a:prstGeom>
          <a:solidFill>
            <a:srgbClr val="FFFFFF"/>
          </a:solidFill>
          <a:ln w="12700">
            <a:solidFill>
              <a:srgbClr val="E2E7F5"/>
            </a:solidFill>
            <a:prstDash val="solid"/>
          </a:ln>
          <a:effectLst>
            <a:outerShdw blurRad="50800" dist="12700" dir="5400000" algn="bl" rotWithShape="0">
              <a:srgbClr val="CDD4E6">
                <a:alpha val="40000"/>
              </a:srgbClr>
            </a:outerShdw>
          </a:effectLst>
        </p:spPr>
        <p:txBody>
          <a:bodyPr/>
          <a:lstStyle/>
          <a:p>
            <a:endParaRPr lang="en-IN"/>
          </a:p>
        </p:txBody>
      </p:sp>
      <p:sp>
        <p:nvSpPr>
          <p:cNvPr id="9" name="Shape 7"/>
          <p:cNvSpPr/>
          <p:nvPr/>
        </p:nvSpPr>
        <p:spPr>
          <a:xfrm>
            <a:off x="490576" y="1783080"/>
            <a:ext cx="91440" cy="841248"/>
          </a:xfrm>
          <a:prstGeom prst="rect">
            <a:avLst/>
          </a:prstGeom>
          <a:solidFill>
            <a:srgbClr val="F4B740"/>
          </a:solidFill>
          <a:ln/>
        </p:spPr>
        <p:txBody>
          <a:bodyPr/>
          <a:lstStyle/>
          <a:p>
            <a:endParaRPr lang="en-IN"/>
          </a:p>
        </p:txBody>
      </p:sp>
      <p:sp>
        <p:nvSpPr>
          <p:cNvPr id="10" name="Text 8"/>
          <p:cNvSpPr/>
          <p:nvPr/>
        </p:nvSpPr>
        <p:spPr>
          <a:xfrm>
            <a:off x="746608" y="1856232"/>
            <a:ext cx="2286000" cy="457200"/>
          </a:xfrm>
          <a:prstGeom prst="rect">
            <a:avLst/>
          </a:prstGeom>
          <a:noFill/>
          <a:ln/>
        </p:spPr>
        <p:txBody>
          <a:bodyPr wrap="square" rtlCol="0" anchor="ctr"/>
          <a:lstStyle/>
          <a:p>
            <a:pPr marL="0" indent="0">
              <a:buNone/>
            </a:pPr>
            <a:r>
              <a:rPr lang="en-US" sz="1250" b="1" dirty="0">
                <a:solidFill>
                  <a:srgbClr val="1E2761"/>
                </a:solidFill>
                <a:latin typeface="Segoe UI Semibold" pitchFamily="34" charset="0"/>
                <a:ea typeface="Segoe UI Semibold" pitchFamily="34" charset="-122"/>
                <a:cs typeface="Segoe UI Semibold" pitchFamily="34" charset="-120"/>
              </a:rPr>
              <a:t>Hallucination</a:t>
            </a:r>
            <a:endParaRPr lang="en-US" sz="1250" dirty="0"/>
          </a:p>
        </p:txBody>
      </p:sp>
      <p:sp>
        <p:nvSpPr>
          <p:cNvPr id="11" name="Text 9"/>
          <p:cNvSpPr/>
          <p:nvPr/>
        </p:nvSpPr>
        <p:spPr>
          <a:xfrm>
            <a:off x="746608" y="2286000"/>
            <a:ext cx="2286000" cy="256032"/>
          </a:xfrm>
          <a:prstGeom prst="rect">
            <a:avLst/>
          </a:prstGeom>
          <a:noFill/>
          <a:ln/>
        </p:spPr>
        <p:txBody>
          <a:bodyPr wrap="square" rtlCol="0" anchor="ctr"/>
          <a:lstStyle/>
          <a:p>
            <a:pPr marL="0" indent="0">
              <a:buNone/>
            </a:pPr>
            <a:r>
              <a:rPr lang="en-US" sz="850" b="1" kern="0" spc="100" dirty="0">
                <a:solidFill>
                  <a:srgbClr val="F4B740"/>
                </a:solidFill>
                <a:latin typeface="Segoe UI Semibold" pitchFamily="34" charset="0"/>
                <a:ea typeface="Segoe UI Semibold" pitchFamily="34" charset="-122"/>
                <a:cs typeface="Segoe UI Semibold" pitchFamily="34" charset="-120"/>
              </a:rPr>
              <a:t>HIGH</a:t>
            </a:r>
            <a:endParaRPr lang="en-US" sz="850" dirty="0"/>
          </a:p>
        </p:txBody>
      </p:sp>
      <p:sp>
        <p:nvSpPr>
          <p:cNvPr id="12" name="Shape 10"/>
          <p:cNvSpPr/>
          <p:nvPr/>
        </p:nvSpPr>
        <p:spPr>
          <a:xfrm>
            <a:off x="3343504" y="1783080"/>
            <a:ext cx="2651760" cy="841248"/>
          </a:xfrm>
          <a:prstGeom prst="roundRect">
            <a:avLst>
              <a:gd name="adj" fmla="val 6522"/>
            </a:avLst>
          </a:prstGeom>
          <a:solidFill>
            <a:srgbClr val="FFFFFF"/>
          </a:solidFill>
          <a:ln w="12700">
            <a:solidFill>
              <a:srgbClr val="E2E7F5"/>
            </a:solidFill>
            <a:prstDash val="solid"/>
          </a:ln>
          <a:effectLst>
            <a:outerShdw blurRad="50800" dist="12700" dir="5400000" algn="bl" rotWithShape="0">
              <a:srgbClr val="CDD4E6">
                <a:alpha val="40000"/>
              </a:srgbClr>
            </a:outerShdw>
          </a:effectLst>
        </p:spPr>
        <p:txBody>
          <a:bodyPr/>
          <a:lstStyle/>
          <a:p>
            <a:endParaRPr lang="en-IN"/>
          </a:p>
        </p:txBody>
      </p:sp>
      <p:sp>
        <p:nvSpPr>
          <p:cNvPr id="13" name="Shape 11"/>
          <p:cNvSpPr/>
          <p:nvPr/>
        </p:nvSpPr>
        <p:spPr>
          <a:xfrm>
            <a:off x="3343504" y="1783080"/>
            <a:ext cx="91440" cy="841248"/>
          </a:xfrm>
          <a:prstGeom prst="rect">
            <a:avLst/>
          </a:prstGeom>
          <a:solidFill>
            <a:srgbClr val="F4B740"/>
          </a:solidFill>
          <a:ln/>
        </p:spPr>
        <p:txBody>
          <a:bodyPr/>
          <a:lstStyle/>
          <a:p>
            <a:endParaRPr lang="en-IN"/>
          </a:p>
        </p:txBody>
      </p:sp>
      <p:sp>
        <p:nvSpPr>
          <p:cNvPr id="14" name="Text 12"/>
          <p:cNvSpPr/>
          <p:nvPr/>
        </p:nvSpPr>
        <p:spPr>
          <a:xfrm>
            <a:off x="3599536" y="1856232"/>
            <a:ext cx="2286000" cy="457200"/>
          </a:xfrm>
          <a:prstGeom prst="rect">
            <a:avLst/>
          </a:prstGeom>
          <a:noFill/>
          <a:ln/>
        </p:spPr>
        <p:txBody>
          <a:bodyPr wrap="square" rtlCol="0" anchor="ctr"/>
          <a:lstStyle/>
          <a:p>
            <a:pPr marL="0" indent="0">
              <a:buNone/>
            </a:pPr>
            <a:r>
              <a:rPr lang="en-US" sz="1250" b="1" dirty="0">
                <a:solidFill>
                  <a:srgbClr val="1E2761"/>
                </a:solidFill>
                <a:latin typeface="Segoe UI Semibold" pitchFamily="34" charset="0"/>
                <a:ea typeface="Segoe UI Semibold" pitchFamily="34" charset="-122"/>
                <a:cs typeface="Segoe UI Semibold" pitchFamily="34" charset="-120"/>
              </a:rPr>
              <a:t>Incorrect Facts</a:t>
            </a:r>
            <a:endParaRPr lang="en-US" sz="1250" dirty="0"/>
          </a:p>
        </p:txBody>
      </p:sp>
      <p:sp>
        <p:nvSpPr>
          <p:cNvPr id="15" name="Text 13"/>
          <p:cNvSpPr/>
          <p:nvPr/>
        </p:nvSpPr>
        <p:spPr>
          <a:xfrm>
            <a:off x="3599536" y="2286000"/>
            <a:ext cx="2286000" cy="256032"/>
          </a:xfrm>
          <a:prstGeom prst="rect">
            <a:avLst/>
          </a:prstGeom>
          <a:noFill/>
          <a:ln/>
        </p:spPr>
        <p:txBody>
          <a:bodyPr wrap="square" rtlCol="0" anchor="ctr"/>
          <a:lstStyle/>
          <a:p>
            <a:pPr marL="0" indent="0">
              <a:buNone/>
            </a:pPr>
            <a:r>
              <a:rPr lang="en-US" sz="850" b="1" kern="0" spc="100" dirty="0">
                <a:solidFill>
                  <a:srgbClr val="F4B740"/>
                </a:solidFill>
                <a:latin typeface="Segoe UI Semibold" pitchFamily="34" charset="0"/>
                <a:ea typeface="Segoe UI Semibold" pitchFamily="34" charset="-122"/>
                <a:cs typeface="Segoe UI Semibold" pitchFamily="34" charset="-120"/>
              </a:rPr>
              <a:t>HIGH</a:t>
            </a:r>
            <a:endParaRPr lang="en-US" sz="850" dirty="0"/>
          </a:p>
        </p:txBody>
      </p:sp>
      <p:sp>
        <p:nvSpPr>
          <p:cNvPr id="16" name="Shape 14"/>
          <p:cNvSpPr/>
          <p:nvPr/>
        </p:nvSpPr>
        <p:spPr>
          <a:xfrm>
            <a:off x="6196432" y="1783080"/>
            <a:ext cx="2651760" cy="841248"/>
          </a:xfrm>
          <a:prstGeom prst="roundRect">
            <a:avLst>
              <a:gd name="adj" fmla="val 6522"/>
            </a:avLst>
          </a:prstGeom>
          <a:solidFill>
            <a:srgbClr val="FFFFFF"/>
          </a:solidFill>
          <a:ln w="12700">
            <a:solidFill>
              <a:srgbClr val="E2E7F5"/>
            </a:solidFill>
            <a:prstDash val="solid"/>
          </a:ln>
          <a:effectLst>
            <a:outerShdw blurRad="50800" dist="12700" dir="5400000" algn="bl" rotWithShape="0">
              <a:srgbClr val="CDD4E6">
                <a:alpha val="40000"/>
              </a:srgbClr>
            </a:outerShdw>
          </a:effectLst>
        </p:spPr>
        <p:txBody>
          <a:bodyPr/>
          <a:lstStyle/>
          <a:p>
            <a:endParaRPr lang="en-IN"/>
          </a:p>
        </p:txBody>
      </p:sp>
      <p:sp>
        <p:nvSpPr>
          <p:cNvPr id="17" name="Shape 15"/>
          <p:cNvSpPr/>
          <p:nvPr/>
        </p:nvSpPr>
        <p:spPr>
          <a:xfrm>
            <a:off x="6196432" y="1783080"/>
            <a:ext cx="91440" cy="841248"/>
          </a:xfrm>
          <a:prstGeom prst="rect">
            <a:avLst/>
          </a:prstGeom>
          <a:solidFill>
            <a:srgbClr val="5B79C4"/>
          </a:solidFill>
          <a:ln/>
        </p:spPr>
        <p:txBody>
          <a:bodyPr/>
          <a:lstStyle/>
          <a:p>
            <a:endParaRPr lang="en-IN"/>
          </a:p>
        </p:txBody>
      </p:sp>
      <p:sp>
        <p:nvSpPr>
          <p:cNvPr id="18" name="Text 16"/>
          <p:cNvSpPr/>
          <p:nvPr/>
        </p:nvSpPr>
        <p:spPr>
          <a:xfrm>
            <a:off x="6452464" y="1856232"/>
            <a:ext cx="2286000" cy="457200"/>
          </a:xfrm>
          <a:prstGeom prst="rect">
            <a:avLst/>
          </a:prstGeom>
          <a:noFill/>
          <a:ln/>
        </p:spPr>
        <p:txBody>
          <a:bodyPr wrap="square" rtlCol="0" anchor="ctr"/>
          <a:lstStyle/>
          <a:p>
            <a:pPr marL="0" indent="0">
              <a:buNone/>
            </a:pPr>
            <a:r>
              <a:rPr lang="en-US" sz="1250" b="1" dirty="0">
                <a:solidFill>
                  <a:srgbClr val="1E2761"/>
                </a:solidFill>
                <a:latin typeface="Segoe UI Semibold" pitchFamily="34" charset="0"/>
                <a:ea typeface="Segoe UI Semibold" pitchFamily="34" charset="-122"/>
                <a:cs typeface="Segoe UI Semibold" pitchFamily="34" charset="-120"/>
              </a:rPr>
              <a:t>Missing Information</a:t>
            </a:r>
            <a:endParaRPr lang="en-US" sz="1250" dirty="0"/>
          </a:p>
        </p:txBody>
      </p:sp>
      <p:sp>
        <p:nvSpPr>
          <p:cNvPr id="19" name="Text 17"/>
          <p:cNvSpPr/>
          <p:nvPr/>
        </p:nvSpPr>
        <p:spPr>
          <a:xfrm>
            <a:off x="6452464" y="2286000"/>
            <a:ext cx="2286000" cy="256032"/>
          </a:xfrm>
          <a:prstGeom prst="rect">
            <a:avLst/>
          </a:prstGeom>
          <a:noFill/>
          <a:ln/>
        </p:spPr>
        <p:txBody>
          <a:bodyPr wrap="square" rtlCol="0" anchor="ctr"/>
          <a:lstStyle/>
          <a:p>
            <a:pPr marL="0" indent="0">
              <a:buNone/>
            </a:pPr>
            <a:r>
              <a:rPr lang="en-US" sz="850" b="1" kern="0" spc="100" dirty="0">
                <a:solidFill>
                  <a:srgbClr val="5B79C4"/>
                </a:solidFill>
                <a:latin typeface="Segoe UI Semibold" pitchFamily="34" charset="0"/>
                <a:ea typeface="Segoe UI Semibold" pitchFamily="34" charset="-122"/>
                <a:cs typeface="Segoe UI Semibold" pitchFamily="34" charset="-120"/>
              </a:rPr>
              <a:t>MEDIUM</a:t>
            </a:r>
            <a:endParaRPr lang="en-US" sz="850" dirty="0"/>
          </a:p>
        </p:txBody>
      </p:sp>
      <p:sp>
        <p:nvSpPr>
          <p:cNvPr id="20" name="Shape 18"/>
          <p:cNvSpPr/>
          <p:nvPr/>
        </p:nvSpPr>
        <p:spPr>
          <a:xfrm>
            <a:off x="9049360" y="1783080"/>
            <a:ext cx="2651760" cy="841248"/>
          </a:xfrm>
          <a:prstGeom prst="roundRect">
            <a:avLst>
              <a:gd name="adj" fmla="val 6522"/>
            </a:avLst>
          </a:prstGeom>
          <a:solidFill>
            <a:srgbClr val="FFFFFF"/>
          </a:solidFill>
          <a:ln w="12700">
            <a:solidFill>
              <a:srgbClr val="E2E7F5"/>
            </a:solidFill>
            <a:prstDash val="solid"/>
          </a:ln>
          <a:effectLst>
            <a:outerShdw blurRad="50800" dist="12700" dir="5400000" algn="bl" rotWithShape="0">
              <a:srgbClr val="CDD4E6">
                <a:alpha val="40000"/>
              </a:srgbClr>
            </a:outerShdw>
          </a:effectLst>
        </p:spPr>
        <p:txBody>
          <a:bodyPr/>
          <a:lstStyle/>
          <a:p>
            <a:endParaRPr lang="en-IN"/>
          </a:p>
        </p:txBody>
      </p:sp>
      <p:sp>
        <p:nvSpPr>
          <p:cNvPr id="21" name="Shape 19"/>
          <p:cNvSpPr/>
          <p:nvPr/>
        </p:nvSpPr>
        <p:spPr>
          <a:xfrm>
            <a:off x="9049360" y="1783080"/>
            <a:ext cx="91440" cy="841248"/>
          </a:xfrm>
          <a:prstGeom prst="rect">
            <a:avLst/>
          </a:prstGeom>
          <a:solidFill>
            <a:srgbClr val="5B79C4"/>
          </a:solidFill>
          <a:ln/>
        </p:spPr>
        <p:txBody>
          <a:bodyPr/>
          <a:lstStyle/>
          <a:p>
            <a:endParaRPr lang="en-IN"/>
          </a:p>
        </p:txBody>
      </p:sp>
      <p:sp>
        <p:nvSpPr>
          <p:cNvPr id="22" name="Text 20"/>
          <p:cNvSpPr/>
          <p:nvPr/>
        </p:nvSpPr>
        <p:spPr>
          <a:xfrm>
            <a:off x="9305392" y="1856232"/>
            <a:ext cx="2286000" cy="457200"/>
          </a:xfrm>
          <a:prstGeom prst="rect">
            <a:avLst/>
          </a:prstGeom>
          <a:noFill/>
          <a:ln/>
        </p:spPr>
        <p:txBody>
          <a:bodyPr wrap="square" rtlCol="0" anchor="ctr"/>
          <a:lstStyle/>
          <a:p>
            <a:pPr marL="0" indent="0">
              <a:buNone/>
            </a:pPr>
            <a:r>
              <a:rPr lang="en-US" sz="1250" b="1" dirty="0">
                <a:solidFill>
                  <a:srgbClr val="1E2761"/>
                </a:solidFill>
                <a:latin typeface="Segoe UI Semibold" pitchFamily="34" charset="0"/>
                <a:ea typeface="Segoe UI Semibold" pitchFamily="34" charset="-122"/>
                <a:cs typeface="Segoe UI Semibold" pitchFamily="34" charset="-120"/>
              </a:rPr>
              <a:t>Incomplete Answer</a:t>
            </a:r>
            <a:endParaRPr lang="en-US" sz="1250" dirty="0"/>
          </a:p>
        </p:txBody>
      </p:sp>
      <p:sp>
        <p:nvSpPr>
          <p:cNvPr id="23" name="Text 21"/>
          <p:cNvSpPr/>
          <p:nvPr/>
        </p:nvSpPr>
        <p:spPr>
          <a:xfrm>
            <a:off x="9305392" y="2286000"/>
            <a:ext cx="2286000" cy="256032"/>
          </a:xfrm>
          <a:prstGeom prst="rect">
            <a:avLst/>
          </a:prstGeom>
          <a:noFill/>
          <a:ln/>
        </p:spPr>
        <p:txBody>
          <a:bodyPr wrap="square" rtlCol="0" anchor="ctr"/>
          <a:lstStyle/>
          <a:p>
            <a:pPr marL="0" indent="0">
              <a:buNone/>
            </a:pPr>
            <a:r>
              <a:rPr lang="en-US" sz="850" b="1" kern="0" spc="100" dirty="0">
                <a:solidFill>
                  <a:srgbClr val="5B79C4"/>
                </a:solidFill>
                <a:latin typeface="Segoe UI Semibold" pitchFamily="34" charset="0"/>
                <a:ea typeface="Segoe UI Semibold" pitchFamily="34" charset="-122"/>
                <a:cs typeface="Segoe UI Semibold" pitchFamily="34" charset="-120"/>
              </a:rPr>
              <a:t>MEDIUM</a:t>
            </a:r>
            <a:endParaRPr lang="en-US" sz="850" dirty="0"/>
          </a:p>
        </p:txBody>
      </p:sp>
      <p:sp>
        <p:nvSpPr>
          <p:cNvPr id="24" name="Shape 22"/>
          <p:cNvSpPr/>
          <p:nvPr/>
        </p:nvSpPr>
        <p:spPr>
          <a:xfrm>
            <a:off x="490576" y="2843784"/>
            <a:ext cx="2651760" cy="841248"/>
          </a:xfrm>
          <a:prstGeom prst="roundRect">
            <a:avLst>
              <a:gd name="adj" fmla="val 6522"/>
            </a:avLst>
          </a:prstGeom>
          <a:solidFill>
            <a:srgbClr val="FFFFFF"/>
          </a:solidFill>
          <a:ln w="12700">
            <a:solidFill>
              <a:srgbClr val="E2E7F5"/>
            </a:solidFill>
            <a:prstDash val="solid"/>
          </a:ln>
          <a:effectLst>
            <a:outerShdw blurRad="50800" dist="12700" dir="5400000" algn="bl" rotWithShape="0">
              <a:srgbClr val="CDD4E6">
                <a:alpha val="40000"/>
              </a:srgbClr>
            </a:outerShdw>
          </a:effectLst>
        </p:spPr>
        <p:txBody>
          <a:bodyPr/>
          <a:lstStyle/>
          <a:p>
            <a:endParaRPr lang="en-IN"/>
          </a:p>
        </p:txBody>
      </p:sp>
      <p:sp>
        <p:nvSpPr>
          <p:cNvPr id="25" name="Shape 23"/>
          <p:cNvSpPr/>
          <p:nvPr/>
        </p:nvSpPr>
        <p:spPr>
          <a:xfrm>
            <a:off x="490576" y="2843784"/>
            <a:ext cx="91440" cy="841248"/>
          </a:xfrm>
          <a:prstGeom prst="rect">
            <a:avLst/>
          </a:prstGeom>
          <a:solidFill>
            <a:srgbClr val="5B79C4"/>
          </a:solidFill>
          <a:ln/>
        </p:spPr>
        <p:txBody>
          <a:bodyPr/>
          <a:lstStyle/>
          <a:p>
            <a:endParaRPr lang="en-IN"/>
          </a:p>
        </p:txBody>
      </p:sp>
      <p:sp>
        <p:nvSpPr>
          <p:cNvPr id="26" name="Text 24"/>
          <p:cNvSpPr/>
          <p:nvPr/>
        </p:nvSpPr>
        <p:spPr>
          <a:xfrm>
            <a:off x="746608" y="2916936"/>
            <a:ext cx="2286000" cy="457200"/>
          </a:xfrm>
          <a:prstGeom prst="rect">
            <a:avLst/>
          </a:prstGeom>
          <a:noFill/>
          <a:ln/>
        </p:spPr>
        <p:txBody>
          <a:bodyPr wrap="square" rtlCol="0" anchor="ctr"/>
          <a:lstStyle/>
          <a:p>
            <a:pPr marL="0" indent="0">
              <a:buNone/>
            </a:pPr>
            <a:r>
              <a:rPr lang="en-US" sz="1250" b="1" dirty="0">
                <a:solidFill>
                  <a:srgbClr val="1E2761"/>
                </a:solidFill>
                <a:latin typeface="Segoe UI Semibold" pitchFamily="34" charset="0"/>
                <a:ea typeface="Segoe UI Semibold" pitchFamily="34" charset="-122"/>
                <a:cs typeface="Segoe UI Semibold" pitchFamily="34" charset="-120"/>
              </a:rPr>
              <a:t>Relevance Failure</a:t>
            </a:r>
            <a:endParaRPr lang="en-US" sz="1250" dirty="0"/>
          </a:p>
        </p:txBody>
      </p:sp>
      <p:sp>
        <p:nvSpPr>
          <p:cNvPr id="27" name="Text 25"/>
          <p:cNvSpPr/>
          <p:nvPr/>
        </p:nvSpPr>
        <p:spPr>
          <a:xfrm>
            <a:off x="746608" y="3346704"/>
            <a:ext cx="2286000" cy="256032"/>
          </a:xfrm>
          <a:prstGeom prst="rect">
            <a:avLst/>
          </a:prstGeom>
          <a:noFill/>
          <a:ln/>
        </p:spPr>
        <p:txBody>
          <a:bodyPr wrap="square" rtlCol="0" anchor="ctr"/>
          <a:lstStyle/>
          <a:p>
            <a:pPr marL="0" indent="0">
              <a:buNone/>
            </a:pPr>
            <a:r>
              <a:rPr lang="en-US" sz="850" b="1" kern="0" spc="100" dirty="0">
                <a:solidFill>
                  <a:srgbClr val="5B79C4"/>
                </a:solidFill>
                <a:latin typeface="Segoe UI Semibold" pitchFamily="34" charset="0"/>
                <a:ea typeface="Segoe UI Semibold" pitchFamily="34" charset="-122"/>
                <a:cs typeface="Segoe UI Semibold" pitchFamily="34" charset="-120"/>
              </a:rPr>
              <a:t>MEDIUM</a:t>
            </a:r>
            <a:endParaRPr lang="en-US" sz="850" dirty="0"/>
          </a:p>
        </p:txBody>
      </p:sp>
      <p:sp>
        <p:nvSpPr>
          <p:cNvPr id="28" name="Shape 26"/>
          <p:cNvSpPr/>
          <p:nvPr/>
        </p:nvSpPr>
        <p:spPr>
          <a:xfrm>
            <a:off x="3343504" y="2843784"/>
            <a:ext cx="2651760" cy="841248"/>
          </a:xfrm>
          <a:prstGeom prst="roundRect">
            <a:avLst>
              <a:gd name="adj" fmla="val 6522"/>
            </a:avLst>
          </a:prstGeom>
          <a:solidFill>
            <a:srgbClr val="FFFFFF"/>
          </a:solidFill>
          <a:ln w="12700">
            <a:solidFill>
              <a:srgbClr val="E2E7F5"/>
            </a:solidFill>
            <a:prstDash val="solid"/>
          </a:ln>
          <a:effectLst>
            <a:outerShdw blurRad="50800" dist="12700" dir="5400000" algn="bl" rotWithShape="0">
              <a:srgbClr val="CDD4E6">
                <a:alpha val="40000"/>
              </a:srgbClr>
            </a:outerShdw>
          </a:effectLst>
        </p:spPr>
        <p:txBody>
          <a:bodyPr/>
          <a:lstStyle/>
          <a:p>
            <a:endParaRPr lang="en-IN"/>
          </a:p>
        </p:txBody>
      </p:sp>
      <p:sp>
        <p:nvSpPr>
          <p:cNvPr id="29" name="Shape 27"/>
          <p:cNvSpPr/>
          <p:nvPr/>
        </p:nvSpPr>
        <p:spPr>
          <a:xfrm>
            <a:off x="3343504" y="2843784"/>
            <a:ext cx="91440" cy="841248"/>
          </a:xfrm>
          <a:prstGeom prst="rect">
            <a:avLst/>
          </a:prstGeom>
          <a:solidFill>
            <a:srgbClr val="F96167"/>
          </a:solidFill>
          <a:ln/>
        </p:spPr>
        <p:txBody>
          <a:bodyPr/>
          <a:lstStyle/>
          <a:p>
            <a:endParaRPr lang="en-IN"/>
          </a:p>
        </p:txBody>
      </p:sp>
      <p:sp>
        <p:nvSpPr>
          <p:cNvPr id="30" name="Text 28"/>
          <p:cNvSpPr/>
          <p:nvPr/>
        </p:nvSpPr>
        <p:spPr>
          <a:xfrm>
            <a:off x="3599536" y="2916936"/>
            <a:ext cx="2286000" cy="457200"/>
          </a:xfrm>
          <a:prstGeom prst="rect">
            <a:avLst/>
          </a:prstGeom>
          <a:noFill/>
          <a:ln/>
        </p:spPr>
        <p:txBody>
          <a:bodyPr wrap="square" rtlCol="0" anchor="ctr"/>
          <a:lstStyle/>
          <a:p>
            <a:pPr marL="0" indent="0">
              <a:buNone/>
            </a:pPr>
            <a:r>
              <a:rPr lang="en-US" sz="1250" b="1" dirty="0">
                <a:solidFill>
                  <a:srgbClr val="1E2761"/>
                </a:solidFill>
                <a:latin typeface="Segoe UI Semibold" pitchFamily="34" charset="0"/>
                <a:ea typeface="Segoe UI Semibold" pitchFamily="34" charset="-122"/>
                <a:cs typeface="Segoe UI Semibold" pitchFamily="34" charset="-120"/>
              </a:rPr>
              <a:t>Safety Violation</a:t>
            </a:r>
            <a:endParaRPr lang="en-US" sz="1250" dirty="0"/>
          </a:p>
        </p:txBody>
      </p:sp>
      <p:sp>
        <p:nvSpPr>
          <p:cNvPr id="31" name="Text 29"/>
          <p:cNvSpPr/>
          <p:nvPr/>
        </p:nvSpPr>
        <p:spPr>
          <a:xfrm>
            <a:off x="3599536" y="3346704"/>
            <a:ext cx="2286000" cy="256032"/>
          </a:xfrm>
          <a:prstGeom prst="rect">
            <a:avLst/>
          </a:prstGeom>
          <a:noFill/>
          <a:ln/>
        </p:spPr>
        <p:txBody>
          <a:bodyPr wrap="square" rtlCol="0" anchor="ctr"/>
          <a:lstStyle/>
          <a:p>
            <a:pPr marL="0" indent="0">
              <a:buNone/>
            </a:pPr>
            <a:r>
              <a:rPr lang="en-US" sz="850" b="1" kern="0" spc="100" dirty="0">
                <a:solidFill>
                  <a:srgbClr val="F96167"/>
                </a:solidFill>
                <a:latin typeface="Segoe UI Semibold" pitchFamily="34" charset="0"/>
                <a:ea typeface="Segoe UI Semibold" pitchFamily="34" charset="-122"/>
                <a:cs typeface="Segoe UI Semibold" pitchFamily="34" charset="-120"/>
              </a:rPr>
              <a:t>CRITICAL</a:t>
            </a:r>
            <a:endParaRPr lang="en-US" sz="850" dirty="0"/>
          </a:p>
        </p:txBody>
      </p:sp>
      <p:sp>
        <p:nvSpPr>
          <p:cNvPr id="32" name="Shape 30"/>
          <p:cNvSpPr/>
          <p:nvPr/>
        </p:nvSpPr>
        <p:spPr>
          <a:xfrm>
            <a:off x="6196432" y="2843784"/>
            <a:ext cx="2651760" cy="841248"/>
          </a:xfrm>
          <a:prstGeom prst="roundRect">
            <a:avLst>
              <a:gd name="adj" fmla="val 6522"/>
            </a:avLst>
          </a:prstGeom>
          <a:solidFill>
            <a:srgbClr val="FFFFFF"/>
          </a:solidFill>
          <a:ln w="12700">
            <a:solidFill>
              <a:srgbClr val="E2E7F5"/>
            </a:solidFill>
            <a:prstDash val="solid"/>
          </a:ln>
          <a:effectLst>
            <a:outerShdw blurRad="50800" dist="12700" dir="5400000" algn="bl" rotWithShape="0">
              <a:srgbClr val="CDD4E6">
                <a:alpha val="40000"/>
              </a:srgbClr>
            </a:outerShdw>
          </a:effectLst>
        </p:spPr>
        <p:txBody>
          <a:bodyPr/>
          <a:lstStyle/>
          <a:p>
            <a:endParaRPr lang="en-IN"/>
          </a:p>
        </p:txBody>
      </p:sp>
      <p:sp>
        <p:nvSpPr>
          <p:cNvPr id="33" name="Shape 31"/>
          <p:cNvSpPr/>
          <p:nvPr/>
        </p:nvSpPr>
        <p:spPr>
          <a:xfrm>
            <a:off x="6196432" y="2843784"/>
            <a:ext cx="91440" cy="841248"/>
          </a:xfrm>
          <a:prstGeom prst="rect">
            <a:avLst/>
          </a:prstGeom>
          <a:solidFill>
            <a:srgbClr val="F96167"/>
          </a:solidFill>
          <a:ln/>
        </p:spPr>
        <p:txBody>
          <a:bodyPr/>
          <a:lstStyle/>
          <a:p>
            <a:endParaRPr lang="en-IN"/>
          </a:p>
        </p:txBody>
      </p:sp>
      <p:sp>
        <p:nvSpPr>
          <p:cNvPr id="34" name="Text 32"/>
          <p:cNvSpPr/>
          <p:nvPr/>
        </p:nvSpPr>
        <p:spPr>
          <a:xfrm>
            <a:off x="6452464" y="2916936"/>
            <a:ext cx="2286000" cy="457200"/>
          </a:xfrm>
          <a:prstGeom prst="rect">
            <a:avLst/>
          </a:prstGeom>
          <a:noFill/>
          <a:ln/>
        </p:spPr>
        <p:txBody>
          <a:bodyPr wrap="square" rtlCol="0" anchor="ctr"/>
          <a:lstStyle/>
          <a:p>
            <a:pPr marL="0" indent="0">
              <a:buNone/>
            </a:pPr>
            <a:r>
              <a:rPr lang="en-US" sz="1250" b="1" dirty="0">
                <a:solidFill>
                  <a:srgbClr val="1E2761"/>
                </a:solidFill>
                <a:latin typeface="Segoe UI Semibold" pitchFamily="34" charset="0"/>
                <a:ea typeface="Segoe UI Semibold" pitchFamily="34" charset="-122"/>
                <a:cs typeface="Segoe UI Semibold" pitchFamily="34" charset="-120"/>
              </a:rPr>
              <a:t>Policy Violation</a:t>
            </a:r>
            <a:endParaRPr lang="en-US" sz="1250" dirty="0"/>
          </a:p>
        </p:txBody>
      </p:sp>
      <p:sp>
        <p:nvSpPr>
          <p:cNvPr id="35" name="Text 33"/>
          <p:cNvSpPr/>
          <p:nvPr/>
        </p:nvSpPr>
        <p:spPr>
          <a:xfrm>
            <a:off x="6452464" y="3346704"/>
            <a:ext cx="2286000" cy="256032"/>
          </a:xfrm>
          <a:prstGeom prst="rect">
            <a:avLst/>
          </a:prstGeom>
          <a:noFill/>
          <a:ln/>
        </p:spPr>
        <p:txBody>
          <a:bodyPr wrap="square" rtlCol="0" anchor="ctr"/>
          <a:lstStyle/>
          <a:p>
            <a:pPr marL="0" indent="0">
              <a:buNone/>
            </a:pPr>
            <a:r>
              <a:rPr lang="en-US" sz="850" b="1" kern="0" spc="100" dirty="0">
                <a:solidFill>
                  <a:srgbClr val="F96167"/>
                </a:solidFill>
                <a:latin typeface="Segoe UI Semibold" pitchFamily="34" charset="0"/>
                <a:ea typeface="Segoe UI Semibold" pitchFamily="34" charset="-122"/>
                <a:cs typeface="Segoe UI Semibold" pitchFamily="34" charset="-120"/>
              </a:rPr>
              <a:t>CRITICAL</a:t>
            </a:r>
            <a:endParaRPr lang="en-US" sz="850" dirty="0"/>
          </a:p>
        </p:txBody>
      </p:sp>
      <p:sp>
        <p:nvSpPr>
          <p:cNvPr id="36" name="Shape 34"/>
          <p:cNvSpPr/>
          <p:nvPr/>
        </p:nvSpPr>
        <p:spPr>
          <a:xfrm>
            <a:off x="9049360" y="2843784"/>
            <a:ext cx="2651760" cy="841248"/>
          </a:xfrm>
          <a:prstGeom prst="roundRect">
            <a:avLst>
              <a:gd name="adj" fmla="val 6522"/>
            </a:avLst>
          </a:prstGeom>
          <a:solidFill>
            <a:srgbClr val="FFFFFF"/>
          </a:solidFill>
          <a:ln w="12700">
            <a:solidFill>
              <a:srgbClr val="E2E7F5"/>
            </a:solidFill>
            <a:prstDash val="solid"/>
          </a:ln>
          <a:effectLst>
            <a:outerShdw blurRad="50800" dist="12700" dir="5400000" algn="bl" rotWithShape="0">
              <a:srgbClr val="CDD4E6">
                <a:alpha val="40000"/>
              </a:srgbClr>
            </a:outerShdw>
          </a:effectLst>
        </p:spPr>
        <p:txBody>
          <a:bodyPr/>
          <a:lstStyle/>
          <a:p>
            <a:endParaRPr lang="en-IN"/>
          </a:p>
        </p:txBody>
      </p:sp>
      <p:sp>
        <p:nvSpPr>
          <p:cNvPr id="37" name="Shape 35"/>
          <p:cNvSpPr/>
          <p:nvPr/>
        </p:nvSpPr>
        <p:spPr>
          <a:xfrm>
            <a:off x="9049360" y="2843784"/>
            <a:ext cx="91440" cy="841248"/>
          </a:xfrm>
          <a:prstGeom prst="rect">
            <a:avLst/>
          </a:prstGeom>
          <a:solidFill>
            <a:srgbClr val="9AA6C4"/>
          </a:solidFill>
          <a:ln/>
        </p:spPr>
        <p:txBody>
          <a:bodyPr/>
          <a:lstStyle/>
          <a:p>
            <a:endParaRPr lang="en-IN"/>
          </a:p>
        </p:txBody>
      </p:sp>
      <p:sp>
        <p:nvSpPr>
          <p:cNvPr id="38" name="Text 36"/>
          <p:cNvSpPr/>
          <p:nvPr/>
        </p:nvSpPr>
        <p:spPr>
          <a:xfrm>
            <a:off x="9305392" y="2916936"/>
            <a:ext cx="2286000" cy="457200"/>
          </a:xfrm>
          <a:prstGeom prst="rect">
            <a:avLst/>
          </a:prstGeom>
          <a:noFill/>
          <a:ln/>
        </p:spPr>
        <p:txBody>
          <a:bodyPr wrap="square" rtlCol="0" anchor="ctr"/>
          <a:lstStyle/>
          <a:p>
            <a:pPr marL="0" indent="0">
              <a:buNone/>
            </a:pPr>
            <a:r>
              <a:rPr lang="en-US" sz="1250" b="1" dirty="0">
                <a:solidFill>
                  <a:srgbClr val="1E2761"/>
                </a:solidFill>
                <a:latin typeface="Segoe UI Semibold" pitchFamily="34" charset="0"/>
                <a:ea typeface="Segoe UI Semibold" pitchFamily="34" charset="-122"/>
                <a:cs typeface="Segoe UI Semibold" pitchFamily="34" charset="-120"/>
              </a:rPr>
              <a:t>Formatting Issues</a:t>
            </a:r>
            <a:endParaRPr lang="en-US" sz="1250" dirty="0"/>
          </a:p>
        </p:txBody>
      </p:sp>
      <p:sp>
        <p:nvSpPr>
          <p:cNvPr id="39" name="Text 37"/>
          <p:cNvSpPr/>
          <p:nvPr/>
        </p:nvSpPr>
        <p:spPr>
          <a:xfrm>
            <a:off x="9305392" y="3346704"/>
            <a:ext cx="2286000" cy="256032"/>
          </a:xfrm>
          <a:prstGeom prst="rect">
            <a:avLst/>
          </a:prstGeom>
          <a:noFill/>
          <a:ln/>
        </p:spPr>
        <p:txBody>
          <a:bodyPr wrap="square" rtlCol="0" anchor="ctr"/>
          <a:lstStyle/>
          <a:p>
            <a:pPr marL="0" indent="0">
              <a:buNone/>
            </a:pPr>
            <a:r>
              <a:rPr lang="en-US" sz="850" b="1" kern="0" spc="100" dirty="0">
                <a:solidFill>
                  <a:srgbClr val="9AA6C4"/>
                </a:solidFill>
                <a:latin typeface="Segoe UI Semibold" pitchFamily="34" charset="0"/>
                <a:ea typeface="Segoe UI Semibold" pitchFamily="34" charset="-122"/>
                <a:cs typeface="Segoe UI Semibold" pitchFamily="34" charset="-120"/>
              </a:rPr>
              <a:t>LOW</a:t>
            </a:r>
            <a:endParaRPr lang="en-US" sz="850" dirty="0"/>
          </a:p>
        </p:txBody>
      </p:sp>
      <p:sp>
        <p:nvSpPr>
          <p:cNvPr id="40" name="Shape 38"/>
          <p:cNvSpPr/>
          <p:nvPr/>
        </p:nvSpPr>
        <p:spPr>
          <a:xfrm>
            <a:off x="490576" y="3904488"/>
            <a:ext cx="2651760" cy="841248"/>
          </a:xfrm>
          <a:prstGeom prst="roundRect">
            <a:avLst>
              <a:gd name="adj" fmla="val 6522"/>
            </a:avLst>
          </a:prstGeom>
          <a:solidFill>
            <a:srgbClr val="FFFFFF"/>
          </a:solidFill>
          <a:ln w="12700">
            <a:solidFill>
              <a:srgbClr val="E2E7F5"/>
            </a:solidFill>
            <a:prstDash val="solid"/>
          </a:ln>
          <a:effectLst>
            <a:outerShdw blurRad="50800" dist="12700" dir="5400000" algn="bl" rotWithShape="0">
              <a:srgbClr val="CDD4E6">
                <a:alpha val="40000"/>
              </a:srgbClr>
            </a:outerShdw>
          </a:effectLst>
        </p:spPr>
        <p:txBody>
          <a:bodyPr/>
          <a:lstStyle/>
          <a:p>
            <a:endParaRPr lang="en-IN"/>
          </a:p>
        </p:txBody>
      </p:sp>
      <p:sp>
        <p:nvSpPr>
          <p:cNvPr id="41" name="Shape 39"/>
          <p:cNvSpPr/>
          <p:nvPr/>
        </p:nvSpPr>
        <p:spPr>
          <a:xfrm>
            <a:off x="490576" y="3904488"/>
            <a:ext cx="91440" cy="841248"/>
          </a:xfrm>
          <a:prstGeom prst="rect">
            <a:avLst/>
          </a:prstGeom>
          <a:solidFill>
            <a:srgbClr val="5B79C4"/>
          </a:solidFill>
          <a:ln/>
        </p:spPr>
        <p:txBody>
          <a:bodyPr/>
          <a:lstStyle/>
          <a:p>
            <a:endParaRPr lang="en-IN"/>
          </a:p>
        </p:txBody>
      </p:sp>
      <p:sp>
        <p:nvSpPr>
          <p:cNvPr id="42" name="Text 40"/>
          <p:cNvSpPr/>
          <p:nvPr/>
        </p:nvSpPr>
        <p:spPr>
          <a:xfrm>
            <a:off x="746608" y="3977640"/>
            <a:ext cx="2286000" cy="457200"/>
          </a:xfrm>
          <a:prstGeom prst="rect">
            <a:avLst/>
          </a:prstGeom>
          <a:noFill/>
          <a:ln/>
        </p:spPr>
        <p:txBody>
          <a:bodyPr wrap="square" rtlCol="0" anchor="ctr"/>
          <a:lstStyle/>
          <a:p>
            <a:pPr marL="0" indent="0">
              <a:buNone/>
            </a:pPr>
            <a:r>
              <a:rPr lang="en-US" sz="1250" b="1" dirty="0">
                <a:solidFill>
                  <a:srgbClr val="1E2761"/>
                </a:solidFill>
                <a:latin typeface="Segoe UI Semibold" pitchFamily="34" charset="0"/>
                <a:ea typeface="Segoe UI Semibold" pitchFamily="34" charset="-122"/>
                <a:cs typeface="Segoe UI Semibold" pitchFamily="34" charset="-120"/>
              </a:rPr>
              <a:t>Instruction Following Failure</a:t>
            </a:r>
            <a:endParaRPr lang="en-US" sz="1250" dirty="0"/>
          </a:p>
        </p:txBody>
      </p:sp>
      <p:sp>
        <p:nvSpPr>
          <p:cNvPr id="43" name="Text 41"/>
          <p:cNvSpPr/>
          <p:nvPr/>
        </p:nvSpPr>
        <p:spPr>
          <a:xfrm>
            <a:off x="746608" y="4407408"/>
            <a:ext cx="2286000" cy="256032"/>
          </a:xfrm>
          <a:prstGeom prst="rect">
            <a:avLst/>
          </a:prstGeom>
          <a:noFill/>
          <a:ln/>
        </p:spPr>
        <p:txBody>
          <a:bodyPr wrap="square" rtlCol="0" anchor="ctr"/>
          <a:lstStyle/>
          <a:p>
            <a:pPr marL="0" indent="0">
              <a:buNone/>
            </a:pPr>
            <a:r>
              <a:rPr lang="en-US" sz="850" b="1" kern="0" spc="100" dirty="0">
                <a:solidFill>
                  <a:srgbClr val="5B79C4"/>
                </a:solidFill>
                <a:latin typeface="Segoe UI Semibold" pitchFamily="34" charset="0"/>
                <a:ea typeface="Segoe UI Semibold" pitchFamily="34" charset="-122"/>
                <a:cs typeface="Segoe UI Semibold" pitchFamily="34" charset="-120"/>
              </a:rPr>
              <a:t>MEDIUM</a:t>
            </a:r>
            <a:endParaRPr lang="en-US" sz="850" dirty="0"/>
          </a:p>
        </p:txBody>
      </p:sp>
      <p:sp>
        <p:nvSpPr>
          <p:cNvPr id="44" name="Shape 42"/>
          <p:cNvSpPr/>
          <p:nvPr/>
        </p:nvSpPr>
        <p:spPr>
          <a:xfrm>
            <a:off x="3343504" y="3904488"/>
            <a:ext cx="2651760" cy="841248"/>
          </a:xfrm>
          <a:prstGeom prst="roundRect">
            <a:avLst>
              <a:gd name="adj" fmla="val 6522"/>
            </a:avLst>
          </a:prstGeom>
          <a:solidFill>
            <a:srgbClr val="FFFFFF"/>
          </a:solidFill>
          <a:ln w="12700">
            <a:solidFill>
              <a:srgbClr val="E2E7F5"/>
            </a:solidFill>
            <a:prstDash val="solid"/>
          </a:ln>
          <a:effectLst>
            <a:outerShdw blurRad="50800" dist="12700" dir="5400000" algn="bl" rotWithShape="0">
              <a:srgbClr val="CDD4E6">
                <a:alpha val="40000"/>
              </a:srgbClr>
            </a:outerShdw>
          </a:effectLst>
        </p:spPr>
        <p:txBody>
          <a:bodyPr/>
          <a:lstStyle/>
          <a:p>
            <a:endParaRPr lang="en-IN"/>
          </a:p>
        </p:txBody>
      </p:sp>
      <p:sp>
        <p:nvSpPr>
          <p:cNvPr id="45" name="Shape 43"/>
          <p:cNvSpPr/>
          <p:nvPr/>
        </p:nvSpPr>
        <p:spPr>
          <a:xfrm>
            <a:off x="3343504" y="3904488"/>
            <a:ext cx="91440" cy="841248"/>
          </a:xfrm>
          <a:prstGeom prst="rect">
            <a:avLst/>
          </a:prstGeom>
          <a:solidFill>
            <a:srgbClr val="5B79C4"/>
          </a:solidFill>
          <a:ln/>
        </p:spPr>
        <p:txBody>
          <a:bodyPr/>
          <a:lstStyle/>
          <a:p>
            <a:endParaRPr lang="en-IN"/>
          </a:p>
        </p:txBody>
      </p:sp>
      <p:sp>
        <p:nvSpPr>
          <p:cNvPr id="46" name="Text 44"/>
          <p:cNvSpPr/>
          <p:nvPr/>
        </p:nvSpPr>
        <p:spPr>
          <a:xfrm>
            <a:off x="3599536" y="3977640"/>
            <a:ext cx="2286000" cy="457200"/>
          </a:xfrm>
          <a:prstGeom prst="rect">
            <a:avLst/>
          </a:prstGeom>
          <a:noFill/>
          <a:ln/>
        </p:spPr>
        <p:txBody>
          <a:bodyPr wrap="square" rtlCol="0" anchor="ctr"/>
          <a:lstStyle/>
          <a:p>
            <a:pPr marL="0" indent="0">
              <a:buNone/>
            </a:pPr>
            <a:r>
              <a:rPr lang="en-US" sz="1250" b="1" dirty="0">
                <a:solidFill>
                  <a:srgbClr val="1E2761"/>
                </a:solidFill>
                <a:latin typeface="Segoe UI Semibold" pitchFamily="34" charset="0"/>
                <a:ea typeface="Segoe UI Semibold" pitchFamily="34" charset="-122"/>
                <a:cs typeface="Segoe UI Semibold" pitchFamily="34" charset="-120"/>
              </a:rPr>
              <a:t>Tone Issue</a:t>
            </a:r>
            <a:endParaRPr lang="en-US" sz="1250" dirty="0"/>
          </a:p>
        </p:txBody>
      </p:sp>
      <p:sp>
        <p:nvSpPr>
          <p:cNvPr id="47" name="Text 45"/>
          <p:cNvSpPr/>
          <p:nvPr/>
        </p:nvSpPr>
        <p:spPr>
          <a:xfrm>
            <a:off x="3599536" y="4407408"/>
            <a:ext cx="2286000" cy="256032"/>
          </a:xfrm>
          <a:prstGeom prst="rect">
            <a:avLst/>
          </a:prstGeom>
          <a:noFill/>
          <a:ln/>
        </p:spPr>
        <p:txBody>
          <a:bodyPr wrap="square" rtlCol="0" anchor="ctr"/>
          <a:lstStyle/>
          <a:p>
            <a:pPr marL="0" indent="0">
              <a:buNone/>
            </a:pPr>
            <a:r>
              <a:rPr lang="en-US" sz="850" b="1" kern="0" spc="100" dirty="0">
                <a:solidFill>
                  <a:srgbClr val="5B79C4"/>
                </a:solidFill>
                <a:latin typeface="Segoe UI Semibold" pitchFamily="34" charset="0"/>
                <a:ea typeface="Segoe UI Semibold" pitchFamily="34" charset="-122"/>
                <a:cs typeface="Segoe UI Semibold" pitchFamily="34" charset="-120"/>
              </a:rPr>
              <a:t>MEDIUM</a:t>
            </a:r>
            <a:endParaRPr lang="en-US" sz="850" dirty="0"/>
          </a:p>
        </p:txBody>
      </p:sp>
      <p:sp>
        <p:nvSpPr>
          <p:cNvPr id="48" name="Shape 46"/>
          <p:cNvSpPr/>
          <p:nvPr/>
        </p:nvSpPr>
        <p:spPr>
          <a:xfrm>
            <a:off x="6196432" y="3904488"/>
            <a:ext cx="2651760" cy="841248"/>
          </a:xfrm>
          <a:prstGeom prst="roundRect">
            <a:avLst>
              <a:gd name="adj" fmla="val 6522"/>
            </a:avLst>
          </a:prstGeom>
          <a:solidFill>
            <a:srgbClr val="FFFFFF"/>
          </a:solidFill>
          <a:ln w="12700">
            <a:solidFill>
              <a:srgbClr val="E2E7F5"/>
            </a:solidFill>
            <a:prstDash val="solid"/>
          </a:ln>
          <a:effectLst>
            <a:outerShdw blurRad="50800" dist="12700" dir="5400000" algn="bl" rotWithShape="0">
              <a:srgbClr val="CDD4E6">
                <a:alpha val="40000"/>
              </a:srgbClr>
            </a:outerShdw>
          </a:effectLst>
        </p:spPr>
        <p:txBody>
          <a:bodyPr/>
          <a:lstStyle/>
          <a:p>
            <a:endParaRPr lang="en-IN"/>
          </a:p>
        </p:txBody>
      </p:sp>
      <p:sp>
        <p:nvSpPr>
          <p:cNvPr id="49" name="Shape 47"/>
          <p:cNvSpPr/>
          <p:nvPr/>
        </p:nvSpPr>
        <p:spPr>
          <a:xfrm>
            <a:off x="6196432" y="3904488"/>
            <a:ext cx="91440" cy="841248"/>
          </a:xfrm>
          <a:prstGeom prst="rect">
            <a:avLst/>
          </a:prstGeom>
          <a:solidFill>
            <a:srgbClr val="F4B740"/>
          </a:solidFill>
          <a:ln/>
        </p:spPr>
        <p:txBody>
          <a:bodyPr/>
          <a:lstStyle/>
          <a:p>
            <a:endParaRPr lang="en-IN"/>
          </a:p>
        </p:txBody>
      </p:sp>
      <p:sp>
        <p:nvSpPr>
          <p:cNvPr id="50" name="Text 48"/>
          <p:cNvSpPr/>
          <p:nvPr/>
        </p:nvSpPr>
        <p:spPr>
          <a:xfrm>
            <a:off x="6452464" y="3977640"/>
            <a:ext cx="2286000" cy="457200"/>
          </a:xfrm>
          <a:prstGeom prst="rect">
            <a:avLst/>
          </a:prstGeom>
          <a:noFill/>
          <a:ln/>
        </p:spPr>
        <p:txBody>
          <a:bodyPr wrap="square" rtlCol="0" anchor="ctr"/>
          <a:lstStyle/>
          <a:p>
            <a:pPr marL="0" indent="0">
              <a:buNone/>
            </a:pPr>
            <a:r>
              <a:rPr lang="en-US" sz="1250" b="1" dirty="0">
                <a:solidFill>
                  <a:srgbClr val="1E2761"/>
                </a:solidFill>
                <a:latin typeface="Segoe UI Semibold" pitchFamily="34" charset="0"/>
                <a:ea typeface="Segoe UI Semibold" pitchFamily="34" charset="-122"/>
                <a:cs typeface="Segoe UI Semibold" pitchFamily="34" charset="-120"/>
              </a:rPr>
              <a:t>Bias</a:t>
            </a:r>
            <a:endParaRPr lang="en-US" sz="1250" dirty="0"/>
          </a:p>
        </p:txBody>
      </p:sp>
      <p:sp>
        <p:nvSpPr>
          <p:cNvPr id="51" name="Text 49"/>
          <p:cNvSpPr/>
          <p:nvPr/>
        </p:nvSpPr>
        <p:spPr>
          <a:xfrm>
            <a:off x="6452464" y="4407408"/>
            <a:ext cx="2286000" cy="256032"/>
          </a:xfrm>
          <a:prstGeom prst="rect">
            <a:avLst/>
          </a:prstGeom>
          <a:noFill/>
          <a:ln/>
        </p:spPr>
        <p:txBody>
          <a:bodyPr wrap="square" rtlCol="0" anchor="ctr"/>
          <a:lstStyle/>
          <a:p>
            <a:pPr marL="0" indent="0">
              <a:buNone/>
            </a:pPr>
            <a:r>
              <a:rPr lang="en-US" sz="850" b="1" kern="0" spc="100" dirty="0">
                <a:solidFill>
                  <a:srgbClr val="F4B740"/>
                </a:solidFill>
                <a:latin typeface="Segoe UI Semibold" pitchFamily="34" charset="0"/>
                <a:ea typeface="Segoe UI Semibold" pitchFamily="34" charset="-122"/>
                <a:cs typeface="Segoe UI Semibold" pitchFamily="34" charset="-120"/>
              </a:rPr>
              <a:t>HIGH</a:t>
            </a:r>
            <a:endParaRPr lang="en-US" sz="850" dirty="0"/>
          </a:p>
        </p:txBody>
      </p:sp>
      <p:sp>
        <p:nvSpPr>
          <p:cNvPr id="52" name="Shape 50"/>
          <p:cNvSpPr/>
          <p:nvPr/>
        </p:nvSpPr>
        <p:spPr>
          <a:xfrm>
            <a:off x="9049360" y="3904488"/>
            <a:ext cx="2651760" cy="841248"/>
          </a:xfrm>
          <a:prstGeom prst="roundRect">
            <a:avLst>
              <a:gd name="adj" fmla="val 6522"/>
            </a:avLst>
          </a:prstGeom>
          <a:solidFill>
            <a:srgbClr val="FFFFFF"/>
          </a:solidFill>
          <a:ln w="12700">
            <a:solidFill>
              <a:srgbClr val="E2E7F5"/>
            </a:solidFill>
            <a:prstDash val="solid"/>
          </a:ln>
          <a:effectLst>
            <a:outerShdw blurRad="50800" dist="12700" dir="5400000" algn="bl" rotWithShape="0">
              <a:srgbClr val="CDD4E6">
                <a:alpha val="40000"/>
              </a:srgbClr>
            </a:outerShdw>
          </a:effectLst>
        </p:spPr>
        <p:txBody>
          <a:bodyPr/>
          <a:lstStyle/>
          <a:p>
            <a:endParaRPr lang="en-IN"/>
          </a:p>
        </p:txBody>
      </p:sp>
      <p:sp>
        <p:nvSpPr>
          <p:cNvPr id="53" name="Shape 51"/>
          <p:cNvSpPr/>
          <p:nvPr/>
        </p:nvSpPr>
        <p:spPr>
          <a:xfrm>
            <a:off x="9049360" y="3904488"/>
            <a:ext cx="91440" cy="841248"/>
          </a:xfrm>
          <a:prstGeom prst="rect">
            <a:avLst/>
          </a:prstGeom>
          <a:solidFill>
            <a:srgbClr val="F96167"/>
          </a:solidFill>
          <a:ln/>
        </p:spPr>
        <p:txBody>
          <a:bodyPr/>
          <a:lstStyle/>
          <a:p>
            <a:endParaRPr lang="en-IN"/>
          </a:p>
        </p:txBody>
      </p:sp>
      <p:sp>
        <p:nvSpPr>
          <p:cNvPr id="54" name="Text 52"/>
          <p:cNvSpPr/>
          <p:nvPr/>
        </p:nvSpPr>
        <p:spPr>
          <a:xfrm>
            <a:off x="9305392" y="3977640"/>
            <a:ext cx="2286000" cy="457200"/>
          </a:xfrm>
          <a:prstGeom prst="rect">
            <a:avLst/>
          </a:prstGeom>
          <a:noFill/>
          <a:ln/>
        </p:spPr>
        <p:txBody>
          <a:bodyPr wrap="square" rtlCol="0" anchor="ctr"/>
          <a:lstStyle/>
          <a:p>
            <a:pPr marL="0" indent="0">
              <a:buNone/>
            </a:pPr>
            <a:r>
              <a:rPr lang="en-US" sz="1250" b="1" dirty="0">
                <a:solidFill>
                  <a:srgbClr val="1E2761"/>
                </a:solidFill>
                <a:latin typeface="Segoe UI Semibold" pitchFamily="34" charset="0"/>
                <a:ea typeface="Segoe UI Semibold" pitchFamily="34" charset="-122"/>
                <a:cs typeface="Segoe UI Semibold" pitchFamily="34" charset="-120"/>
              </a:rPr>
              <a:t>Toxicity</a:t>
            </a:r>
            <a:endParaRPr lang="en-US" sz="1250" dirty="0"/>
          </a:p>
        </p:txBody>
      </p:sp>
      <p:sp>
        <p:nvSpPr>
          <p:cNvPr id="55" name="Text 53"/>
          <p:cNvSpPr/>
          <p:nvPr/>
        </p:nvSpPr>
        <p:spPr>
          <a:xfrm>
            <a:off x="9305392" y="4407408"/>
            <a:ext cx="2286000" cy="256032"/>
          </a:xfrm>
          <a:prstGeom prst="rect">
            <a:avLst/>
          </a:prstGeom>
          <a:noFill/>
          <a:ln/>
        </p:spPr>
        <p:txBody>
          <a:bodyPr wrap="square" rtlCol="0" anchor="ctr"/>
          <a:lstStyle/>
          <a:p>
            <a:pPr marL="0" indent="0">
              <a:buNone/>
            </a:pPr>
            <a:r>
              <a:rPr lang="en-US" sz="850" b="1" kern="0" spc="100" dirty="0">
                <a:solidFill>
                  <a:srgbClr val="F96167"/>
                </a:solidFill>
                <a:latin typeface="Segoe UI Semibold" pitchFamily="34" charset="0"/>
                <a:ea typeface="Segoe UI Semibold" pitchFamily="34" charset="-122"/>
                <a:cs typeface="Segoe UI Semibold" pitchFamily="34" charset="-120"/>
              </a:rPr>
              <a:t>CRITICAL</a:t>
            </a:r>
            <a:endParaRPr lang="en-US" sz="850" dirty="0"/>
          </a:p>
        </p:txBody>
      </p:sp>
      <p:sp>
        <p:nvSpPr>
          <p:cNvPr id="56" name="Shape 54"/>
          <p:cNvSpPr/>
          <p:nvPr/>
        </p:nvSpPr>
        <p:spPr>
          <a:xfrm>
            <a:off x="490576" y="4965192"/>
            <a:ext cx="2651760" cy="841248"/>
          </a:xfrm>
          <a:prstGeom prst="roundRect">
            <a:avLst>
              <a:gd name="adj" fmla="val 6522"/>
            </a:avLst>
          </a:prstGeom>
          <a:solidFill>
            <a:srgbClr val="FFFFFF"/>
          </a:solidFill>
          <a:ln w="12700">
            <a:solidFill>
              <a:srgbClr val="E2E7F5"/>
            </a:solidFill>
            <a:prstDash val="solid"/>
          </a:ln>
          <a:effectLst>
            <a:outerShdw blurRad="50800" dist="12700" dir="5400000" algn="bl" rotWithShape="0">
              <a:srgbClr val="CDD4E6">
                <a:alpha val="40000"/>
              </a:srgbClr>
            </a:outerShdw>
          </a:effectLst>
        </p:spPr>
        <p:txBody>
          <a:bodyPr/>
          <a:lstStyle/>
          <a:p>
            <a:endParaRPr lang="en-IN"/>
          </a:p>
        </p:txBody>
      </p:sp>
      <p:sp>
        <p:nvSpPr>
          <p:cNvPr id="57" name="Shape 55"/>
          <p:cNvSpPr/>
          <p:nvPr/>
        </p:nvSpPr>
        <p:spPr>
          <a:xfrm>
            <a:off x="490576" y="4965192"/>
            <a:ext cx="91440" cy="841248"/>
          </a:xfrm>
          <a:prstGeom prst="rect">
            <a:avLst/>
          </a:prstGeom>
          <a:solidFill>
            <a:srgbClr val="9AA6C4"/>
          </a:solidFill>
          <a:ln/>
        </p:spPr>
        <p:txBody>
          <a:bodyPr/>
          <a:lstStyle/>
          <a:p>
            <a:endParaRPr lang="en-IN"/>
          </a:p>
        </p:txBody>
      </p:sp>
      <p:sp>
        <p:nvSpPr>
          <p:cNvPr id="58" name="Text 56"/>
          <p:cNvSpPr/>
          <p:nvPr/>
        </p:nvSpPr>
        <p:spPr>
          <a:xfrm>
            <a:off x="746608" y="5038344"/>
            <a:ext cx="2286000" cy="457200"/>
          </a:xfrm>
          <a:prstGeom prst="rect">
            <a:avLst/>
          </a:prstGeom>
          <a:noFill/>
          <a:ln/>
        </p:spPr>
        <p:txBody>
          <a:bodyPr wrap="square" rtlCol="0" anchor="ctr"/>
          <a:lstStyle/>
          <a:p>
            <a:pPr marL="0" indent="0">
              <a:buNone/>
            </a:pPr>
            <a:r>
              <a:rPr lang="en-US" sz="1250" b="1" dirty="0">
                <a:solidFill>
                  <a:srgbClr val="1E2761"/>
                </a:solidFill>
                <a:latin typeface="Segoe UI Semibold" pitchFamily="34" charset="0"/>
                <a:ea typeface="Segoe UI Semibold" pitchFamily="34" charset="-122"/>
                <a:cs typeface="Segoe UI Semibold" pitchFamily="34" charset="-120"/>
              </a:rPr>
              <a:t>Ambiguity</a:t>
            </a:r>
            <a:endParaRPr lang="en-US" sz="1250" dirty="0"/>
          </a:p>
        </p:txBody>
      </p:sp>
      <p:sp>
        <p:nvSpPr>
          <p:cNvPr id="59" name="Text 57"/>
          <p:cNvSpPr/>
          <p:nvPr/>
        </p:nvSpPr>
        <p:spPr>
          <a:xfrm>
            <a:off x="746608" y="5468112"/>
            <a:ext cx="2286000" cy="256032"/>
          </a:xfrm>
          <a:prstGeom prst="rect">
            <a:avLst/>
          </a:prstGeom>
          <a:noFill/>
          <a:ln/>
        </p:spPr>
        <p:txBody>
          <a:bodyPr wrap="square" rtlCol="0" anchor="ctr"/>
          <a:lstStyle/>
          <a:p>
            <a:pPr marL="0" indent="0">
              <a:buNone/>
            </a:pPr>
            <a:r>
              <a:rPr lang="en-US" sz="850" b="1" kern="0" spc="100" dirty="0">
                <a:solidFill>
                  <a:srgbClr val="9AA6C4"/>
                </a:solidFill>
                <a:latin typeface="Segoe UI Semibold" pitchFamily="34" charset="0"/>
                <a:ea typeface="Segoe UI Semibold" pitchFamily="34" charset="-122"/>
                <a:cs typeface="Segoe UI Semibold" pitchFamily="34" charset="-120"/>
              </a:rPr>
              <a:t>LOW</a:t>
            </a:r>
            <a:endParaRPr lang="en-US" sz="850" dirty="0"/>
          </a:p>
        </p:txBody>
      </p:sp>
      <p:sp>
        <p:nvSpPr>
          <p:cNvPr id="60" name="Text 58"/>
          <p:cNvSpPr/>
          <p:nvPr/>
        </p:nvSpPr>
        <p:spPr>
          <a:xfrm>
            <a:off x="490576" y="5806440"/>
            <a:ext cx="1097280" cy="274320"/>
          </a:xfrm>
          <a:prstGeom prst="rect">
            <a:avLst/>
          </a:prstGeom>
          <a:noFill/>
          <a:ln/>
        </p:spPr>
        <p:txBody>
          <a:bodyPr wrap="square" rtlCol="0" anchor="ctr"/>
          <a:lstStyle/>
          <a:p>
            <a:pPr marL="0" indent="0">
              <a:buNone/>
            </a:pPr>
            <a:r>
              <a:rPr lang="en-US" sz="1000" b="1" kern="0" spc="100" dirty="0">
                <a:solidFill>
                  <a:srgbClr val="5B6488"/>
                </a:solidFill>
                <a:latin typeface="Segoe UI Semibold" pitchFamily="34" charset="0"/>
                <a:ea typeface="Segoe UI Semibold" pitchFamily="34" charset="-122"/>
                <a:cs typeface="Segoe UI Semibold" pitchFamily="34" charset="-120"/>
              </a:rPr>
              <a:t>SEVERITY</a:t>
            </a:r>
            <a:endParaRPr lang="en-US" sz="1000" dirty="0"/>
          </a:p>
        </p:txBody>
      </p:sp>
      <p:sp>
        <p:nvSpPr>
          <p:cNvPr id="61" name="Shape 59"/>
          <p:cNvSpPr/>
          <p:nvPr/>
        </p:nvSpPr>
        <p:spPr>
          <a:xfrm>
            <a:off x="1542136" y="5870448"/>
            <a:ext cx="164592" cy="164592"/>
          </a:xfrm>
          <a:prstGeom prst="roundRect">
            <a:avLst>
              <a:gd name="adj" fmla="val 16667"/>
            </a:avLst>
          </a:prstGeom>
          <a:solidFill>
            <a:srgbClr val="F96167"/>
          </a:solidFill>
          <a:ln/>
        </p:spPr>
        <p:txBody>
          <a:bodyPr/>
          <a:lstStyle/>
          <a:p>
            <a:endParaRPr lang="en-IN"/>
          </a:p>
        </p:txBody>
      </p:sp>
      <p:sp>
        <p:nvSpPr>
          <p:cNvPr id="62" name="Text 60"/>
          <p:cNvSpPr/>
          <p:nvPr/>
        </p:nvSpPr>
        <p:spPr>
          <a:xfrm>
            <a:off x="1761592" y="5797296"/>
            <a:ext cx="1005840" cy="292608"/>
          </a:xfrm>
          <a:prstGeom prst="rect">
            <a:avLst/>
          </a:prstGeom>
          <a:noFill/>
          <a:ln/>
        </p:spPr>
        <p:txBody>
          <a:bodyPr wrap="square" rtlCol="0" anchor="ctr"/>
          <a:lstStyle/>
          <a:p>
            <a:pPr marL="0" indent="0">
              <a:buNone/>
            </a:pPr>
            <a:r>
              <a:rPr lang="en-US" sz="1050" dirty="0">
                <a:solidFill>
                  <a:srgbClr val="1A1E38"/>
                </a:solidFill>
                <a:latin typeface="Segoe UI" pitchFamily="34" charset="0"/>
                <a:ea typeface="Segoe UI" pitchFamily="34" charset="-122"/>
                <a:cs typeface="Segoe UI" pitchFamily="34" charset="-120"/>
              </a:rPr>
              <a:t>Critical</a:t>
            </a:r>
            <a:endParaRPr lang="en-US" sz="1050" dirty="0"/>
          </a:p>
        </p:txBody>
      </p:sp>
      <p:sp>
        <p:nvSpPr>
          <p:cNvPr id="63" name="Shape 61"/>
          <p:cNvSpPr/>
          <p:nvPr/>
        </p:nvSpPr>
        <p:spPr>
          <a:xfrm>
            <a:off x="2776576" y="5870448"/>
            <a:ext cx="164592" cy="164592"/>
          </a:xfrm>
          <a:prstGeom prst="roundRect">
            <a:avLst>
              <a:gd name="adj" fmla="val 16667"/>
            </a:avLst>
          </a:prstGeom>
          <a:solidFill>
            <a:srgbClr val="F4B740"/>
          </a:solidFill>
          <a:ln/>
        </p:spPr>
        <p:txBody>
          <a:bodyPr/>
          <a:lstStyle/>
          <a:p>
            <a:endParaRPr lang="en-IN"/>
          </a:p>
        </p:txBody>
      </p:sp>
      <p:sp>
        <p:nvSpPr>
          <p:cNvPr id="64" name="Text 62"/>
          <p:cNvSpPr/>
          <p:nvPr/>
        </p:nvSpPr>
        <p:spPr>
          <a:xfrm>
            <a:off x="2996032" y="5797296"/>
            <a:ext cx="1005840" cy="292608"/>
          </a:xfrm>
          <a:prstGeom prst="rect">
            <a:avLst/>
          </a:prstGeom>
          <a:noFill/>
          <a:ln/>
        </p:spPr>
        <p:txBody>
          <a:bodyPr wrap="square" rtlCol="0" anchor="ctr"/>
          <a:lstStyle/>
          <a:p>
            <a:pPr marL="0" indent="0">
              <a:buNone/>
            </a:pPr>
            <a:r>
              <a:rPr lang="en-US" sz="1050" dirty="0">
                <a:solidFill>
                  <a:srgbClr val="1A1E38"/>
                </a:solidFill>
                <a:latin typeface="Segoe UI" pitchFamily="34" charset="0"/>
                <a:ea typeface="Segoe UI" pitchFamily="34" charset="-122"/>
                <a:cs typeface="Segoe UI" pitchFamily="34" charset="-120"/>
              </a:rPr>
              <a:t>High</a:t>
            </a:r>
            <a:endParaRPr lang="en-US" sz="1050" dirty="0"/>
          </a:p>
        </p:txBody>
      </p:sp>
      <p:sp>
        <p:nvSpPr>
          <p:cNvPr id="65" name="Shape 63"/>
          <p:cNvSpPr/>
          <p:nvPr/>
        </p:nvSpPr>
        <p:spPr>
          <a:xfrm>
            <a:off x="4011016" y="5870448"/>
            <a:ext cx="164592" cy="164592"/>
          </a:xfrm>
          <a:prstGeom prst="roundRect">
            <a:avLst>
              <a:gd name="adj" fmla="val 16667"/>
            </a:avLst>
          </a:prstGeom>
          <a:solidFill>
            <a:srgbClr val="5B79C4"/>
          </a:solidFill>
          <a:ln/>
        </p:spPr>
        <p:txBody>
          <a:bodyPr/>
          <a:lstStyle/>
          <a:p>
            <a:endParaRPr lang="en-IN"/>
          </a:p>
        </p:txBody>
      </p:sp>
      <p:sp>
        <p:nvSpPr>
          <p:cNvPr id="66" name="Text 64"/>
          <p:cNvSpPr/>
          <p:nvPr/>
        </p:nvSpPr>
        <p:spPr>
          <a:xfrm>
            <a:off x="4230472" y="5797296"/>
            <a:ext cx="1005840" cy="292608"/>
          </a:xfrm>
          <a:prstGeom prst="rect">
            <a:avLst/>
          </a:prstGeom>
          <a:noFill/>
          <a:ln/>
        </p:spPr>
        <p:txBody>
          <a:bodyPr wrap="square" rtlCol="0" anchor="ctr"/>
          <a:lstStyle/>
          <a:p>
            <a:pPr marL="0" indent="0">
              <a:buNone/>
            </a:pPr>
            <a:r>
              <a:rPr lang="en-US" sz="1050" dirty="0">
                <a:solidFill>
                  <a:srgbClr val="1A1E38"/>
                </a:solidFill>
                <a:latin typeface="Segoe UI" pitchFamily="34" charset="0"/>
                <a:ea typeface="Segoe UI" pitchFamily="34" charset="-122"/>
                <a:cs typeface="Segoe UI" pitchFamily="34" charset="-120"/>
              </a:rPr>
              <a:t>Medium</a:t>
            </a:r>
            <a:endParaRPr lang="en-US" sz="1050" dirty="0"/>
          </a:p>
        </p:txBody>
      </p:sp>
      <p:sp>
        <p:nvSpPr>
          <p:cNvPr id="67" name="Shape 65"/>
          <p:cNvSpPr/>
          <p:nvPr/>
        </p:nvSpPr>
        <p:spPr>
          <a:xfrm>
            <a:off x="5245456" y="5870448"/>
            <a:ext cx="164592" cy="164592"/>
          </a:xfrm>
          <a:prstGeom prst="roundRect">
            <a:avLst>
              <a:gd name="adj" fmla="val 16667"/>
            </a:avLst>
          </a:prstGeom>
          <a:solidFill>
            <a:srgbClr val="9AA6C4"/>
          </a:solidFill>
          <a:ln/>
        </p:spPr>
        <p:txBody>
          <a:bodyPr/>
          <a:lstStyle/>
          <a:p>
            <a:endParaRPr lang="en-IN"/>
          </a:p>
        </p:txBody>
      </p:sp>
      <p:sp>
        <p:nvSpPr>
          <p:cNvPr id="68" name="Text 66"/>
          <p:cNvSpPr/>
          <p:nvPr/>
        </p:nvSpPr>
        <p:spPr>
          <a:xfrm>
            <a:off x="5464912" y="5797296"/>
            <a:ext cx="1005840" cy="292608"/>
          </a:xfrm>
          <a:prstGeom prst="rect">
            <a:avLst/>
          </a:prstGeom>
          <a:noFill/>
          <a:ln/>
        </p:spPr>
        <p:txBody>
          <a:bodyPr wrap="square" rtlCol="0" anchor="ctr"/>
          <a:lstStyle/>
          <a:p>
            <a:pPr marL="0" indent="0">
              <a:buNone/>
            </a:pPr>
            <a:r>
              <a:rPr lang="en-US" sz="1050" dirty="0">
                <a:solidFill>
                  <a:srgbClr val="1A1E38"/>
                </a:solidFill>
                <a:latin typeface="Segoe UI" pitchFamily="34" charset="0"/>
                <a:ea typeface="Segoe UI" pitchFamily="34" charset="-122"/>
                <a:cs typeface="Segoe UI" pitchFamily="34" charset="-120"/>
              </a:rPr>
              <a:t>Low</a:t>
            </a:r>
            <a:endParaRPr lang="en-US" sz="10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4F6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1E2761"/>
          </a:solidFill>
          <a:ln/>
        </p:spPr>
        <p:txBody>
          <a:bodyPr/>
          <a:lstStyle/>
          <a:p>
            <a:endParaRPr lang="en-IN"/>
          </a:p>
        </p:txBody>
      </p:sp>
      <p:sp>
        <p:nvSpPr>
          <p:cNvPr id="3" name="Text 1"/>
          <p:cNvSpPr/>
          <p:nvPr/>
        </p:nvSpPr>
        <p:spPr>
          <a:xfrm>
            <a:off x="640080" y="457200"/>
            <a:ext cx="10058400" cy="274320"/>
          </a:xfrm>
          <a:prstGeom prst="rect">
            <a:avLst/>
          </a:prstGeom>
          <a:noFill/>
          <a:ln/>
        </p:spPr>
        <p:txBody>
          <a:bodyPr wrap="square" rtlCol="0" anchor="ctr"/>
          <a:lstStyle/>
          <a:p>
            <a:pPr marL="0" indent="0">
              <a:buNone/>
            </a:pPr>
            <a:r>
              <a:rPr lang="en-US" sz="1200" b="1" kern="0" spc="300" dirty="0">
                <a:solidFill>
                  <a:srgbClr val="F4B740"/>
                </a:solidFill>
                <a:latin typeface="Segoe UI Semibold" pitchFamily="34" charset="0"/>
                <a:ea typeface="Segoe UI Semibold" pitchFamily="34" charset="-122"/>
                <a:cs typeface="Segoe UI Semibold" pitchFamily="34" charset="-120"/>
              </a:rPr>
              <a:t>EVALUATION DATASET</a:t>
            </a:r>
            <a:endParaRPr lang="en-US" sz="1200" dirty="0"/>
          </a:p>
        </p:txBody>
      </p:sp>
      <p:sp>
        <p:nvSpPr>
          <p:cNvPr id="4" name="Text 2"/>
          <p:cNvSpPr/>
          <p:nvPr/>
        </p:nvSpPr>
        <p:spPr>
          <a:xfrm>
            <a:off x="640080" y="731520"/>
            <a:ext cx="10881360" cy="640080"/>
          </a:xfrm>
          <a:prstGeom prst="rect">
            <a:avLst/>
          </a:prstGeom>
          <a:noFill/>
          <a:ln/>
        </p:spPr>
        <p:txBody>
          <a:bodyPr wrap="square" rtlCol="0" anchor="ctr"/>
          <a:lstStyle/>
          <a:p>
            <a:pPr marL="0" indent="0">
              <a:buNone/>
            </a:pPr>
            <a:r>
              <a:rPr lang="en-US" sz="3000" b="1" dirty="0">
                <a:solidFill>
                  <a:srgbClr val="1E2761"/>
                </a:solidFill>
                <a:latin typeface="Segoe UI Light" pitchFamily="34" charset="0"/>
                <a:ea typeface="Segoe UI Light" pitchFamily="34" charset="-122"/>
                <a:cs typeface="Segoe UI Light" pitchFamily="34" charset="-120"/>
              </a:rPr>
              <a:t>The evidence base for every metric</a:t>
            </a:r>
            <a:endParaRPr lang="en-US" sz="3000" dirty="0"/>
          </a:p>
        </p:txBody>
      </p:sp>
      <p:sp>
        <p:nvSpPr>
          <p:cNvPr id="5" name="Shape 3"/>
          <p:cNvSpPr/>
          <p:nvPr/>
        </p:nvSpPr>
        <p:spPr>
          <a:xfrm>
            <a:off x="658368" y="1417320"/>
            <a:ext cx="1005840" cy="0"/>
          </a:xfrm>
          <a:prstGeom prst="line">
            <a:avLst/>
          </a:prstGeom>
          <a:noFill/>
          <a:ln w="31750">
            <a:solidFill>
              <a:srgbClr val="F4B740"/>
            </a:solidFill>
            <a:prstDash val="solid"/>
          </a:ln>
        </p:spPr>
        <p:txBody>
          <a:bodyPr/>
          <a:lstStyle/>
          <a:p>
            <a:endParaRPr lang="en-IN"/>
          </a:p>
        </p:txBody>
      </p:sp>
      <p:sp>
        <p:nvSpPr>
          <p:cNvPr id="6" name="Text 4"/>
          <p:cNvSpPr/>
          <p:nvPr/>
        </p:nvSpPr>
        <p:spPr>
          <a:xfrm>
            <a:off x="11338560" y="6309360"/>
            <a:ext cx="548640" cy="274320"/>
          </a:xfrm>
          <a:prstGeom prst="rect">
            <a:avLst/>
          </a:prstGeom>
          <a:noFill/>
          <a:ln/>
        </p:spPr>
        <p:txBody>
          <a:bodyPr wrap="square" rtlCol="0" anchor="ctr"/>
          <a:lstStyle/>
          <a:p>
            <a:pPr marL="0" indent="0" algn="r">
              <a:buNone/>
            </a:pPr>
            <a:r>
              <a:rPr lang="en-US" sz="1100" dirty="0">
                <a:solidFill>
                  <a:srgbClr val="5B6488"/>
                </a:solidFill>
                <a:latin typeface="Segoe UI Semibold" pitchFamily="34" charset="0"/>
                <a:ea typeface="Segoe UI Semibold" pitchFamily="34" charset="-122"/>
                <a:cs typeface="Segoe UI Semibold" pitchFamily="34" charset="-120"/>
              </a:rPr>
              <a:t>07</a:t>
            </a:r>
            <a:endParaRPr lang="en-US" sz="1100" dirty="0"/>
          </a:p>
        </p:txBody>
      </p:sp>
      <p:sp>
        <p:nvSpPr>
          <p:cNvPr id="7" name="Text 5"/>
          <p:cNvSpPr/>
          <p:nvPr/>
        </p:nvSpPr>
        <p:spPr>
          <a:xfrm>
            <a:off x="640080" y="6309360"/>
            <a:ext cx="5486400" cy="274320"/>
          </a:xfrm>
          <a:prstGeom prst="rect">
            <a:avLst/>
          </a:prstGeom>
          <a:noFill/>
          <a:ln/>
        </p:spPr>
        <p:txBody>
          <a:bodyPr wrap="square" rtlCol="0" anchor="ctr"/>
          <a:lstStyle/>
          <a:p>
            <a:pPr marL="0" indent="0">
              <a:buNone/>
            </a:pPr>
            <a:r>
              <a:rPr lang="en-US" sz="900" dirty="0">
                <a:solidFill>
                  <a:srgbClr val="5B6488"/>
                </a:solidFill>
                <a:latin typeface="Segoe UI" pitchFamily="34" charset="0"/>
                <a:ea typeface="Segoe UI" pitchFamily="34" charset="-122"/>
                <a:cs typeface="Segoe UI" pitchFamily="34" charset="-120"/>
              </a:rPr>
              <a:t>AI Quality Evaluation Framework</a:t>
            </a:r>
            <a:endParaRPr lang="en-US" sz="900" dirty="0"/>
          </a:p>
        </p:txBody>
      </p:sp>
      <p:sp>
        <p:nvSpPr>
          <p:cNvPr id="8" name="Shape 6"/>
          <p:cNvSpPr/>
          <p:nvPr/>
        </p:nvSpPr>
        <p:spPr>
          <a:xfrm>
            <a:off x="640080" y="1828800"/>
            <a:ext cx="3931920" cy="3657600"/>
          </a:xfrm>
          <a:prstGeom prst="roundRect">
            <a:avLst>
              <a:gd name="adj" fmla="val 2250"/>
            </a:avLst>
          </a:prstGeom>
          <a:solidFill>
            <a:srgbClr val="1E2761"/>
          </a:solidFill>
          <a:ln/>
        </p:spPr>
        <p:txBody>
          <a:bodyPr/>
          <a:lstStyle/>
          <a:p>
            <a:endParaRPr lang="en-IN"/>
          </a:p>
        </p:txBody>
      </p:sp>
      <p:sp>
        <p:nvSpPr>
          <p:cNvPr id="9" name="Shape 7"/>
          <p:cNvSpPr/>
          <p:nvPr/>
        </p:nvSpPr>
        <p:spPr>
          <a:xfrm>
            <a:off x="3108960" y="-365760"/>
            <a:ext cx="2743200" cy="2743200"/>
          </a:xfrm>
          <a:prstGeom prst="ellipse">
            <a:avLst/>
          </a:prstGeom>
          <a:noFill/>
          <a:ln w="15240">
            <a:solidFill>
              <a:srgbClr val="2A3576"/>
            </a:solidFill>
            <a:prstDash val="solid"/>
          </a:ln>
        </p:spPr>
        <p:txBody>
          <a:bodyPr/>
          <a:lstStyle/>
          <a:p>
            <a:endParaRPr lang="en-IN"/>
          </a:p>
        </p:txBody>
      </p:sp>
      <p:sp>
        <p:nvSpPr>
          <p:cNvPr id="10" name="Text 8"/>
          <p:cNvSpPr/>
          <p:nvPr/>
        </p:nvSpPr>
        <p:spPr>
          <a:xfrm>
            <a:off x="640080" y="2468880"/>
            <a:ext cx="3931920" cy="1188720"/>
          </a:xfrm>
          <a:prstGeom prst="rect">
            <a:avLst/>
          </a:prstGeom>
          <a:noFill/>
          <a:ln/>
        </p:spPr>
        <p:txBody>
          <a:bodyPr wrap="square" rtlCol="0" anchor="ctr"/>
          <a:lstStyle/>
          <a:p>
            <a:pPr marL="0" indent="0" algn="ctr">
              <a:buNone/>
            </a:pPr>
            <a:r>
              <a:rPr lang="en-US" sz="8800" b="1" dirty="0">
                <a:solidFill>
                  <a:srgbClr val="FFFFFF"/>
                </a:solidFill>
                <a:latin typeface="Segoe UI Light" pitchFamily="34" charset="0"/>
                <a:ea typeface="Segoe UI Light" pitchFamily="34" charset="-122"/>
                <a:cs typeface="Segoe UI Light" pitchFamily="34" charset="-120"/>
              </a:rPr>
              <a:t>100</a:t>
            </a:r>
            <a:endParaRPr lang="en-US" sz="8800" dirty="0"/>
          </a:p>
        </p:txBody>
      </p:sp>
      <p:sp>
        <p:nvSpPr>
          <p:cNvPr id="11" name="Text 9"/>
          <p:cNvSpPr/>
          <p:nvPr/>
        </p:nvSpPr>
        <p:spPr>
          <a:xfrm>
            <a:off x="640080" y="3657600"/>
            <a:ext cx="3931920" cy="365760"/>
          </a:xfrm>
          <a:prstGeom prst="rect">
            <a:avLst/>
          </a:prstGeom>
          <a:noFill/>
          <a:ln/>
        </p:spPr>
        <p:txBody>
          <a:bodyPr wrap="square" rtlCol="0" anchor="ctr"/>
          <a:lstStyle/>
          <a:p>
            <a:pPr marL="0" indent="0" algn="ctr">
              <a:buNone/>
            </a:pPr>
            <a:r>
              <a:rPr lang="en-US" sz="1400" b="1" kern="0" spc="200" dirty="0">
                <a:solidFill>
                  <a:srgbClr val="F4B740"/>
                </a:solidFill>
                <a:latin typeface="Segoe UI Semibold" pitchFamily="34" charset="0"/>
                <a:ea typeface="Segoe UI Semibold" pitchFamily="34" charset="-122"/>
                <a:cs typeface="Segoe UI Semibold" pitchFamily="34" charset="-120"/>
              </a:rPr>
              <a:t>EVALUATION RECORDS</a:t>
            </a:r>
            <a:endParaRPr lang="en-US" sz="1400" dirty="0"/>
          </a:p>
        </p:txBody>
      </p:sp>
      <p:sp>
        <p:nvSpPr>
          <p:cNvPr id="12" name="Text 10"/>
          <p:cNvSpPr/>
          <p:nvPr/>
        </p:nvSpPr>
        <p:spPr>
          <a:xfrm>
            <a:off x="914400" y="4160520"/>
            <a:ext cx="3383280" cy="731520"/>
          </a:xfrm>
          <a:prstGeom prst="rect">
            <a:avLst/>
          </a:prstGeom>
          <a:noFill/>
          <a:ln/>
        </p:spPr>
        <p:txBody>
          <a:bodyPr wrap="square" rtlCol="0" anchor="ctr"/>
          <a:lstStyle/>
          <a:p>
            <a:pPr marL="0" indent="0" algn="ctr">
              <a:lnSpc>
                <a:spcPct val="115000"/>
              </a:lnSpc>
              <a:buNone/>
            </a:pPr>
            <a:r>
              <a:rPr lang="en-US" sz="1250" dirty="0">
                <a:solidFill>
                  <a:srgbClr val="CADCFC"/>
                </a:solidFill>
                <a:latin typeface="Segoe UI" pitchFamily="34" charset="0"/>
                <a:ea typeface="Segoe UI" pitchFamily="34" charset="-122"/>
                <a:cs typeface="Segoe UI" pitchFamily="34" charset="-120"/>
              </a:rPr>
              <a:t>Each response independently scored, classified, and reviewer-attributed</a:t>
            </a:r>
            <a:endParaRPr lang="en-US" sz="1250" dirty="0"/>
          </a:p>
        </p:txBody>
      </p:sp>
      <p:sp>
        <p:nvSpPr>
          <p:cNvPr id="13" name="Shape 11"/>
          <p:cNvSpPr/>
          <p:nvPr/>
        </p:nvSpPr>
        <p:spPr>
          <a:xfrm>
            <a:off x="4846320" y="1828800"/>
            <a:ext cx="6675120" cy="1097280"/>
          </a:xfrm>
          <a:prstGeom prst="roundRect">
            <a:avLst>
              <a:gd name="adj" fmla="val 5000"/>
            </a:avLst>
          </a:prstGeom>
          <a:solidFill>
            <a:srgbClr val="FFFFFF"/>
          </a:solidFill>
          <a:ln w="12700">
            <a:solidFill>
              <a:srgbClr val="E2E7F5"/>
            </a:solidFill>
            <a:prstDash val="solid"/>
          </a:ln>
          <a:effectLst>
            <a:outerShdw blurRad="88900" dist="25400" dir="5400000" algn="bl" rotWithShape="0">
              <a:srgbClr val="C7CEE0">
                <a:alpha val="50000"/>
              </a:srgbClr>
            </a:outerShdw>
          </a:effectLst>
        </p:spPr>
        <p:txBody>
          <a:bodyPr/>
          <a:lstStyle/>
          <a:p>
            <a:endParaRPr lang="en-IN"/>
          </a:p>
        </p:txBody>
      </p:sp>
      <p:sp>
        <p:nvSpPr>
          <p:cNvPr id="14" name="Shape 12"/>
          <p:cNvSpPr/>
          <p:nvPr/>
        </p:nvSpPr>
        <p:spPr>
          <a:xfrm>
            <a:off x="5074920" y="2103120"/>
            <a:ext cx="548640" cy="548640"/>
          </a:xfrm>
          <a:prstGeom prst="roundRect">
            <a:avLst>
              <a:gd name="adj" fmla="val 13333"/>
            </a:avLst>
          </a:prstGeom>
          <a:solidFill>
            <a:srgbClr val="1E2761"/>
          </a:solidFill>
          <a:ln/>
          <a:effectLst>
            <a:outerShdw blurRad="76200" dist="25400" dir="5400000" algn="bl" rotWithShape="0">
              <a:srgbClr val="8892B0">
                <a:alpha val="30000"/>
              </a:srgbClr>
            </a:outerShdw>
          </a:effectLst>
        </p:spPr>
        <p:txBody>
          <a:bodyPr/>
          <a:lstStyle/>
          <a:p>
            <a:endParaRPr lang="en-IN"/>
          </a:p>
        </p:txBody>
      </p:sp>
      <p:pic>
        <p:nvPicPr>
          <p:cNvPr id="15" name="Image 0" descr="preencoded.png"/>
          <p:cNvPicPr>
            <a:picLocks noChangeAspect="1"/>
          </p:cNvPicPr>
          <p:nvPr/>
        </p:nvPicPr>
        <p:blipFill>
          <a:blip r:embed="rId3"/>
          <a:stretch>
            <a:fillRect/>
          </a:stretch>
        </p:blipFill>
        <p:spPr>
          <a:xfrm>
            <a:off x="5206594" y="2234794"/>
            <a:ext cx="285293" cy="285293"/>
          </a:xfrm>
          <a:prstGeom prst="rect">
            <a:avLst/>
          </a:prstGeom>
        </p:spPr>
      </p:pic>
      <p:sp>
        <p:nvSpPr>
          <p:cNvPr id="16" name="Text 13"/>
          <p:cNvSpPr/>
          <p:nvPr/>
        </p:nvSpPr>
        <p:spPr>
          <a:xfrm>
            <a:off x="5852160" y="2029968"/>
            <a:ext cx="5486400" cy="365760"/>
          </a:xfrm>
          <a:prstGeom prst="rect">
            <a:avLst/>
          </a:prstGeom>
          <a:noFill/>
          <a:ln/>
        </p:spPr>
        <p:txBody>
          <a:bodyPr wrap="square" rtlCol="0" anchor="ctr"/>
          <a:lstStyle/>
          <a:p>
            <a:pPr marL="0" indent="0">
              <a:buNone/>
            </a:pPr>
            <a:r>
              <a:rPr lang="en-US" sz="1500" b="1" dirty="0">
                <a:solidFill>
                  <a:srgbClr val="1E2761"/>
                </a:solidFill>
                <a:latin typeface="Segoe UI Semibold" pitchFamily="34" charset="0"/>
                <a:ea typeface="Segoe UI Semibold" pitchFamily="34" charset="-122"/>
                <a:cs typeface="Segoe UI Semibold" pitchFamily="34" charset="-120"/>
              </a:rPr>
              <a:t>Diverse prompt categories</a:t>
            </a:r>
            <a:endParaRPr lang="en-US" sz="1500" dirty="0"/>
          </a:p>
        </p:txBody>
      </p:sp>
      <p:sp>
        <p:nvSpPr>
          <p:cNvPr id="17" name="Text 14"/>
          <p:cNvSpPr/>
          <p:nvPr/>
        </p:nvSpPr>
        <p:spPr>
          <a:xfrm>
            <a:off x="5852160" y="2395728"/>
            <a:ext cx="5486400" cy="411480"/>
          </a:xfrm>
          <a:prstGeom prst="rect">
            <a:avLst/>
          </a:prstGeom>
          <a:noFill/>
          <a:ln/>
        </p:spPr>
        <p:txBody>
          <a:bodyPr wrap="square" rtlCol="0" anchor="ctr"/>
          <a:lstStyle/>
          <a:p>
            <a:pPr marL="0" indent="0">
              <a:buNone/>
            </a:pPr>
            <a:r>
              <a:rPr lang="en-US" sz="1250" dirty="0">
                <a:solidFill>
                  <a:srgbClr val="5B6488"/>
                </a:solidFill>
                <a:latin typeface="Segoe UI" pitchFamily="34" charset="0"/>
                <a:ea typeface="Segoe UI" pitchFamily="34" charset="-122"/>
                <a:cs typeface="Segoe UI" pitchFamily="34" charset="-120"/>
              </a:rPr>
              <a:t>Coverage across many domains and task types</a:t>
            </a:r>
            <a:endParaRPr lang="en-US" sz="1250" dirty="0"/>
          </a:p>
        </p:txBody>
      </p:sp>
      <p:sp>
        <p:nvSpPr>
          <p:cNvPr id="18" name="Shape 15"/>
          <p:cNvSpPr/>
          <p:nvPr/>
        </p:nvSpPr>
        <p:spPr>
          <a:xfrm>
            <a:off x="4846320" y="3108960"/>
            <a:ext cx="6675120" cy="1097280"/>
          </a:xfrm>
          <a:prstGeom prst="roundRect">
            <a:avLst>
              <a:gd name="adj" fmla="val 5000"/>
            </a:avLst>
          </a:prstGeom>
          <a:solidFill>
            <a:srgbClr val="FFFFFF"/>
          </a:solidFill>
          <a:ln w="12700">
            <a:solidFill>
              <a:srgbClr val="E2E7F5"/>
            </a:solidFill>
            <a:prstDash val="solid"/>
          </a:ln>
          <a:effectLst>
            <a:outerShdw blurRad="88900" dist="25400" dir="5400000" algn="bl" rotWithShape="0">
              <a:srgbClr val="C7CEE0">
                <a:alpha val="50000"/>
              </a:srgbClr>
            </a:outerShdw>
          </a:effectLst>
        </p:spPr>
        <p:txBody>
          <a:bodyPr/>
          <a:lstStyle/>
          <a:p>
            <a:endParaRPr lang="en-IN"/>
          </a:p>
        </p:txBody>
      </p:sp>
      <p:sp>
        <p:nvSpPr>
          <p:cNvPr id="19" name="Shape 16"/>
          <p:cNvSpPr/>
          <p:nvPr/>
        </p:nvSpPr>
        <p:spPr>
          <a:xfrm>
            <a:off x="5074920" y="3383280"/>
            <a:ext cx="548640" cy="548640"/>
          </a:xfrm>
          <a:prstGeom prst="roundRect">
            <a:avLst>
              <a:gd name="adj" fmla="val 13333"/>
            </a:avLst>
          </a:prstGeom>
          <a:solidFill>
            <a:srgbClr val="1E2761"/>
          </a:solidFill>
          <a:ln/>
          <a:effectLst>
            <a:outerShdw blurRad="76200" dist="25400" dir="5400000" algn="bl" rotWithShape="0">
              <a:srgbClr val="8892B0">
                <a:alpha val="30000"/>
              </a:srgbClr>
            </a:outerShdw>
          </a:effectLst>
        </p:spPr>
        <p:txBody>
          <a:bodyPr/>
          <a:lstStyle/>
          <a:p>
            <a:endParaRPr lang="en-IN"/>
          </a:p>
        </p:txBody>
      </p:sp>
      <p:pic>
        <p:nvPicPr>
          <p:cNvPr id="20" name="Image 1" descr="preencoded.png"/>
          <p:cNvPicPr>
            <a:picLocks noChangeAspect="1"/>
          </p:cNvPicPr>
          <p:nvPr/>
        </p:nvPicPr>
        <p:blipFill>
          <a:blip r:embed="rId4"/>
          <a:stretch>
            <a:fillRect/>
          </a:stretch>
        </p:blipFill>
        <p:spPr>
          <a:xfrm>
            <a:off x="5206594" y="3514954"/>
            <a:ext cx="285293" cy="285293"/>
          </a:xfrm>
          <a:prstGeom prst="rect">
            <a:avLst/>
          </a:prstGeom>
        </p:spPr>
      </p:pic>
      <p:sp>
        <p:nvSpPr>
          <p:cNvPr id="21" name="Text 17"/>
          <p:cNvSpPr/>
          <p:nvPr/>
        </p:nvSpPr>
        <p:spPr>
          <a:xfrm>
            <a:off x="5852160" y="3310128"/>
            <a:ext cx="5486400" cy="365760"/>
          </a:xfrm>
          <a:prstGeom prst="rect">
            <a:avLst/>
          </a:prstGeom>
          <a:noFill/>
          <a:ln/>
        </p:spPr>
        <p:txBody>
          <a:bodyPr wrap="square" rtlCol="0" anchor="ctr"/>
          <a:lstStyle/>
          <a:p>
            <a:pPr marL="0" indent="0">
              <a:buNone/>
            </a:pPr>
            <a:r>
              <a:rPr lang="en-US" sz="1500" b="1" dirty="0">
                <a:solidFill>
                  <a:srgbClr val="1E2761"/>
                </a:solidFill>
                <a:latin typeface="Segoe UI Semibold" pitchFamily="34" charset="0"/>
                <a:ea typeface="Segoe UI Semibold" pitchFamily="34" charset="-122"/>
                <a:cs typeface="Segoe UI Semibold" pitchFamily="34" charset="-120"/>
              </a:rPr>
              <a:t>Structured annotations</a:t>
            </a:r>
            <a:endParaRPr lang="en-US" sz="1500" dirty="0"/>
          </a:p>
        </p:txBody>
      </p:sp>
      <p:sp>
        <p:nvSpPr>
          <p:cNvPr id="22" name="Text 18"/>
          <p:cNvSpPr/>
          <p:nvPr/>
        </p:nvSpPr>
        <p:spPr>
          <a:xfrm>
            <a:off x="5852160" y="3675888"/>
            <a:ext cx="5486400" cy="411480"/>
          </a:xfrm>
          <a:prstGeom prst="rect">
            <a:avLst/>
          </a:prstGeom>
          <a:noFill/>
          <a:ln/>
        </p:spPr>
        <p:txBody>
          <a:bodyPr wrap="square" rtlCol="0" anchor="ctr"/>
          <a:lstStyle/>
          <a:p>
            <a:pPr marL="0" indent="0">
              <a:buNone/>
            </a:pPr>
            <a:r>
              <a:rPr lang="en-US" sz="1250" dirty="0">
                <a:solidFill>
                  <a:srgbClr val="5B6488"/>
                </a:solidFill>
                <a:latin typeface="Segoe UI" pitchFamily="34" charset="0"/>
                <a:ea typeface="Segoe UI" pitchFamily="34" charset="-122"/>
                <a:cs typeface="Segoe UI" pitchFamily="34" charset="-120"/>
              </a:rPr>
              <a:t>Category, severity, reviewer, and notes per record</a:t>
            </a:r>
            <a:endParaRPr lang="en-US" sz="1250" dirty="0"/>
          </a:p>
        </p:txBody>
      </p:sp>
      <p:sp>
        <p:nvSpPr>
          <p:cNvPr id="23" name="Shape 19"/>
          <p:cNvSpPr/>
          <p:nvPr/>
        </p:nvSpPr>
        <p:spPr>
          <a:xfrm>
            <a:off x="4846320" y="4389120"/>
            <a:ext cx="6675120" cy="1097280"/>
          </a:xfrm>
          <a:prstGeom prst="roundRect">
            <a:avLst>
              <a:gd name="adj" fmla="val 5000"/>
            </a:avLst>
          </a:prstGeom>
          <a:solidFill>
            <a:srgbClr val="FFFFFF"/>
          </a:solidFill>
          <a:ln w="12700">
            <a:solidFill>
              <a:srgbClr val="E2E7F5"/>
            </a:solidFill>
            <a:prstDash val="solid"/>
          </a:ln>
          <a:effectLst>
            <a:outerShdw blurRad="88900" dist="25400" dir="5400000" algn="bl" rotWithShape="0">
              <a:srgbClr val="C7CEE0">
                <a:alpha val="50000"/>
              </a:srgbClr>
            </a:outerShdw>
          </a:effectLst>
        </p:spPr>
        <p:txBody>
          <a:bodyPr/>
          <a:lstStyle/>
          <a:p>
            <a:endParaRPr lang="en-IN"/>
          </a:p>
        </p:txBody>
      </p:sp>
      <p:sp>
        <p:nvSpPr>
          <p:cNvPr id="24" name="Shape 20"/>
          <p:cNvSpPr/>
          <p:nvPr/>
        </p:nvSpPr>
        <p:spPr>
          <a:xfrm>
            <a:off x="5074920" y="4663440"/>
            <a:ext cx="548640" cy="548640"/>
          </a:xfrm>
          <a:prstGeom prst="roundRect">
            <a:avLst>
              <a:gd name="adj" fmla="val 13333"/>
            </a:avLst>
          </a:prstGeom>
          <a:solidFill>
            <a:srgbClr val="1E2761"/>
          </a:solidFill>
          <a:ln/>
          <a:effectLst>
            <a:outerShdw blurRad="76200" dist="25400" dir="5400000" algn="bl" rotWithShape="0">
              <a:srgbClr val="8892B0">
                <a:alpha val="30000"/>
              </a:srgbClr>
            </a:outerShdw>
          </a:effectLst>
        </p:spPr>
        <p:txBody>
          <a:bodyPr/>
          <a:lstStyle/>
          <a:p>
            <a:endParaRPr lang="en-IN"/>
          </a:p>
        </p:txBody>
      </p:sp>
      <p:pic>
        <p:nvPicPr>
          <p:cNvPr id="25" name="Image 2" descr="preencoded.png"/>
          <p:cNvPicPr>
            <a:picLocks noChangeAspect="1"/>
          </p:cNvPicPr>
          <p:nvPr/>
        </p:nvPicPr>
        <p:blipFill>
          <a:blip r:embed="rId5"/>
          <a:stretch>
            <a:fillRect/>
          </a:stretch>
        </p:blipFill>
        <p:spPr>
          <a:xfrm>
            <a:off x="5206594" y="4795114"/>
            <a:ext cx="285293" cy="285293"/>
          </a:xfrm>
          <a:prstGeom prst="rect">
            <a:avLst/>
          </a:prstGeom>
        </p:spPr>
      </p:pic>
      <p:sp>
        <p:nvSpPr>
          <p:cNvPr id="26" name="Text 21"/>
          <p:cNvSpPr/>
          <p:nvPr/>
        </p:nvSpPr>
        <p:spPr>
          <a:xfrm>
            <a:off x="5852160" y="4590288"/>
            <a:ext cx="5486400" cy="365760"/>
          </a:xfrm>
          <a:prstGeom prst="rect">
            <a:avLst/>
          </a:prstGeom>
          <a:noFill/>
          <a:ln/>
        </p:spPr>
        <p:txBody>
          <a:bodyPr wrap="square" rtlCol="0" anchor="ctr"/>
          <a:lstStyle/>
          <a:p>
            <a:pPr marL="0" indent="0">
              <a:buNone/>
            </a:pPr>
            <a:r>
              <a:rPr lang="en-US" sz="1500" b="1" dirty="0">
                <a:solidFill>
                  <a:srgbClr val="1E2761"/>
                </a:solidFill>
                <a:latin typeface="Segoe UI Semibold" pitchFamily="34" charset="0"/>
                <a:ea typeface="Segoe UI Semibold" pitchFamily="34" charset="-122"/>
                <a:cs typeface="Segoe UI Semibold" pitchFamily="34" charset="-120"/>
              </a:rPr>
              <a:t>Quality validation</a:t>
            </a:r>
            <a:endParaRPr lang="en-US" sz="1500" dirty="0"/>
          </a:p>
        </p:txBody>
      </p:sp>
      <p:sp>
        <p:nvSpPr>
          <p:cNvPr id="27" name="Text 22"/>
          <p:cNvSpPr/>
          <p:nvPr/>
        </p:nvSpPr>
        <p:spPr>
          <a:xfrm>
            <a:off x="5852160" y="4956048"/>
            <a:ext cx="5486400" cy="411480"/>
          </a:xfrm>
          <a:prstGeom prst="rect">
            <a:avLst/>
          </a:prstGeom>
          <a:noFill/>
          <a:ln/>
        </p:spPr>
        <p:txBody>
          <a:bodyPr wrap="square" rtlCol="0" anchor="ctr"/>
          <a:lstStyle/>
          <a:p>
            <a:pPr marL="0" indent="0">
              <a:buNone/>
            </a:pPr>
            <a:r>
              <a:rPr lang="en-US" sz="1250" dirty="0">
                <a:solidFill>
                  <a:srgbClr val="5B6488"/>
                </a:solidFill>
                <a:latin typeface="Segoe UI" pitchFamily="34" charset="0"/>
                <a:ea typeface="Segoe UI" pitchFamily="34" charset="-122"/>
                <a:cs typeface="Segoe UI" pitchFamily="34" charset="-120"/>
              </a:rPr>
              <a:t>Every record checked for scoring consistency</a:t>
            </a:r>
            <a:endParaRPr lang="en-US" sz="12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4F6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1E2761"/>
          </a:solidFill>
          <a:ln/>
        </p:spPr>
        <p:txBody>
          <a:bodyPr/>
          <a:lstStyle/>
          <a:p>
            <a:endParaRPr lang="en-IN"/>
          </a:p>
        </p:txBody>
      </p:sp>
      <p:sp>
        <p:nvSpPr>
          <p:cNvPr id="3" name="Text 1"/>
          <p:cNvSpPr/>
          <p:nvPr/>
        </p:nvSpPr>
        <p:spPr>
          <a:xfrm>
            <a:off x="640080" y="457200"/>
            <a:ext cx="10058400" cy="274320"/>
          </a:xfrm>
          <a:prstGeom prst="rect">
            <a:avLst/>
          </a:prstGeom>
          <a:noFill/>
          <a:ln/>
        </p:spPr>
        <p:txBody>
          <a:bodyPr wrap="square" rtlCol="0" anchor="ctr"/>
          <a:lstStyle/>
          <a:p>
            <a:pPr marL="0" indent="0">
              <a:buNone/>
            </a:pPr>
            <a:r>
              <a:rPr lang="en-US" sz="1200" b="1" kern="0" spc="300" dirty="0">
                <a:solidFill>
                  <a:srgbClr val="F4B740"/>
                </a:solidFill>
                <a:latin typeface="Segoe UI Semibold" pitchFamily="34" charset="0"/>
                <a:ea typeface="Segoe UI Semibold" pitchFamily="34" charset="-122"/>
                <a:cs typeface="Segoe UI Semibold" pitchFamily="34" charset="-120"/>
              </a:rPr>
              <a:t>RLHF SIMULATION</a:t>
            </a:r>
            <a:endParaRPr lang="en-US" sz="1200" dirty="0"/>
          </a:p>
        </p:txBody>
      </p:sp>
      <p:sp>
        <p:nvSpPr>
          <p:cNvPr id="4" name="Text 2"/>
          <p:cNvSpPr/>
          <p:nvPr/>
        </p:nvSpPr>
        <p:spPr>
          <a:xfrm>
            <a:off x="640080" y="731520"/>
            <a:ext cx="10881360" cy="640080"/>
          </a:xfrm>
          <a:prstGeom prst="rect">
            <a:avLst/>
          </a:prstGeom>
          <a:noFill/>
          <a:ln/>
        </p:spPr>
        <p:txBody>
          <a:bodyPr wrap="square" rtlCol="0" anchor="ctr"/>
          <a:lstStyle/>
          <a:p>
            <a:pPr marL="0" indent="0">
              <a:buNone/>
            </a:pPr>
            <a:r>
              <a:rPr lang="en-US" sz="3000" b="1" dirty="0">
                <a:solidFill>
                  <a:srgbClr val="1E2761"/>
                </a:solidFill>
                <a:latin typeface="Segoe UI Light" pitchFamily="34" charset="0"/>
                <a:ea typeface="Segoe UI Light" pitchFamily="34" charset="-122"/>
                <a:cs typeface="Segoe UI Light" pitchFamily="34" charset="-120"/>
              </a:rPr>
              <a:t>Structured human preference evaluation</a:t>
            </a:r>
            <a:endParaRPr lang="en-US" sz="3000" dirty="0"/>
          </a:p>
        </p:txBody>
      </p:sp>
      <p:sp>
        <p:nvSpPr>
          <p:cNvPr id="5" name="Shape 3"/>
          <p:cNvSpPr/>
          <p:nvPr/>
        </p:nvSpPr>
        <p:spPr>
          <a:xfrm>
            <a:off x="658368" y="1417320"/>
            <a:ext cx="1005840" cy="0"/>
          </a:xfrm>
          <a:prstGeom prst="line">
            <a:avLst/>
          </a:prstGeom>
          <a:noFill/>
          <a:ln w="31750">
            <a:solidFill>
              <a:srgbClr val="F4B740"/>
            </a:solidFill>
            <a:prstDash val="solid"/>
          </a:ln>
        </p:spPr>
        <p:txBody>
          <a:bodyPr/>
          <a:lstStyle/>
          <a:p>
            <a:endParaRPr lang="en-IN"/>
          </a:p>
        </p:txBody>
      </p:sp>
      <p:sp>
        <p:nvSpPr>
          <p:cNvPr id="6" name="Text 4"/>
          <p:cNvSpPr/>
          <p:nvPr/>
        </p:nvSpPr>
        <p:spPr>
          <a:xfrm>
            <a:off x="11338560" y="6309360"/>
            <a:ext cx="548640" cy="274320"/>
          </a:xfrm>
          <a:prstGeom prst="rect">
            <a:avLst/>
          </a:prstGeom>
          <a:noFill/>
          <a:ln/>
        </p:spPr>
        <p:txBody>
          <a:bodyPr wrap="square" rtlCol="0" anchor="ctr"/>
          <a:lstStyle/>
          <a:p>
            <a:pPr marL="0" indent="0" algn="r">
              <a:buNone/>
            </a:pPr>
            <a:r>
              <a:rPr lang="en-US" sz="1100" dirty="0">
                <a:solidFill>
                  <a:srgbClr val="5B6488"/>
                </a:solidFill>
                <a:latin typeface="Segoe UI Semibold" pitchFamily="34" charset="0"/>
                <a:ea typeface="Segoe UI Semibold" pitchFamily="34" charset="-122"/>
                <a:cs typeface="Segoe UI Semibold" pitchFamily="34" charset="-120"/>
              </a:rPr>
              <a:t>08</a:t>
            </a:r>
            <a:endParaRPr lang="en-US" sz="1100" dirty="0"/>
          </a:p>
        </p:txBody>
      </p:sp>
      <p:sp>
        <p:nvSpPr>
          <p:cNvPr id="7" name="Text 5"/>
          <p:cNvSpPr/>
          <p:nvPr/>
        </p:nvSpPr>
        <p:spPr>
          <a:xfrm>
            <a:off x="640080" y="6309360"/>
            <a:ext cx="5486400" cy="274320"/>
          </a:xfrm>
          <a:prstGeom prst="rect">
            <a:avLst/>
          </a:prstGeom>
          <a:noFill/>
          <a:ln/>
        </p:spPr>
        <p:txBody>
          <a:bodyPr wrap="square" rtlCol="0" anchor="ctr"/>
          <a:lstStyle/>
          <a:p>
            <a:pPr marL="0" indent="0">
              <a:buNone/>
            </a:pPr>
            <a:r>
              <a:rPr lang="en-US" sz="900" dirty="0">
                <a:solidFill>
                  <a:srgbClr val="5B6488"/>
                </a:solidFill>
                <a:latin typeface="Segoe UI" pitchFamily="34" charset="0"/>
                <a:ea typeface="Segoe UI" pitchFamily="34" charset="-122"/>
                <a:cs typeface="Segoe UI" pitchFamily="34" charset="-120"/>
              </a:rPr>
              <a:t>AI Quality Evaluation Framework</a:t>
            </a:r>
            <a:endParaRPr lang="en-US" sz="900" dirty="0"/>
          </a:p>
        </p:txBody>
      </p:sp>
      <p:sp>
        <p:nvSpPr>
          <p:cNvPr id="8" name="Shape 6"/>
          <p:cNvSpPr/>
          <p:nvPr/>
        </p:nvSpPr>
        <p:spPr>
          <a:xfrm>
            <a:off x="640080" y="1828800"/>
            <a:ext cx="3931920" cy="3657600"/>
          </a:xfrm>
          <a:prstGeom prst="roundRect">
            <a:avLst>
              <a:gd name="adj" fmla="val 2250"/>
            </a:avLst>
          </a:prstGeom>
          <a:solidFill>
            <a:srgbClr val="1E2761"/>
          </a:solidFill>
          <a:ln/>
        </p:spPr>
        <p:txBody>
          <a:bodyPr/>
          <a:lstStyle/>
          <a:p>
            <a:endParaRPr lang="en-IN"/>
          </a:p>
        </p:txBody>
      </p:sp>
      <p:sp>
        <p:nvSpPr>
          <p:cNvPr id="9" name="Text 7"/>
          <p:cNvSpPr/>
          <p:nvPr/>
        </p:nvSpPr>
        <p:spPr>
          <a:xfrm>
            <a:off x="640080" y="2468880"/>
            <a:ext cx="3931920" cy="1188720"/>
          </a:xfrm>
          <a:prstGeom prst="rect">
            <a:avLst/>
          </a:prstGeom>
          <a:noFill/>
          <a:ln/>
        </p:spPr>
        <p:txBody>
          <a:bodyPr wrap="square" rtlCol="0" anchor="ctr"/>
          <a:lstStyle/>
          <a:p>
            <a:pPr marL="0" indent="0" algn="ctr">
              <a:buNone/>
            </a:pPr>
            <a:r>
              <a:rPr lang="en-US" sz="8800" b="1" dirty="0">
                <a:solidFill>
                  <a:srgbClr val="FFFFFF"/>
                </a:solidFill>
                <a:latin typeface="Segoe UI Light" pitchFamily="34" charset="0"/>
                <a:ea typeface="Segoe UI Light" pitchFamily="34" charset="-122"/>
                <a:cs typeface="Segoe UI Light" pitchFamily="34" charset="-120"/>
              </a:rPr>
              <a:t>25</a:t>
            </a:r>
            <a:endParaRPr lang="en-US" sz="8800" dirty="0"/>
          </a:p>
        </p:txBody>
      </p:sp>
      <p:sp>
        <p:nvSpPr>
          <p:cNvPr id="10" name="Text 8"/>
          <p:cNvSpPr/>
          <p:nvPr/>
        </p:nvSpPr>
        <p:spPr>
          <a:xfrm>
            <a:off x="640080" y="3657600"/>
            <a:ext cx="3931920" cy="365760"/>
          </a:xfrm>
          <a:prstGeom prst="rect">
            <a:avLst/>
          </a:prstGeom>
          <a:noFill/>
          <a:ln/>
        </p:spPr>
        <p:txBody>
          <a:bodyPr wrap="square" rtlCol="0" anchor="ctr"/>
          <a:lstStyle/>
          <a:p>
            <a:pPr marL="0" indent="0" algn="ctr">
              <a:buNone/>
            </a:pPr>
            <a:r>
              <a:rPr lang="en-US" sz="1400" b="1" kern="0" spc="200" dirty="0">
                <a:solidFill>
                  <a:srgbClr val="F4B740"/>
                </a:solidFill>
                <a:latin typeface="Segoe UI Semibold" pitchFamily="34" charset="0"/>
                <a:ea typeface="Segoe UI Semibold" pitchFamily="34" charset="-122"/>
                <a:cs typeface="Segoe UI Semibold" pitchFamily="34" charset="-120"/>
              </a:rPr>
              <a:t>PREFERENCE SCENARIOS</a:t>
            </a:r>
            <a:endParaRPr lang="en-US" sz="1400" dirty="0"/>
          </a:p>
        </p:txBody>
      </p:sp>
      <p:sp>
        <p:nvSpPr>
          <p:cNvPr id="11" name="Text 9"/>
          <p:cNvSpPr/>
          <p:nvPr/>
        </p:nvSpPr>
        <p:spPr>
          <a:xfrm>
            <a:off x="914400" y="4160520"/>
            <a:ext cx="3383280" cy="731520"/>
          </a:xfrm>
          <a:prstGeom prst="rect">
            <a:avLst/>
          </a:prstGeom>
          <a:noFill/>
          <a:ln/>
        </p:spPr>
        <p:txBody>
          <a:bodyPr wrap="square" rtlCol="0" anchor="ctr"/>
          <a:lstStyle/>
          <a:p>
            <a:pPr marL="0" indent="0" algn="ctr">
              <a:lnSpc>
                <a:spcPct val="115000"/>
              </a:lnSpc>
              <a:buNone/>
            </a:pPr>
            <a:r>
              <a:rPr lang="en-US" sz="1250" dirty="0">
                <a:solidFill>
                  <a:srgbClr val="CADCFC"/>
                </a:solidFill>
                <a:latin typeface="Segoe UI" pitchFamily="34" charset="0"/>
                <a:ea typeface="Segoe UI" pitchFamily="34" charset="-122"/>
                <a:cs typeface="Segoe UI" pitchFamily="34" charset="-120"/>
              </a:rPr>
              <a:t>Traceable to the master evaluation dataset</a:t>
            </a:r>
            <a:endParaRPr lang="en-US" sz="1250" dirty="0"/>
          </a:p>
        </p:txBody>
      </p:sp>
      <p:sp>
        <p:nvSpPr>
          <p:cNvPr id="12" name="Shape 10"/>
          <p:cNvSpPr/>
          <p:nvPr/>
        </p:nvSpPr>
        <p:spPr>
          <a:xfrm>
            <a:off x="4846320" y="1828800"/>
            <a:ext cx="6675120" cy="1097280"/>
          </a:xfrm>
          <a:prstGeom prst="roundRect">
            <a:avLst>
              <a:gd name="adj" fmla="val 5000"/>
            </a:avLst>
          </a:prstGeom>
          <a:solidFill>
            <a:srgbClr val="FFFFFF"/>
          </a:solidFill>
          <a:ln w="12700">
            <a:solidFill>
              <a:srgbClr val="E2E7F5"/>
            </a:solidFill>
            <a:prstDash val="solid"/>
          </a:ln>
          <a:effectLst>
            <a:outerShdw blurRad="88900" dist="25400" dir="5400000" algn="bl" rotWithShape="0">
              <a:srgbClr val="C7CEE0">
                <a:alpha val="50000"/>
              </a:srgbClr>
            </a:outerShdw>
          </a:effectLst>
        </p:spPr>
        <p:txBody>
          <a:bodyPr/>
          <a:lstStyle/>
          <a:p>
            <a:endParaRPr lang="en-IN"/>
          </a:p>
        </p:txBody>
      </p:sp>
      <p:sp>
        <p:nvSpPr>
          <p:cNvPr id="13" name="Shape 11"/>
          <p:cNvSpPr/>
          <p:nvPr/>
        </p:nvSpPr>
        <p:spPr>
          <a:xfrm>
            <a:off x="5074920" y="2103120"/>
            <a:ext cx="548640" cy="548640"/>
          </a:xfrm>
          <a:prstGeom prst="roundRect">
            <a:avLst>
              <a:gd name="adj" fmla="val 13333"/>
            </a:avLst>
          </a:prstGeom>
          <a:solidFill>
            <a:srgbClr val="F96167"/>
          </a:solidFill>
          <a:ln/>
          <a:effectLst>
            <a:outerShdw blurRad="76200" dist="25400" dir="5400000" algn="bl" rotWithShape="0">
              <a:srgbClr val="8892B0">
                <a:alpha val="30000"/>
              </a:srgbClr>
            </a:outerShdw>
          </a:effectLst>
        </p:spPr>
        <p:txBody>
          <a:bodyPr/>
          <a:lstStyle/>
          <a:p>
            <a:endParaRPr lang="en-IN"/>
          </a:p>
        </p:txBody>
      </p:sp>
      <p:pic>
        <p:nvPicPr>
          <p:cNvPr id="14" name="Image 0" descr="preencoded.png"/>
          <p:cNvPicPr>
            <a:picLocks noChangeAspect="1"/>
          </p:cNvPicPr>
          <p:nvPr/>
        </p:nvPicPr>
        <p:blipFill>
          <a:blip r:embed="rId3"/>
          <a:stretch>
            <a:fillRect/>
          </a:stretch>
        </p:blipFill>
        <p:spPr>
          <a:xfrm>
            <a:off x="5206594" y="2234794"/>
            <a:ext cx="285293" cy="285293"/>
          </a:xfrm>
          <a:prstGeom prst="rect">
            <a:avLst/>
          </a:prstGeom>
        </p:spPr>
      </p:pic>
      <p:sp>
        <p:nvSpPr>
          <p:cNvPr id="15" name="Text 12"/>
          <p:cNvSpPr/>
          <p:nvPr/>
        </p:nvSpPr>
        <p:spPr>
          <a:xfrm>
            <a:off x="5852160" y="2029968"/>
            <a:ext cx="5486400" cy="365760"/>
          </a:xfrm>
          <a:prstGeom prst="rect">
            <a:avLst/>
          </a:prstGeom>
          <a:noFill/>
          <a:ln/>
        </p:spPr>
        <p:txBody>
          <a:bodyPr wrap="square" rtlCol="0" anchor="ctr"/>
          <a:lstStyle/>
          <a:p>
            <a:pPr marL="0" indent="0">
              <a:buNone/>
            </a:pPr>
            <a:r>
              <a:rPr lang="en-US" sz="1500" b="1" dirty="0">
                <a:solidFill>
                  <a:srgbClr val="1E2761"/>
                </a:solidFill>
                <a:latin typeface="Segoe UI Semibold" pitchFamily="34" charset="0"/>
                <a:ea typeface="Segoe UI Semibold" pitchFamily="34" charset="-122"/>
                <a:cs typeface="Segoe UI Semibold" pitchFamily="34" charset="-120"/>
              </a:rPr>
              <a:t>Pairwise preference evaluation</a:t>
            </a:r>
            <a:endParaRPr lang="en-US" sz="1500" dirty="0"/>
          </a:p>
        </p:txBody>
      </p:sp>
      <p:sp>
        <p:nvSpPr>
          <p:cNvPr id="16" name="Text 13"/>
          <p:cNvSpPr/>
          <p:nvPr/>
        </p:nvSpPr>
        <p:spPr>
          <a:xfrm>
            <a:off x="5852160" y="2395728"/>
            <a:ext cx="5486400" cy="411480"/>
          </a:xfrm>
          <a:prstGeom prst="rect">
            <a:avLst/>
          </a:prstGeom>
          <a:noFill/>
          <a:ln/>
        </p:spPr>
        <p:txBody>
          <a:bodyPr wrap="square" rtlCol="0" anchor="ctr"/>
          <a:lstStyle/>
          <a:p>
            <a:pPr marL="0" indent="0">
              <a:buNone/>
            </a:pPr>
            <a:r>
              <a:rPr lang="en-US" sz="1250" dirty="0">
                <a:solidFill>
                  <a:srgbClr val="5B6488"/>
                </a:solidFill>
                <a:latin typeface="Segoe UI" pitchFamily="34" charset="0"/>
                <a:ea typeface="Segoe UI" pitchFamily="34" charset="-122"/>
                <a:cs typeface="Segoe UI" pitchFamily="34" charset="-120"/>
              </a:rPr>
              <a:t>Structured comparison of two candidate responses</a:t>
            </a:r>
            <a:endParaRPr lang="en-US" sz="1250" dirty="0"/>
          </a:p>
        </p:txBody>
      </p:sp>
      <p:sp>
        <p:nvSpPr>
          <p:cNvPr id="17" name="Shape 14"/>
          <p:cNvSpPr/>
          <p:nvPr/>
        </p:nvSpPr>
        <p:spPr>
          <a:xfrm>
            <a:off x="4846320" y="3108960"/>
            <a:ext cx="6675120" cy="1097280"/>
          </a:xfrm>
          <a:prstGeom prst="roundRect">
            <a:avLst>
              <a:gd name="adj" fmla="val 5000"/>
            </a:avLst>
          </a:prstGeom>
          <a:solidFill>
            <a:srgbClr val="FFFFFF"/>
          </a:solidFill>
          <a:ln w="12700">
            <a:solidFill>
              <a:srgbClr val="E2E7F5"/>
            </a:solidFill>
            <a:prstDash val="solid"/>
          </a:ln>
          <a:effectLst>
            <a:outerShdw blurRad="88900" dist="25400" dir="5400000" algn="bl" rotWithShape="0">
              <a:srgbClr val="C7CEE0">
                <a:alpha val="50000"/>
              </a:srgbClr>
            </a:outerShdw>
          </a:effectLst>
        </p:spPr>
        <p:txBody>
          <a:bodyPr/>
          <a:lstStyle/>
          <a:p>
            <a:endParaRPr lang="en-IN"/>
          </a:p>
        </p:txBody>
      </p:sp>
      <p:sp>
        <p:nvSpPr>
          <p:cNvPr id="18" name="Shape 15"/>
          <p:cNvSpPr/>
          <p:nvPr/>
        </p:nvSpPr>
        <p:spPr>
          <a:xfrm>
            <a:off x="5074920" y="3383280"/>
            <a:ext cx="548640" cy="548640"/>
          </a:xfrm>
          <a:prstGeom prst="roundRect">
            <a:avLst>
              <a:gd name="adj" fmla="val 13333"/>
            </a:avLst>
          </a:prstGeom>
          <a:solidFill>
            <a:srgbClr val="F96167"/>
          </a:solidFill>
          <a:ln/>
          <a:effectLst>
            <a:outerShdw blurRad="76200" dist="25400" dir="5400000" algn="bl" rotWithShape="0">
              <a:srgbClr val="8892B0">
                <a:alpha val="30000"/>
              </a:srgbClr>
            </a:outerShdw>
          </a:effectLst>
        </p:spPr>
        <p:txBody>
          <a:bodyPr/>
          <a:lstStyle/>
          <a:p>
            <a:endParaRPr lang="en-IN"/>
          </a:p>
        </p:txBody>
      </p:sp>
      <p:pic>
        <p:nvPicPr>
          <p:cNvPr id="19" name="Image 1" descr="preencoded.png"/>
          <p:cNvPicPr>
            <a:picLocks noChangeAspect="1"/>
          </p:cNvPicPr>
          <p:nvPr/>
        </p:nvPicPr>
        <p:blipFill>
          <a:blip r:embed="rId4"/>
          <a:stretch>
            <a:fillRect/>
          </a:stretch>
        </p:blipFill>
        <p:spPr>
          <a:xfrm>
            <a:off x="5206594" y="3514954"/>
            <a:ext cx="285293" cy="285293"/>
          </a:xfrm>
          <a:prstGeom prst="rect">
            <a:avLst/>
          </a:prstGeom>
        </p:spPr>
      </p:pic>
      <p:sp>
        <p:nvSpPr>
          <p:cNvPr id="20" name="Text 16"/>
          <p:cNvSpPr/>
          <p:nvPr/>
        </p:nvSpPr>
        <p:spPr>
          <a:xfrm>
            <a:off x="5852160" y="3310128"/>
            <a:ext cx="5486400" cy="365760"/>
          </a:xfrm>
          <a:prstGeom prst="rect">
            <a:avLst/>
          </a:prstGeom>
          <a:noFill/>
          <a:ln/>
        </p:spPr>
        <p:txBody>
          <a:bodyPr wrap="square" rtlCol="0" anchor="ctr"/>
          <a:lstStyle/>
          <a:p>
            <a:pPr marL="0" indent="0">
              <a:buNone/>
            </a:pPr>
            <a:r>
              <a:rPr lang="en-US" sz="1500" b="1" dirty="0">
                <a:solidFill>
                  <a:srgbClr val="1E2761"/>
                </a:solidFill>
                <a:latin typeface="Segoe UI Semibold" pitchFamily="34" charset="0"/>
                <a:ea typeface="Segoe UI Semibold" pitchFamily="34" charset="-122"/>
                <a:cs typeface="Segoe UI Semibold" pitchFamily="34" charset="-120"/>
              </a:rPr>
              <a:t>Preference ranking</a:t>
            </a:r>
            <a:endParaRPr lang="en-US" sz="1500" dirty="0"/>
          </a:p>
        </p:txBody>
      </p:sp>
      <p:sp>
        <p:nvSpPr>
          <p:cNvPr id="21" name="Text 17"/>
          <p:cNvSpPr/>
          <p:nvPr/>
        </p:nvSpPr>
        <p:spPr>
          <a:xfrm>
            <a:off x="5852160" y="3675888"/>
            <a:ext cx="5486400" cy="411480"/>
          </a:xfrm>
          <a:prstGeom prst="rect">
            <a:avLst/>
          </a:prstGeom>
          <a:noFill/>
          <a:ln/>
        </p:spPr>
        <p:txBody>
          <a:bodyPr wrap="square" rtlCol="0" anchor="ctr"/>
          <a:lstStyle/>
          <a:p>
            <a:pPr marL="0" indent="0">
              <a:buNone/>
            </a:pPr>
            <a:r>
              <a:rPr lang="en-US" sz="1250" dirty="0">
                <a:solidFill>
                  <a:srgbClr val="5B6488"/>
                </a:solidFill>
                <a:latin typeface="Segoe UI" pitchFamily="34" charset="0"/>
                <a:ea typeface="Segoe UI" pitchFamily="34" charset="-122"/>
                <a:cs typeface="Segoe UI" pitchFamily="34" charset="-120"/>
              </a:rPr>
              <a:t>Ordering responses by evaluated quality</a:t>
            </a:r>
            <a:endParaRPr lang="en-US" sz="1250" dirty="0"/>
          </a:p>
        </p:txBody>
      </p:sp>
      <p:sp>
        <p:nvSpPr>
          <p:cNvPr id="22" name="Shape 18"/>
          <p:cNvSpPr/>
          <p:nvPr/>
        </p:nvSpPr>
        <p:spPr>
          <a:xfrm>
            <a:off x="4846320" y="4389120"/>
            <a:ext cx="6675120" cy="1097280"/>
          </a:xfrm>
          <a:prstGeom prst="roundRect">
            <a:avLst>
              <a:gd name="adj" fmla="val 5000"/>
            </a:avLst>
          </a:prstGeom>
          <a:solidFill>
            <a:srgbClr val="FFFFFF"/>
          </a:solidFill>
          <a:ln w="12700">
            <a:solidFill>
              <a:srgbClr val="E2E7F5"/>
            </a:solidFill>
            <a:prstDash val="solid"/>
          </a:ln>
          <a:effectLst>
            <a:outerShdw blurRad="88900" dist="25400" dir="5400000" algn="bl" rotWithShape="0">
              <a:srgbClr val="C7CEE0">
                <a:alpha val="50000"/>
              </a:srgbClr>
            </a:outerShdw>
          </a:effectLst>
        </p:spPr>
        <p:txBody>
          <a:bodyPr/>
          <a:lstStyle/>
          <a:p>
            <a:endParaRPr lang="en-IN"/>
          </a:p>
        </p:txBody>
      </p:sp>
      <p:sp>
        <p:nvSpPr>
          <p:cNvPr id="23" name="Shape 19"/>
          <p:cNvSpPr/>
          <p:nvPr/>
        </p:nvSpPr>
        <p:spPr>
          <a:xfrm>
            <a:off x="5074920" y="4663440"/>
            <a:ext cx="548640" cy="548640"/>
          </a:xfrm>
          <a:prstGeom prst="roundRect">
            <a:avLst>
              <a:gd name="adj" fmla="val 13333"/>
            </a:avLst>
          </a:prstGeom>
          <a:solidFill>
            <a:srgbClr val="F96167"/>
          </a:solidFill>
          <a:ln/>
          <a:effectLst>
            <a:outerShdw blurRad="76200" dist="25400" dir="5400000" algn="bl" rotWithShape="0">
              <a:srgbClr val="8892B0">
                <a:alpha val="30000"/>
              </a:srgbClr>
            </a:outerShdw>
          </a:effectLst>
        </p:spPr>
        <p:txBody>
          <a:bodyPr/>
          <a:lstStyle/>
          <a:p>
            <a:endParaRPr lang="en-IN"/>
          </a:p>
        </p:txBody>
      </p:sp>
      <p:pic>
        <p:nvPicPr>
          <p:cNvPr id="24" name="Image 2" descr="preencoded.png"/>
          <p:cNvPicPr>
            <a:picLocks noChangeAspect="1"/>
          </p:cNvPicPr>
          <p:nvPr/>
        </p:nvPicPr>
        <p:blipFill>
          <a:blip r:embed="rId5"/>
          <a:stretch>
            <a:fillRect/>
          </a:stretch>
        </p:blipFill>
        <p:spPr>
          <a:xfrm>
            <a:off x="5206594" y="4795114"/>
            <a:ext cx="285293" cy="285293"/>
          </a:xfrm>
          <a:prstGeom prst="rect">
            <a:avLst/>
          </a:prstGeom>
        </p:spPr>
      </p:pic>
      <p:sp>
        <p:nvSpPr>
          <p:cNvPr id="25" name="Text 20"/>
          <p:cNvSpPr/>
          <p:nvPr/>
        </p:nvSpPr>
        <p:spPr>
          <a:xfrm>
            <a:off x="5852160" y="4590288"/>
            <a:ext cx="5486400" cy="365760"/>
          </a:xfrm>
          <a:prstGeom prst="rect">
            <a:avLst/>
          </a:prstGeom>
          <a:noFill/>
          <a:ln/>
        </p:spPr>
        <p:txBody>
          <a:bodyPr wrap="square" rtlCol="0" anchor="ctr"/>
          <a:lstStyle/>
          <a:p>
            <a:pPr marL="0" indent="0">
              <a:buNone/>
            </a:pPr>
            <a:r>
              <a:rPr lang="en-US" sz="1500" b="1" dirty="0">
                <a:solidFill>
                  <a:srgbClr val="1E2761"/>
                </a:solidFill>
                <a:latin typeface="Segoe UI Semibold" pitchFamily="34" charset="0"/>
                <a:ea typeface="Segoe UI Semibold" pitchFamily="34" charset="-122"/>
                <a:cs typeface="Segoe UI Semibold" pitchFamily="34" charset="-120"/>
              </a:rPr>
              <a:t>Reward-model input simulation</a:t>
            </a:r>
            <a:endParaRPr lang="en-US" sz="1500" dirty="0"/>
          </a:p>
        </p:txBody>
      </p:sp>
      <p:sp>
        <p:nvSpPr>
          <p:cNvPr id="26" name="Text 21"/>
          <p:cNvSpPr/>
          <p:nvPr/>
        </p:nvSpPr>
        <p:spPr>
          <a:xfrm>
            <a:off x="5852160" y="4956048"/>
            <a:ext cx="5486400" cy="411480"/>
          </a:xfrm>
          <a:prstGeom prst="rect">
            <a:avLst/>
          </a:prstGeom>
          <a:noFill/>
          <a:ln/>
        </p:spPr>
        <p:txBody>
          <a:bodyPr wrap="square" rtlCol="0" anchor="ctr"/>
          <a:lstStyle/>
          <a:p>
            <a:pPr marL="0" indent="0">
              <a:buNone/>
            </a:pPr>
            <a:r>
              <a:rPr lang="en-US" sz="1250" dirty="0">
                <a:solidFill>
                  <a:srgbClr val="5B6488"/>
                </a:solidFill>
                <a:latin typeface="Segoe UI" pitchFamily="34" charset="0"/>
                <a:ea typeface="Segoe UI" pitchFamily="34" charset="-122"/>
                <a:cs typeface="Segoe UI" pitchFamily="34" charset="-120"/>
              </a:rPr>
              <a:t>Producing the preference data RLHF training consumes</a:t>
            </a:r>
            <a:endParaRPr lang="en-US" sz="12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E2761"/>
        </a:solidFill>
        <a:effectLst/>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F4B740"/>
          </a:solidFill>
          <a:ln/>
        </p:spPr>
        <p:txBody>
          <a:bodyPr/>
          <a:lstStyle/>
          <a:p>
            <a:endParaRPr lang="en-IN"/>
          </a:p>
        </p:txBody>
      </p:sp>
      <p:sp>
        <p:nvSpPr>
          <p:cNvPr id="3" name="Text 1"/>
          <p:cNvSpPr/>
          <p:nvPr/>
        </p:nvSpPr>
        <p:spPr>
          <a:xfrm>
            <a:off x="640080" y="457200"/>
            <a:ext cx="10058400" cy="274320"/>
          </a:xfrm>
          <a:prstGeom prst="rect">
            <a:avLst/>
          </a:prstGeom>
          <a:noFill/>
          <a:ln/>
        </p:spPr>
        <p:txBody>
          <a:bodyPr wrap="square" rtlCol="0" anchor="ctr"/>
          <a:lstStyle/>
          <a:p>
            <a:pPr marL="0" indent="0">
              <a:buNone/>
            </a:pPr>
            <a:r>
              <a:rPr lang="en-US" sz="1200" b="1" kern="0" spc="300" dirty="0">
                <a:solidFill>
                  <a:srgbClr val="F4B740"/>
                </a:solidFill>
                <a:latin typeface="Segoe UI Semibold" pitchFamily="34" charset="0"/>
                <a:ea typeface="Segoe UI Semibold" pitchFamily="34" charset="-122"/>
                <a:cs typeface="Segoe UI Semibold" pitchFamily="34" charset="-120"/>
              </a:rPr>
              <a:t>QUALITY METRICS</a:t>
            </a:r>
            <a:endParaRPr lang="en-US" sz="1200" dirty="0"/>
          </a:p>
        </p:txBody>
      </p:sp>
      <p:sp>
        <p:nvSpPr>
          <p:cNvPr id="4" name="Text 2"/>
          <p:cNvSpPr/>
          <p:nvPr/>
        </p:nvSpPr>
        <p:spPr>
          <a:xfrm>
            <a:off x="640080" y="731520"/>
            <a:ext cx="10881360" cy="640080"/>
          </a:xfrm>
          <a:prstGeom prst="rect">
            <a:avLst/>
          </a:prstGeom>
          <a:noFill/>
          <a:ln/>
        </p:spPr>
        <p:txBody>
          <a:bodyPr wrap="square" rtlCol="0" anchor="ctr"/>
          <a:lstStyle/>
          <a:p>
            <a:pPr marL="0" indent="0">
              <a:buNone/>
            </a:pPr>
            <a:r>
              <a:rPr lang="en-US" sz="3000" b="1" dirty="0">
                <a:solidFill>
                  <a:srgbClr val="FFFFFF"/>
                </a:solidFill>
                <a:latin typeface="Segoe UI Light" pitchFamily="34" charset="0"/>
                <a:ea typeface="Segoe UI Light" pitchFamily="34" charset="-122"/>
                <a:cs typeface="Segoe UI Light" pitchFamily="34" charset="-120"/>
              </a:rPr>
              <a:t>Key performance indicators</a:t>
            </a:r>
            <a:endParaRPr lang="en-US" sz="3000" dirty="0"/>
          </a:p>
        </p:txBody>
      </p:sp>
      <p:sp>
        <p:nvSpPr>
          <p:cNvPr id="5" name="Shape 3"/>
          <p:cNvSpPr/>
          <p:nvPr/>
        </p:nvSpPr>
        <p:spPr>
          <a:xfrm>
            <a:off x="658368" y="1417320"/>
            <a:ext cx="1005840" cy="0"/>
          </a:xfrm>
          <a:prstGeom prst="line">
            <a:avLst/>
          </a:prstGeom>
          <a:noFill/>
          <a:ln w="31750">
            <a:solidFill>
              <a:srgbClr val="F4B740"/>
            </a:solidFill>
            <a:prstDash val="solid"/>
          </a:ln>
        </p:spPr>
        <p:txBody>
          <a:bodyPr/>
          <a:lstStyle/>
          <a:p>
            <a:endParaRPr lang="en-IN"/>
          </a:p>
        </p:txBody>
      </p:sp>
      <p:sp>
        <p:nvSpPr>
          <p:cNvPr id="6" name="Shape 4"/>
          <p:cNvSpPr/>
          <p:nvPr/>
        </p:nvSpPr>
        <p:spPr>
          <a:xfrm>
            <a:off x="559156" y="1828800"/>
            <a:ext cx="3520440" cy="1783080"/>
          </a:xfrm>
          <a:prstGeom prst="roundRect">
            <a:avLst>
              <a:gd name="adj" fmla="val 4103"/>
            </a:avLst>
          </a:prstGeom>
          <a:solidFill>
            <a:srgbClr val="2A3576"/>
          </a:solidFill>
          <a:ln w="12700">
            <a:solidFill>
              <a:srgbClr val="3A4488"/>
            </a:solidFill>
            <a:prstDash val="solid"/>
          </a:ln>
        </p:spPr>
        <p:txBody>
          <a:bodyPr/>
          <a:lstStyle/>
          <a:p>
            <a:endParaRPr lang="en-IN"/>
          </a:p>
        </p:txBody>
      </p:sp>
      <p:sp>
        <p:nvSpPr>
          <p:cNvPr id="7" name="Shape 5"/>
          <p:cNvSpPr/>
          <p:nvPr/>
        </p:nvSpPr>
        <p:spPr>
          <a:xfrm>
            <a:off x="559156" y="1828800"/>
            <a:ext cx="3520440" cy="73152"/>
          </a:xfrm>
          <a:prstGeom prst="rect">
            <a:avLst/>
          </a:prstGeom>
          <a:solidFill>
            <a:srgbClr val="F4B740"/>
          </a:solidFill>
          <a:ln/>
        </p:spPr>
        <p:txBody>
          <a:bodyPr/>
          <a:lstStyle/>
          <a:p>
            <a:endParaRPr lang="en-IN"/>
          </a:p>
        </p:txBody>
      </p:sp>
      <p:sp>
        <p:nvSpPr>
          <p:cNvPr id="8" name="Text 6"/>
          <p:cNvSpPr/>
          <p:nvPr/>
        </p:nvSpPr>
        <p:spPr>
          <a:xfrm>
            <a:off x="833476" y="2057400"/>
            <a:ext cx="2971800" cy="868680"/>
          </a:xfrm>
          <a:prstGeom prst="rect">
            <a:avLst/>
          </a:prstGeom>
          <a:noFill/>
          <a:ln/>
        </p:spPr>
        <p:txBody>
          <a:bodyPr wrap="square" rtlCol="0" anchor="ctr"/>
          <a:lstStyle/>
          <a:p>
            <a:pPr marL="0" indent="0">
              <a:buNone/>
            </a:pPr>
            <a:r>
              <a:rPr lang="en-US" sz="5200" b="1" dirty="0">
                <a:solidFill>
                  <a:srgbClr val="F4B740"/>
                </a:solidFill>
                <a:latin typeface="Segoe UI Light" pitchFamily="34" charset="0"/>
                <a:ea typeface="Segoe UI Light" pitchFamily="34" charset="-122"/>
                <a:cs typeface="Segoe UI Light" pitchFamily="34" charset="-120"/>
              </a:rPr>
              <a:t>4.49</a:t>
            </a:r>
            <a:endParaRPr lang="en-US" sz="5200" dirty="0"/>
          </a:p>
        </p:txBody>
      </p:sp>
      <p:sp>
        <p:nvSpPr>
          <p:cNvPr id="9" name="Text 7"/>
          <p:cNvSpPr/>
          <p:nvPr/>
        </p:nvSpPr>
        <p:spPr>
          <a:xfrm>
            <a:off x="833476" y="2971800"/>
            <a:ext cx="2971800" cy="320040"/>
          </a:xfrm>
          <a:prstGeom prst="rect">
            <a:avLst/>
          </a:prstGeom>
          <a:noFill/>
          <a:ln/>
        </p:spPr>
        <p:txBody>
          <a:bodyPr wrap="square" rtlCol="0" anchor="ctr"/>
          <a:lstStyle/>
          <a:p>
            <a:pPr marL="0" indent="0">
              <a:buNone/>
            </a:pPr>
            <a:r>
              <a:rPr lang="en-US" sz="1400" b="1" dirty="0">
                <a:solidFill>
                  <a:srgbClr val="FFFFFF"/>
                </a:solidFill>
                <a:latin typeface="Segoe UI Semibold" pitchFamily="34" charset="0"/>
                <a:ea typeface="Segoe UI Semibold" pitchFamily="34" charset="-122"/>
                <a:cs typeface="Segoe UI Semibold" pitchFamily="34" charset="-120"/>
              </a:rPr>
              <a:t>Overall Quality Score</a:t>
            </a:r>
            <a:endParaRPr lang="en-US" sz="1400" dirty="0"/>
          </a:p>
        </p:txBody>
      </p:sp>
      <p:sp>
        <p:nvSpPr>
          <p:cNvPr id="10" name="Text 8"/>
          <p:cNvSpPr/>
          <p:nvPr/>
        </p:nvSpPr>
        <p:spPr>
          <a:xfrm>
            <a:off x="833476" y="3273552"/>
            <a:ext cx="2971800" cy="274320"/>
          </a:xfrm>
          <a:prstGeom prst="rect">
            <a:avLst/>
          </a:prstGeom>
          <a:noFill/>
          <a:ln/>
        </p:spPr>
        <p:txBody>
          <a:bodyPr wrap="square" rtlCol="0" anchor="ctr"/>
          <a:lstStyle/>
          <a:p>
            <a:pPr marL="0" indent="0">
              <a:buNone/>
            </a:pPr>
            <a:r>
              <a:rPr lang="en-US" sz="1050" dirty="0">
                <a:solidFill>
                  <a:srgbClr val="9AA3C7"/>
                </a:solidFill>
                <a:latin typeface="Segoe UI" pitchFamily="34" charset="0"/>
                <a:ea typeface="Segoe UI" pitchFamily="34" charset="-122"/>
                <a:cs typeface="Segoe UI" pitchFamily="34" charset="-120"/>
              </a:rPr>
              <a:t>out of 5.0</a:t>
            </a:r>
            <a:endParaRPr lang="en-US" sz="1050" dirty="0"/>
          </a:p>
        </p:txBody>
      </p:sp>
      <p:sp>
        <p:nvSpPr>
          <p:cNvPr id="11" name="Shape 9"/>
          <p:cNvSpPr/>
          <p:nvPr/>
        </p:nvSpPr>
        <p:spPr>
          <a:xfrm>
            <a:off x="4335628" y="1828800"/>
            <a:ext cx="3520440" cy="1783080"/>
          </a:xfrm>
          <a:prstGeom prst="roundRect">
            <a:avLst>
              <a:gd name="adj" fmla="val 4103"/>
            </a:avLst>
          </a:prstGeom>
          <a:solidFill>
            <a:srgbClr val="2A3576"/>
          </a:solidFill>
          <a:ln w="12700">
            <a:solidFill>
              <a:srgbClr val="3A4488"/>
            </a:solidFill>
            <a:prstDash val="solid"/>
          </a:ln>
        </p:spPr>
        <p:txBody>
          <a:bodyPr/>
          <a:lstStyle/>
          <a:p>
            <a:endParaRPr lang="en-IN"/>
          </a:p>
        </p:txBody>
      </p:sp>
      <p:sp>
        <p:nvSpPr>
          <p:cNvPr id="12" name="Shape 10"/>
          <p:cNvSpPr/>
          <p:nvPr/>
        </p:nvSpPr>
        <p:spPr>
          <a:xfrm>
            <a:off x="4335628" y="1828800"/>
            <a:ext cx="3520440" cy="73152"/>
          </a:xfrm>
          <a:prstGeom prst="rect">
            <a:avLst/>
          </a:prstGeom>
          <a:solidFill>
            <a:srgbClr val="CADCFC"/>
          </a:solidFill>
          <a:ln/>
        </p:spPr>
        <p:txBody>
          <a:bodyPr/>
          <a:lstStyle/>
          <a:p>
            <a:endParaRPr lang="en-IN"/>
          </a:p>
        </p:txBody>
      </p:sp>
      <p:sp>
        <p:nvSpPr>
          <p:cNvPr id="13" name="Text 11"/>
          <p:cNvSpPr/>
          <p:nvPr/>
        </p:nvSpPr>
        <p:spPr>
          <a:xfrm>
            <a:off x="4609948" y="2057400"/>
            <a:ext cx="2971800" cy="868680"/>
          </a:xfrm>
          <a:prstGeom prst="rect">
            <a:avLst/>
          </a:prstGeom>
          <a:noFill/>
          <a:ln/>
        </p:spPr>
        <p:txBody>
          <a:bodyPr wrap="square" rtlCol="0" anchor="ctr"/>
          <a:lstStyle/>
          <a:p>
            <a:pPr marL="0" indent="0">
              <a:buNone/>
            </a:pPr>
            <a:r>
              <a:rPr lang="en-US" sz="5200" b="1" dirty="0">
                <a:solidFill>
                  <a:srgbClr val="CADCFC"/>
                </a:solidFill>
                <a:latin typeface="Segoe UI Light" pitchFamily="34" charset="0"/>
                <a:ea typeface="Segoe UI Light" pitchFamily="34" charset="-122"/>
                <a:cs typeface="Segoe UI Light" pitchFamily="34" charset="-120"/>
              </a:rPr>
              <a:t>66%</a:t>
            </a:r>
            <a:endParaRPr lang="en-US" sz="5200" dirty="0"/>
          </a:p>
        </p:txBody>
      </p:sp>
      <p:sp>
        <p:nvSpPr>
          <p:cNvPr id="14" name="Text 12"/>
          <p:cNvSpPr/>
          <p:nvPr/>
        </p:nvSpPr>
        <p:spPr>
          <a:xfrm>
            <a:off x="4609948" y="2971800"/>
            <a:ext cx="2971800" cy="320040"/>
          </a:xfrm>
          <a:prstGeom prst="rect">
            <a:avLst/>
          </a:prstGeom>
          <a:noFill/>
          <a:ln/>
        </p:spPr>
        <p:txBody>
          <a:bodyPr wrap="square" rtlCol="0" anchor="ctr"/>
          <a:lstStyle/>
          <a:p>
            <a:pPr marL="0" indent="0">
              <a:buNone/>
            </a:pPr>
            <a:r>
              <a:rPr lang="en-US" sz="1400" b="1" dirty="0">
                <a:solidFill>
                  <a:srgbClr val="FFFFFF"/>
                </a:solidFill>
                <a:latin typeface="Segoe UI Semibold" pitchFamily="34" charset="0"/>
                <a:ea typeface="Segoe UI Semibold" pitchFamily="34" charset="-122"/>
                <a:cs typeface="Segoe UI Semibold" pitchFamily="34" charset="-120"/>
              </a:rPr>
              <a:t>Accuracy Rate</a:t>
            </a:r>
            <a:endParaRPr lang="en-US" sz="1400" dirty="0"/>
          </a:p>
        </p:txBody>
      </p:sp>
      <p:sp>
        <p:nvSpPr>
          <p:cNvPr id="15" name="Text 13"/>
          <p:cNvSpPr/>
          <p:nvPr/>
        </p:nvSpPr>
        <p:spPr>
          <a:xfrm>
            <a:off x="4609948" y="3273552"/>
            <a:ext cx="2971800" cy="274320"/>
          </a:xfrm>
          <a:prstGeom prst="rect">
            <a:avLst/>
          </a:prstGeom>
          <a:noFill/>
          <a:ln/>
        </p:spPr>
        <p:txBody>
          <a:bodyPr wrap="square" rtlCol="0" anchor="ctr"/>
          <a:lstStyle/>
          <a:p>
            <a:pPr marL="0" indent="0">
              <a:buNone/>
            </a:pPr>
            <a:r>
              <a:rPr lang="en-US" sz="1050" dirty="0">
                <a:solidFill>
                  <a:srgbClr val="9AA3C7"/>
                </a:solidFill>
                <a:latin typeface="Segoe UI" pitchFamily="34" charset="0"/>
                <a:ea typeface="Segoe UI" pitchFamily="34" charset="-122"/>
                <a:cs typeface="Segoe UI" pitchFamily="34" charset="-120"/>
              </a:rPr>
              <a:t>responses scoring ≥4</a:t>
            </a:r>
            <a:endParaRPr lang="en-US" sz="1050" dirty="0"/>
          </a:p>
        </p:txBody>
      </p:sp>
      <p:sp>
        <p:nvSpPr>
          <p:cNvPr id="16" name="Shape 14"/>
          <p:cNvSpPr/>
          <p:nvPr/>
        </p:nvSpPr>
        <p:spPr>
          <a:xfrm>
            <a:off x="8112100" y="1828800"/>
            <a:ext cx="3520440" cy="1783080"/>
          </a:xfrm>
          <a:prstGeom prst="roundRect">
            <a:avLst>
              <a:gd name="adj" fmla="val 4103"/>
            </a:avLst>
          </a:prstGeom>
          <a:solidFill>
            <a:srgbClr val="2A3576"/>
          </a:solidFill>
          <a:ln w="12700">
            <a:solidFill>
              <a:srgbClr val="3A4488"/>
            </a:solidFill>
            <a:prstDash val="solid"/>
          </a:ln>
        </p:spPr>
        <p:txBody>
          <a:bodyPr/>
          <a:lstStyle/>
          <a:p>
            <a:endParaRPr lang="en-IN"/>
          </a:p>
        </p:txBody>
      </p:sp>
      <p:sp>
        <p:nvSpPr>
          <p:cNvPr id="17" name="Shape 15"/>
          <p:cNvSpPr/>
          <p:nvPr/>
        </p:nvSpPr>
        <p:spPr>
          <a:xfrm>
            <a:off x="8112100" y="1828800"/>
            <a:ext cx="3520440" cy="73152"/>
          </a:xfrm>
          <a:prstGeom prst="rect">
            <a:avLst/>
          </a:prstGeom>
          <a:solidFill>
            <a:srgbClr val="5FD08A"/>
          </a:solidFill>
          <a:ln/>
        </p:spPr>
        <p:txBody>
          <a:bodyPr/>
          <a:lstStyle/>
          <a:p>
            <a:endParaRPr lang="en-IN"/>
          </a:p>
        </p:txBody>
      </p:sp>
      <p:sp>
        <p:nvSpPr>
          <p:cNvPr id="18" name="Text 16"/>
          <p:cNvSpPr/>
          <p:nvPr/>
        </p:nvSpPr>
        <p:spPr>
          <a:xfrm>
            <a:off x="8386420" y="2057400"/>
            <a:ext cx="2971800" cy="868680"/>
          </a:xfrm>
          <a:prstGeom prst="rect">
            <a:avLst/>
          </a:prstGeom>
          <a:noFill/>
          <a:ln/>
        </p:spPr>
        <p:txBody>
          <a:bodyPr wrap="square" rtlCol="0" anchor="ctr"/>
          <a:lstStyle/>
          <a:p>
            <a:pPr marL="0" indent="0">
              <a:buNone/>
            </a:pPr>
            <a:r>
              <a:rPr lang="en-US" sz="5200" b="1" dirty="0">
                <a:solidFill>
                  <a:srgbClr val="5FD08A"/>
                </a:solidFill>
                <a:latin typeface="Segoe UI Light" pitchFamily="34" charset="0"/>
                <a:ea typeface="Segoe UI Light" pitchFamily="34" charset="-122"/>
                <a:cs typeface="Segoe UI Light" pitchFamily="34" charset="-120"/>
              </a:rPr>
              <a:t>4%</a:t>
            </a:r>
            <a:endParaRPr lang="en-US" sz="5200" dirty="0"/>
          </a:p>
        </p:txBody>
      </p:sp>
      <p:sp>
        <p:nvSpPr>
          <p:cNvPr id="19" name="Text 17"/>
          <p:cNvSpPr/>
          <p:nvPr/>
        </p:nvSpPr>
        <p:spPr>
          <a:xfrm>
            <a:off x="8386420" y="2971800"/>
            <a:ext cx="2971800" cy="320040"/>
          </a:xfrm>
          <a:prstGeom prst="rect">
            <a:avLst/>
          </a:prstGeom>
          <a:noFill/>
          <a:ln/>
        </p:spPr>
        <p:txBody>
          <a:bodyPr wrap="square" rtlCol="0" anchor="ctr"/>
          <a:lstStyle/>
          <a:p>
            <a:pPr marL="0" indent="0">
              <a:buNone/>
            </a:pPr>
            <a:r>
              <a:rPr lang="en-US" sz="1400" b="1" dirty="0">
                <a:solidFill>
                  <a:srgbClr val="FFFFFF"/>
                </a:solidFill>
                <a:latin typeface="Segoe UI Semibold" pitchFamily="34" charset="0"/>
                <a:ea typeface="Segoe UI Semibold" pitchFamily="34" charset="-122"/>
                <a:cs typeface="Segoe UI Semibold" pitchFamily="34" charset="-120"/>
              </a:rPr>
              <a:t>Hallucination Rate</a:t>
            </a:r>
            <a:endParaRPr lang="en-US" sz="1400" dirty="0"/>
          </a:p>
        </p:txBody>
      </p:sp>
      <p:sp>
        <p:nvSpPr>
          <p:cNvPr id="20" name="Text 18"/>
          <p:cNvSpPr/>
          <p:nvPr/>
        </p:nvSpPr>
        <p:spPr>
          <a:xfrm>
            <a:off x="8386420" y="3273552"/>
            <a:ext cx="2971800" cy="274320"/>
          </a:xfrm>
          <a:prstGeom prst="rect">
            <a:avLst/>
          </a:prstGeom>
          <a:noFill/>
          <a:ln/>
        </p:spPr>
        <p:txBody>
          <a:bodyPr wrap="square" rtlCol="0" anchor="ctr"/>
          <a:lstStyle/>
          <a:p>
            <a:pPr marL="0" indent="0">
              <a:buNone/>
            </a:pPr>
            <a:r>
              <a:rPr lang="en-US" sz="1050" dirty="0">
                <a:solidFill>
                  <a:srgbClr val="9AA3C7"/>
                </a:solidFill>
                <a:latin typeface="Segoe UI" pitchFamily="34" charset="0"/>
                <a:ea typeface="Segoe UI" pitchFamily="34" charset="-122"/>
                <a:cs typeface="Segoe UI" pitchFamily="34" charset="-120"/>
              </a:rPr>
              <a:t>fabricated content</a:t>
            </a:r>
            <a:endParaRPr lang="en-US" sz="1050" dirty="0"/>
          </a:p>
        </p:txBody>
      </p:sp>
      <p:sp>
        <p:nvSpPr>
          <p:cNvPr id="21" name="Shape 19"/>
          <p:cNvSpPr/>
          <p:nvPr/>
        </p:nvSpPr>
        <p:spPr>
          <a:xfrm>
            <a:off x="559156" y="3886200"/>
            <a:ext cx="3520440" cy="1783080"/>
          </a:xfrm>
          <a:prstGeom prst="roundRect">
            <a:avLst>
              <a:gd name="adj" fmla="val 4103"/>
            </a:avLst>
          </a:prstGeom>
          <a:solidFill>
            <a:srgbClr val="2A3576"/>
          </a:solidFill>
          <a:ln w="12700">
            <a:solidFill>
              <a:srgbClr val="3A4488"/>
            </a:solidFill>
            <a:prstDash val="solid"/>
          </a:ln>
        </p:spPr>
        <p:txBody>
          <a:bodyPr/>
          <a:lstStyle/>
          <a:p>
            <a:endParaRPr lang="en-IN"/>
          </a:p>
        </p:txBody>
      </p:sp>
      <p:sp>
        <p:nvSpPr>
          <p:cNvPr id="22" name="Shape 20"/>
          <p:cNvSpPr/>
          <p:nvPr/>
        </p:nvSpPr>
        <p:spPr>
          <a:xfrm>
            <a:off x="559156" y="3886200"/>
            <a:ext cx="3520440" cy="73152"/>
          </a:xfrm>
          <a:prstGeom prst="rect">
            <a:avLst/>
          </a:prstGeom>
          <a:solidFill>
            <a:srgbClr val="CADCFC"/>
          </a:solidFill>
          <a:ln/>
        </p:spPr>
        <p:txBody>
          <a:bodyPr/>
          <a:lstStyle/>
          <a:p>
            <a:endParaRPr lang="en-IN"/>
          </a:p>
        </p:txBody>
      </p:sp>
      <p:sp>
        <p:nvSpPr>
          <p:cNvPr id="23" name="Text 21"/>
          <p:cNvSpPr/>
          <p:nvPr/>
        </p:nvSpPr>
        <p:spPr>
          <a:xfrm>
            <a:off x="833476" y="4114800"/>
            <a:ext cx="2971800" cy="868680"/>
          </a:xfrm>
          <a:prstGeom prst="rect">
            <a:avLst/>
          </a:prstGeom>
          <a:noFill/>
          <a:ln/>
        </p:spPr>
        <p:txBody>
          <a:bodyPr wrap="square" rtlCol="0" anchor="ctr"/>
          <a:lstStyle/>
          <a:p>
            <a:pPr marL="0" indent="0">
              <a:buNone/>
            </a:pPr>
            <a:r>
              <a:rPr lang="en-US" sz="5200" b="1" dirty="0">
                <a:solidFill>
                  <a:srgbClr val="CADCFC"/>
                </a:solidFill>
                <a:latin typeface="Segoe UI Light" pitchFamily="34" charset="0"/>
                <a:ea typeface="Segoe UI Light" pitchFamily="34" charset="-122"/>
                <a:cs typeface="Segoe UI Light" pitchFamily="34" charset="-120"/>
              </a:rPr>
              <a:t>93%</a:t>
            </a:r>
            <a:endParaRPr lang="en-US" sz="5200" dirty="0"/>
          </a:p>
        </p:txBody>
      </p:sp>
      <p:sp>
        <p:nvSpPr>
          <p:cNvPr id="24" name="Text 22"/>
          <p:cNvSpPr/>
          <p:nvPr/>
        </p:nvSpPr>
        <p:spPr>
          <a:xfrm>
            <a:off x="833476" y="5029200"/>
            <a:ext cx="2971800" cy="320040"/>
          </a:xfrm>
          <a:prstGeom prst="rect">
            <a:avLst/>
          </a:prstGeom>
          <a:noFill/>
          <a:ln/>
        </p:spPr>
        <p:txBody>
          <a:bodyPr wrap="square" rtlCol="0" anchor="ctr"/>
          <a:lstStyle/>
          <a:p>
            <a:pPr marL="0" indent="0">
              <a:buNone/>
            </a:pPr>
            <a:r>
              <a:rPr lang="en-US" sz="1400" b="1" dirty="0">
                <a:solidFill>
                  <a:srgbClr val="FFFFFF"/>
                </a:solidFill>
                <a:latin typeface="Segoe UI Semibold" pitchFamily="34" charset="0"/>
                <a:ea typeface="Segoe UI Semibold" pitchFamily="34" charset="-122"/>
                <a:cs typeface="Segoe UI Semibold" pitchFamily="34" charset="-120"/>
              </a:rPr>
              <a:t>Safety Compliance</a:t>
            </a:r>
            <a:endParaRPr lang="en-US" sz="1400" dirty="0"/>
          </a:p>
        </p:txBody>
      </p:sp>
      <p:sp>
        <p:nvSpPr>
          <p:cNvPr id="25" name="Text 23"/>
          <p:cNvSpPr/>
          <p:nvPr/>
        </p:nvSpPr>
        <p:spPr>
          <a:xfrm>
            <a:off x="833476" y="5330952"/>
            <a:ext cx="2971800" cy="274320"/>
          </a:xfrm>
          <a:prstGeom prst="rect">
            <a:avLst/>
          </a:prstGeom>
          <a:noFill/>
          <a:ln/>
        </p:spPr>
        <p:txBody>
          <a:bodyPr wrap="square" rtlCol="0" anchor="ctr"/>
          <a:lstStyle/>
          <a:p>
            <a:pPr marL="0" indent="0">
              <a:buNone/>
            </a:pPr>
            <a:r>
              <a:rPr lang="en-US" sz="1050" dirty="0">
                <a:solidFill>
                  <a:srgbClr val="9AA3C7"/>
                </a:solidFill>
                <a:latin typeface="Segoe UI" pitchFamily="34" charset="0"/>
                <a:ea typeface="Segoe UI" pitchFamily="34" charset="-122"/>
                <a:cs typeface="Segoe UI" pitchFamily="34" charset="-120"/>
              </a:rPr>
              <a:t>no safety violation</a:t>
            </a:r>
            <a:endParaRPr lang="en-US" sz="1050" dirty="0"/>
          </a:p>
        </p:txBody>
      </p:sp>
      <p:sp>
        <p:nvSpPr>
          <p:cNvPr id="26" name="Shape 24"/>
          <p:cNvSpPr/>
          <p:nvPr/>
        </p:nvSpPr>
        <p:spPr>
          <a:xfrm>
            <a:off x="4335628" y="3886200"/>
            <a:ext cx="3520440" cy="1783080"/>
          </a:xfrm>
          <a:prstGeom prst="roundRect">
            <a:avLst>
              <a:gd name="adj" fmla="val 4103"/>
            </a:avLst>
          </a:prstGeom>
          <a:solidFill>
            <a:srgbClr val="2A3576"/>
          </a:solidFill>
          <a:ln w="12700">
            <a:solidFill>
              <a:srgbClr val="3A4488"/>
            </a:solidFill>
            <a:prstDash val="solid"/>
          </a:ln>
        </p:spPr>
        <p:txBody>
          <a:bodyPr/>
          <a:lstStyle/>
          <a:p>
            <a:endParaRPr lang="en-IN"/>
          </a:p>
        </p:txBody>
      </p:sp>
      <p:sp>
        <p:nvSpPr>
          <p:cNvPr id="27" name="Shape 25"/>
          <p:cNvSpPr/>
          <p:nvPr/>
        </p:nvSpPr>
        <p:spPr>
          <a:xfrm>
            <a:off x="4335628" y="3886200"/>
            <a:ext cx="3520440" cy="73152"/>
          </a:xfrm>
          <a:prstGeom prst="rect">
            <a:avLst/>
          </a:prstGeom>
          <a:solidFill>
            <a:srgbClr val="CADCFC"/>
          </a:solidFill>
          <a:ln/>
        </p:spPr>
        <p:txBody>
          <a:bodyPr/>
          <a:lstStyle/>
          <a:p>
            <a:endParaRPr lang="en-IN"/>
          </a:p>
        </p:txBody>
      </p:sp>
      <p:sp>
        <p:nvSpPr>
          <p:cNvPr id="28" name="Text 26"/>
          <p:cNvSpPr/>
          <p:nvPr/>
        </p:nvSpPr>
        <p:spPr>
          <a:xfrm>
            <a:off x="4609948" y="4114800"/>
            <a:ext cx="2971800" cy="868680"/>
          </a:xfrm>
          <a:prstGeom prst="rect">
            <a:avLst/>
          </a:prstGeom>
          <a:noFill/>
          <a:ln/>
        </p:spPr>
        <p:txBody>
          <a:bodyPr wrap="square" rtlCol="0" anchor="ctr"/>
          <a:lstStyle/>
          <a:p>
            <a:pPr marL="0" indent="0">
              <a:buNone/>
            </a:pPr>
            <a:r>
              <a:rPr lang="en-US" sz="5200" b="1" dirty="0">
                <a:solidFill>
                  <a:srgbClr val="CADCFC"/>
                </a:solidFill>
                <a:latin typeface="Segoe UI Light" pitchFamily="34" charset="0"/>
                <a:ea typeface="Segoe UI Light" pitchFamily="34" charset="-122"/>
                <a:cs typeface="Segoe UI Light" pitchFamily="34" charset="-120"/>
              </a:rPr>
              <a:t>88%</a:t>
            </a:r>
            <a:endParaRPr lang="en-US" sz="5200" dirty="0"/>
          </a:p>
        </p:txBody>
      </p:sp>
      <p:sp>
        <p:nvSpPr>
          <p:cNvPr id="29" name="Text 27"/>
          <p:cNvSpPr/>
          <p:nvPr/>
        </p:nvSpPr>
        <p:spPr>
          <a:xfrm>
            <a:off x="4609948" y="5029200"/>
            <a:ext cx="2971800" cy="320040"/>
          </a:xfrm>
          <a:prstGeom prst="rect">
            <a:avLst/>
          </a:prstGeom>
          <a:noFill/>
          <a:ln/>
        </p:spPr>
        <p:txBody>
          <a:bodyPr wrap="square" rtlCol="0" anchor="ctr"/>
          <a:lstStyle/>
          <a:p>
            <a:pPr marL="0" indent="0">
              <a:buNone/>
            </a:pPr>
            <a:r>
              <a:rPr lang="en-US" sz="1400" b="1" dirty="0">
                <a:solidFill>
                  <a:srgbClr val="FFFFFF"/>
                </a:solidFill>
                <a:latin typeface="Segoe UI Semibold" pitchFamily="34" charset="0"/>
                <a:ea typeface="Segoe UI Semibold" pitchFamily="34" charset="-122"/>
                <a:cs typeface="Segoe UI Semibold" pitchFamily="34" charset="-120"/>
              </a:rPr>
              <a:t>Calibration Agreement</a:t>
            </a:r>
            <a:endParaRPr lang="en-US" sz="1400" dirty="0"/>
          </a:p>
        </p:txBody>
      </p:sp>
      <p:sp>
        <p:nvSpPr>
          <p:cNvPr id="30" name="Text 28"/>
          <p:cNvSpPr/>
          <p:nvPr/>
        </p:nvSpPr>
        <p:spPr>
          <a:xfrm>
            <a:off x="4609948" y="5330952"/>
            <a:ext cx="2971800" cy="274320"/>
          </a:xfrm>
          <a:prstGeom prst="rect">
            <a:avLst/>
          </a:prstGeom>
          <a:noFill/>
          <a:ln/>
        </p:spPr>
        <p:txBody>
          <a:bodyPr wrap="square" rtlCol="0" anchor="ctr"/>
          <a:lstStyle/>
          <a:p>
            <a:pPr marL="0" indent="0">
              <a:buNone/>
            </a:pPr>
            <a:r>
              <a:rPr lang="en-US" sz="1050" dirty="0">
                <a:solidFill>
                  <a:srgbClr val="9AA3C7"/>
                </a:solidFill>
                <a:latin typeface="Segoe UI" pitchFamily="34" charset="0"/>
                <a:ea typeface="Segoe UI" pitchFamily="34" charset="-122"/>
                <a:cs typeface="Segoe UI" pitchFamily="34" charset="-120"/>
              </a:rPr>
              <a:t>reviewer alignment</a:t>
            </a:r>
            <a:endParaRPr lang="en-US" sz="1050" dirty="0"/>
          </a:p>
        </p:txBody>
      </p:sp>
      <p:sp>
        <p:nvSpPr>
          <p:cNvPr id="31" name="Shape 29"/>
          <p:cNvSpPr/>
          <p:nvPr/>
        </p:nvSpPr>
        <p:spPr>
          <a:xfrm>
            <a:off x="8112100" y="3886200"/>
            <a:ext cx="3520440" cy="1783080"/>
          </a:xfrm>
          <a:prstGeom prst="roundRect">
            <a:avLst>
              <a:gd name="adj" fmla="val 4103"/>
            </a:avLst>
          </a:prstGeom>
          <a:solidFill>
            <a:srgbClr val="2A3576"/>
          </a:solidFill>
          <a:ln w="12700">
            <a:solidFill>
              <a:srgbClr val="3A4488"/>
            </a:solidFill>
            <a:prstDash val="solid"/>
          </a:ln>
        </p:spPr>
        <p:txBody>
          <a:bodyPr/>
          <a:lstStyle/>
          <a:p>
            <a:endParaRPr lang="en-IN"/>
          </a:p>
        </p:txBody>
      </p:sp>
      <p:sp>
        <p:nvSpPr>
          <p:cNvPr id="32" name="Shape 30"/>
          <p:cNvSpPr/>
          <p:nvPr/>
        </p:nvSpPr>
        <p:spPr>
          <a:xfrm>
            <a:off x="8112100" y="3886200"/>
            <a:ext cx="3520440" cy="73152"/>
          </a:xfrm>
          <a:prstGeom prst="rect">
            <a:avLst/>
          </a:prstGeom>
          <a:solidFill>
            <a:srgbClr val="CADCFC"/>
          </a:solidFill>
          <a:ln/>
        </p:spPr>
        <p:txBody>
          <a:bodyPr/>
          <a:lstStyle/>
          <a:p>
            <a:endParaRPr lang="en-IN"/>
          </a:p>
        </p:txBody>
      </p:sp>
      <p:sp>
        <p:nvSpPr>
          <p:cNvPr id="33" name="Text 31"/>
          <p:cNvSpPr/>
          <p:nvPr/>
        </p:nvSpPr>
        <p:spPr>
          <a:xfrm>
            <a:off x="8386420" y="4114800"/>
            <a:ext cx="2971800" cy="868680"/>
          </a:xfrm>
          <a:prstGeom prst="rect">
            <a:avLst/>
          </a:prstGeom>
          <a:noFill/>
          <a:ln/>
        </p:spPr>
        <p:txBody>
          <a:bodyPr wrap="square" rtlCol="0" anchor="ctr"/>
          <a:lstStyle/>
          <a:p>
            <a:pPr marL="0" indent="0">
              <a:buNone/>
            </a:pPr>
            <a:r>
              <a:rPr lang="en-US" sz="5200" b="1" dirty="0">
                <a:solidFill>
                  <a:srgbClr val="CADCFC"/>
                </a:solidFill>
                <a:latin typeface="Segoe UI Light" pitchFamily="34" charset="0"/>
                <a:ea typeface="Segoe UI Light" pitchFamily="34" charset="-122"/>
                <a:cs typeface="Segoe UI Light" pitchFamily="34" charset="-120"/>
              </a:rPr>
              <a:t>34%</a:t>
            </a:r>
            <a:endParaRPr lang="en-US" sz="5200" dirty="0"/>
          </a:p>
        </p:txBody>
      </p:sp>
      <p:sp>
        <p:nvSpPr>
          <p:cNvPr id="34" name="Text 32"/>
          <p:cNvSpPr/>
          <p:nvPr/>
        </p:nvSpPr>
        <p:spPr>
          <a:xfrm>
            <a:off x="8386420" y="5029200"/>
            <a:ext cx="2971800" cy="320040"/>
          </a:xfrm>
          <a:prstGeom prst="rect">
            <a:avLst/>
          </a:prstGeom>
          <a:noFill/>
          <a:ln/>
        </p:spPr>
        <p:txBody>
          <a:bodyPr wrap="square" rtlCol="0" anchor="ctr"/>
          <a:lstStyle/>
          <a:p>
            <a:pPr marL="0" indent="0">
              <a:buNone/>
            </a:pPr>
            <a:r>
              <a:rPr lang="en-US" sz="1400" b="1" dirty="0">
                <a:solidFill>
                  <a:srgbClr val="FFFFFF"/>
                </a:solidFill>
                <a:latin typeface="Segoe UI Semibold" pitchFamily="34" charset="0"/>
                <a:ea typeface="Segoe UI Semibold" pitchFamily="34" charset="-122"/>
                <a:cs typeface="Segoe UI Semibold" pitchFamily="34" charset="-120"/>
              </a:rPr>
              <a:t>Error Rate</a:t>
            </a:r>
            <a:endParaRPr lang="en-US" sz="1400" dirty="0"/>
          </a:p>
        </p:txBody>
      </p:sp>
      <p:sp>
        <p:nvSpPr>
          <p:cNvPr id="35" name="Text 33"/>
          <p:cNvSpPr/>
          <p:nvPr/>
        </p:nvSpPr>
        <p:spPr>
          <a:xfrm>
            <a:off x="8386420" y="5330952"/>
            <a:ext cx="2971800" cy="274320"/>
          </a:xfrm>
          <a:prstGeom prst="rect">
            <a:avLst/>
          </a:prstGeom>
          <a:noFill/>
          <a:ln/>
        </p:spPr>
        <p:txBody>
          <a:bodyPr wrap="square" rtlCol="0" anchor="ctr"/>
          <a:lstStyle/>
          <a:p>
            <a:pPr marL="0" indent="0">
              <a:buNone/>
            </a:pPr>
            <a:r>
              <a:rPr lang="en-US" sz="1050" dirty="0">
                <a:solidFill>
                  <a:srgbClr val="9AA3C7"/>
                </a:solidFill>
                <a:latin typeface="Segoe UI" pitchFamily="34" charset="0"/>
                <a:ea typeface="Segoe UI" pitchFamily="34" charset="-122"/>
                <a:cs typeface="Segoe UI" pitchFamily="34" charset="-120"/>
              </a:rPr>
              <a:t>any error category</a:t>
            </a:r>
            <a:endParaRPr lang="en-US" sz="1050" dirty="0"/>
          </a:p>
        </p:txBody>
      </p:sp>
      <p:sp>
        <p:nvSpPr>
          <p:cNvPr id="36" name="Text 34"/>
          <p:cNvSpPr/>
          <p:nvPr/>
        </p:nvSpPr>
        <p:spPr>
          <a:xfrm>
            <a:off x="640080" y="5989320"/>
            <a:ext cx="10881360" cy="457200"/>
          </a:xfrm>
          <a:prstGeom prst="rect">
            <a:avLst/>
          </a:prstGeom>
          <a:noFill/>
          <a:ln/>
        </p:spPr>
        <p:txBody>
          <a:bodyPr wrap="square" rtlCol="0" anchor="ctr"/>
          <a:lstStyle/>
          <a:p>
            <a:pPr marL="0" indent="0" algn="ctr">
              <a:buNone/>
            </a:pPr>
            <a:r>
              <a:rPr lang="en-US" sz="1100" i="1" dirty="0">
                <a:solidFill>
                  <a:srgbClr val="9AA3C7"/>
                </a:solidFill>
                <a:latin typeface="Segoe UI" pitchFamily="34" charset="0"/>
                <a:ea typeface="Segoe UI" pitchFamily="34" charset="-122"/>
                <a:cs typeface="Segoe UI" pitchFamily="34" charset="-120"/>
              </a:rPr>
              <a:t>Eight KPIs are defined in the Quality Metrics Framework; seven are displayed on the executive dashboard, with Annotation Accuracy maintained as a simulated portfolio KPI.</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4F6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1E2761"/>
          </a:solidFill>
          <a:ln/>
        </p:spPr>
        <p:txBody>
          <a:bodyPr/>
          <a:lstStyle/>
          <a:p>
            <a:endParaRPr lang="en-IN"/>
          </a:p>
        </p:txBody>
      </p:sp>
      <p:sp>
        <p:nvSpPr>
          <p:cNvPr id="3" name="Text 1"/>
          <p:cNvSpPr/>
          <p:nvPr/>
        </p:nvSpPr>
        <p:spPr>
          <a:xfrm>
            <a:off x="640080" y="457200"/>
            <a:ext cx="10058400" cy="274320"/>
          </a:xfrm>
          <a:prstGeom prst="rect">
            <a:avLst/>
          </a:prstGeom>
          <a:noFill/>
          <a:ln/>
        </p:spPr>
        <p:txBody>
          <a:bodyPr wrap="square" rtlCol="0" anchor="ctr"/>
          <a:lstStyle/>
          <a:p>
            <a:pPr marL="0" indent="0">
              <a:buNone/>
            </a:pPr>
            <a:r>
              <a:rPr lang="en-US" sz="1200" b="1" kern="0" spc="300" dirty="0">
                <a:solidFill>
                  <a:srgbClr val="F4B740"/>
                </a:solidFill>
                <a:latin typeface="Segoe UI Semibold" pitchFamily="34" charset="0"/>
                <a:ea typeface="Segoe UI Semibold" pitchFamily="34" charset="-122"/>
                <a:cs typeface="Segoe UI Semibold" pitchFamily="34" charset="-120"/>
              </a:rPr>
              <a:t>EXECUTIVE DASHBOARD</a:t>
            </a:r>
            <a:endParaRPr lang="en-US" sz="1200" dirty="0"/>
          </a:p>
        </p:txBody>
      </p:sp>
      <p:sp>
        <p:nvSpPr>
          <p:cNvPr id="4" name="Text 2"/>
          <p:cNvSpPr/>
          <p:nvPr/>
        </p:nvSpPr>
        <p:spPr>
          <a:xfrm>
            <a:off x="640080" y="731520"/>
            <a:ext cx="10881360" cy="640080"/>
          </a:xfrm>
          <a:prstGeom prst="rect">
            <a:avLst/>
          </a:prstGeom>
          <a:noFill/>
          <a:ln/>
        </p:spPr>
        <p:txBody>
          <a:bodyPr wrap="square" rtlCol="0" anchor="ctr"/>
          <a:lstStyle/>
          <a:p>
            <a:pPr marL="0" indent="0">
              <a:buNone/>
            </a:pPr>
            <a:r>
              <a:rPr lang="en-US" sz="3000" b="1" dirty="0">
                <a:solidFill>
                  <a:srgbClr val="1E2761"/>
                </a:solidFill>
                <a:latin typeface="Segoe UI Light" pitchFamily="34" charset="0"/>
                <a:ea typeface="Segoe UI Light" pitchFamily="34" charset="-122"/>
                <a:cs typeface="Segoe UI Light" pitchFamily="34" charset="-120"/>
              </a:rPr>
              <a:t>From records to leadership signal</a:t>
            </a:r>
            <a:endParaRPr lang="en-US" sz="3000" dirty="0"/>
          </a:p>
        </p:txBody>
      </p:sp>
      <p:sp>
        <p:nvSpPr>
          <p:cNvPr id="5" name="Shape 3"/>
          <p:cNvSpPr/>
          <p:nvPr/>
        </p:nvSpPr>
        <p:spPr>
          <a:xfrm>
            <a:off x="658368" y="1417320"/>
            <a:ext cx="1005840" cy="0"/>
          </a:xfrm>
          <a:prstGeom prst="line">
            <a:avLst/>
          </a:prstGeom>
          <a:noFill/>
          <a:ln w="31750">
            <a:solidFill>
              <a:srgbClr val="F4B740"/>
            </a:solidFill>
            <a:prstDash val="solid"/>
          </a:ln>
        </p:spPr>
        <p:txBody>
          <a:bodyPr/>
          <a:lstStyle/>
          <a:p>
            <a:endParaRPr lang="en-IN"/>
          </a:p>
        </p:txBody>
      </p:sp>
      <p:sp>
        <p:nvSpPr>
          <p:cNvPr id="6" name="Text 4"/>
          <p:cNvSpPr/>
          <p:nvPr/>
        </p:nvSpPr>
        <p:spPr>
          <a:xfrm>
            <a:off x="11338560" y="6309360"/>
            <a:ext cx="548640" cy="274320"/>
          </a:xfrm>
          <a:prstGeom prst="rect">
            <a:avLst/>
          </a:prstGeom>
          <a:noFill/>
          <a:ln/>
        </p:spPr>
        <p:txBody>
          <a:bodyPr wrap="square" rtlCol="0" anchor="ctr"/>
          <a:lstStyle/>
          <a:p>
            <a:pPr marL="0" indent="0" algn="r">
              <a:buNone/>
            </a:pPr>
            <a:r>
              <a:rPr lang="en-US" sz="1100" dirty="0">
                <a:solidFill>
                  <a:srgbClr val="5B6488"/>
                </a:solidFill>
                <a:latin typeface="Segoe UI Semibold" pitchFamily="34" charset="0"/>
                <a:ea typeface="Segoe UI Semibold" pitchFamily="34" charset="-122"/>
                <a:cs typeface="Segoe UI Semibold" pitchFamily="34" charset="-120"/>
              </a:rPr>
              <a:t>10</a:t>
            </a:r>
            <a:endParaRPr lang="en-US" sz="1100" dirty="0"/>
          </a:p>
        </p:txBody>
      </p:sp>
      <p:sp>
        <p:nvSpPr>
          <p:cNvPr id="7" name="Text 5"/>
          <p:cNvSpPr/>
          <p:nvPr/>
        </p:nvSpPr>
        <p:spPr>
          <a:xfrm>
            <a:off x="640080" y="6309360"/>
            <a:ext cx="5486400" cy="274320"/>
          </a:xfrm>
          <a:prstGeom prst="rect">
            <a:avLst/>
          </a:prstGeom>
          <a:noFill/>
          <a:ln/>
        </p:spPr>
        <p:txBody>
          <a:bodyPr wrap="square" rtlCol="0" anchor="ctr"/>
          <a:lstStyle/>
          <a:p>
            <a:pPr marL="0" indent="0">
              <a:buNone/>
            </a:pPr>
            <a:r>
              <a:rPr lang="en-US" sz="900" dirty="0">
                <a:solidFill>
                  <a:srgbClr val="5B6488"/>
                </a:solidFill>
                <a:latin typeface="Segoe UI" pitchFamily="34" charset="0"/>
                <a:ea typeface="Segoe UI" pitchFamily="34" charset="-122"/>
                <a:cs typeface="Segoe UI" pitchFamily="34" charset="-120"/>
              </a:rPr>
              <a:t>AI Quality Evaluation Framework</a:t>
            </a:r>
            <a:endParaRPr lang="en-US" sz="900" dirty="0"/>
          </a:p>
        </p:txBody>
      </p:sp>
      <p:sp>
        <p:nvSpPr>
          <p:cNvPr id="8" name="Text 6"/>
          <p:cNvSpPr/>
          <p:nvPr/>
        </p:nvSpPr>
        <p:spPr>
          <a:xfrm>
            <a:off x="640080" y="1691640"/>
            <a:ext cx="6400800" cy="274320"/>
          </a:xfrm>
          <a:prstGeom prst="rect">
            <a:avLst/>
          </a:prstGeom>
          <a:noFill/>
          <a:ln/>
        </p:spPr>
        <p:txBody>
          <a:bodyPr wrap="square" rtlCol="0" anchor="ctr"/>
          <a:lstStyle/>
          <a:p>
            <a:pPr marL="0" indent="0">
              <a:buNone/>
            </a:pPr>
            <a:r>
              <a:rPr lang="en-US" sz="1200" b="1" kern="0" spc="100" dirty="0">
                <a:solidFill>
                  <a:srgbClr val="1E2761"/>
                </a:solidFill>
                <a:latin typeface="Segoe UI Semibold" pitchFamily="34" charset="0"/>
                <a:ea typeface="Segoe UI Semibold" pitchFamily="34" charset="-122"/>
                <a:cs typeface="Segoe UI Semibold" pitchFamily="34" charset="-120"/>
              </a:rPr>
              <a:t>TOP ERROR CATEGORIES  (of 34 total errors across 100 records)</a:t>
            </a:r>
            <a:endParaRPr lang="en-US" sz="1200" dirty="0"/>
          </a:p>
        </p:txBody>
      </p:sp>
      <p:sp>
        <p:nvSpPr>
          <p:cNvPr id="9" name="Text 7"/>
          <p:cNvSpPr/>
          <p:nvPr/>
        </p:nvSpPr>
        <p:spPr>
          <a:xfrm>
            <a:off x="548640" y="2148840"/>
            <a:ext cx="1691640" cy="420624"/>
          </a:xfrm>
          <a:prstGeom prst="rect">
            <a:avLst/>
          </a:prstGeom>
          <a:noFill/>
          <a:ln/>
        </p:spPr>
        <p:txBody>
          <a:bodyPr wrap="square" lIns="0" tIns="0" rIns="0" bIns="0" rtlCol="0" anchor="ctr"/>
          <a:lstStyle/>
          <a:p>
            <a:pPr marL="0" indent="0" algn="r">
              <a:buNone/>
            </a:pPr>
            <a:r>
              <a:rPr lang="en-US" sz="1050" dirty="0">
                <a:solidFill>
                  <a:srgbClr val="1A1E38"/>
                </a:solidFill>
                <a:latin typeface="Segoe UI" pitchFamily="34" charset="0"/>
                <a:ea typeface="Segoe UI" pitchFamily="34" charset="-122"/>
                <a:cs typeface="Segoe UI" pitchFamily="34" charset="-120"/>
              </a:rPr>
              <a:t>Incorrect Facts</a:t>
            </a:r>
            <a:endParaRPr lang="en-US" sz="1050" dirty="0"/>
          </a:p>
        </p:txBody>
      </p:sp>
      <p:sp>
        <p:nvSpPr>
          <p:cNvPr id="10" name="Shape 8"/>
          <p:cNvSpPr/>
          <p:nvPr/>
        </p:nvSpPr>
        <p:spPr>
          <a:xfrm>
            <a:off x="2331720" y="2194560"/>
            <a:ext cx="4160520" cy="329184"/>
          </a:xfrm>
          <a:prstGeom prst="roundRect">
            <a:avLst>
              <a:gd name="adj" fmla="val 8333"/>
            </a:avLst>
          </a:prstGeom>
          <a:solidFill>
            <a:srgbClr val="E8ECF7"/>
          </a:solidFill>
          <a:ln/>
        </p:spPr>
        <p:txBody>
          <a:bodyPr/>
          <a:lstStyle/>
          <a:p>
            <a:endParaRPr lang="en-IN"/>
          </a:p>
        </p:txBody>
      </p:sp>
      <p:sp>
        <p:nvSpPr>
          <p:cNvPr id="11" name="Shape 9"/>
          <p:cNvSpPr/>
          <p:nvPr/>
        </p:nvSpPr>
        <p:spPr>
          <a:xfrm>
            <a:off x="2331720" y="2194560"/>
            <a:ext cx="4160520" cy="329184"/>
          </a:xfrm>
          <a:prstGeom prst="roundRect">
            <a:avLst>
              <a:gd name="adj" fmla="val 8333"/>
            </a:avLst>
          </a:prstGeom>
          <a:solidFill>
            <a:srgbClr val="1E2761"/>
          </a:solidFill>
          <a:ln/>
        </p:spPr>
        <p:txBody>
          <a:bodyPr/>
          <a:lstStyle/>
          <a:p>
            <a:endParaRPr lang="en-IN"/>
          </a:p>
        </p:txBody>
      </p:sp>
      <p:sp>
        <p:nvSpPr>
          <p:cNvPr id="12" name="Text 10"/>
          <p:cNvSpPr/>
          <p:nvPr/>
        </p:nvSpPr>
        <p:spPr>
          <a:xfrm>
            <a:off x="6565392" y="2148840"/>
            <a:ext cx="457200" cy="420624"/>
          </a:xfrm>
          <a:prstGeom prst="rect">
            <a:avLst/>
          </a:prstGeom>
          <a:noFill/>
          <a:ln/>
        </p:spPr>
        <p:txBody>
          <a:bodyPr wrap="square" lIns="0" tIns="0" rIns="0" bIns="0" rtlCol="0" anchor="ctr"/>
          <a:lstStyle/>
          <a:p>
            <a:pPr marL="0" indent="0">
              <a:buNone/>
            </a:pPr>
            <a:r>
              <a:rPr lang="en-US" sz="1100" b="1" dirty="0">
                <a:solidFill>
                  <a:srgbClr val="1E2761"/>
                </a:solidFill>
                <a:latin typeface="Segoe UI Semibold" pitchFamily="34" charset="0"/>
                <a:ea typeface="Segoe UI Semibold" pitchFamily="34" charset="-122"/>
                <a:cs typeface="Segoe UI Semibold" pitchFamily="34" charset="-120"/>
              </a:rPr>
              <a:t>14</a:t>
            </a:r>
            <a:endParaRPr lang="en-US" sz="1100" dirty="0"/>
          </a:p>
        </p:txBody>
      </p:sp>
      <p:sp>
        <p:nvSpPr>
          <p:cNvPr id="13" name="Text 11"/>
          <p:cNvSpPr/>
          <p:nvPr/>
        </p:nvSpPr>
        <p:spPr>
          <a:xfrm>
            <a:off x="548640" y="2638044"/>
            <a:ext cx="1691640" cy="420624"/>
          </a:xfrm>
          <a:prstGeom prst="rect">
            <a:avLst/>
          </a:prstGeom>
          <a:noFill/>
          <a:ln/>
        </p:spPr>
        <p:txBody>
          <a:bodyPr wrap="square" lIns="0" tIns="0" rIns="0" bIns="0" rtlCol="0" anchor="ctr"/>
          <a:lstStyle/>
          <a:p>
            <a:pPr marL="0" indent="0" algn="r">
              <a:buNone/>
            </a:pPr>
            <a:r>
              <a:rPr lang="en-US" sz="1050" dirty="0">
                <a:solidFill>
                  <a:srgbClr val="1A1E38"/>
                </a:solidFill>
                <a:latin typeface="Segoe UI" pitchFamily="34" charset="0"/>
                <a:ea typeface="Segoe UI" pitchFamily="34" charset="-122"/>
                <a:cs typeface="Segoe UI" pitchFamily="34" charset="-120"/>
              </a:rPr>
              <a:t>Safety Violation</a:t>
            </a:r>
            <a:endParaRPr lang="en-US" sz="1050" dirty="0"/>
          </a:p>
        </p:txBody>
      </p:sp>
      <p:sp>
        <p:nvSpPr>
          <p:cNvPr id="14" name="Shape 12"/>
          <p:cNvSpPr/>
          <p:nvPr/>
        </p:nvSpPr>
        <p:spPr>
          <a:xfrm>
            <a:off x="2331720" y="2683764"/>
            <a:ext cx="4160520" cy="329184"/>
          </a:xfrm>
          <a:prstGeom prst="roundRect">
            <a:avLst>
              <a:gd name="adj" fmla="val 8333"/>
            </a:avLst>
          </a:prstGeom>
          <a:solidFill>
            <a:srgbClr val="E8ECF7"/>
          </a:solidFill>
          <a:ln/>
        </p:spPr>
        <p:txBody>
          <a:bodyPr/>
          <a:lstStyle/>
          <a:p>
            <a:endParaRPr lang="en-IN"/>
          </a:p>
        </p:txBody>
      </p:sp>
      <p:sp>
        <p:nvSpPr>
          <p:cNvPr id="15" name="Shape 13"/>
          <p:cNvSpPr/>
          <p:nvPr/>
        </p:nvSpPr>
        <p:spPr>
          <a:xfrm>
            <a:off x="2331720" y="2683764"/>
            <a:ext cx="2080260" cy="329184"/>
          </a:xfrm>
          <a:prstGeom prst="roundRect">
            <a:avLst>
              <a:gd name="adj" fmla="val 8333"/>
            </a:avLst>
          </a:prstGeom>
          <a:solidFill>
            <a:srgbClr val="2A3576"/>
          </a:solidFill>
          <a:ln/>
        </p:spPr>
        <p:txBody>
          <a:bodyPr/>
          <a:lstStyle/>
          <a:p>
            <a:endParaRPr lang="en-IN"/>
          </a:p>
        </p:txBody>
      </p:sp>
      <p:sp>
        <p:nvSpPr>
          <p:cNvPr id="16" name="Text 14"/>
          <p:cNvSpPr/>
          <p:nvPr/>
        </p:nvSpPr>
        <p:spPr>
          <a:xfrm>
            <a:off x="4485132" y="2638044"/>
            <a:ext cx="457200" cy="420624"/>
          </a:xfrm>
          <a:prstGeom prst="rect">
            <a:avLst/>
          </a:prstGeom>
          <a:noFill/>
          <a:ln/>
        </p:spPr>
        <p:txBody>
          <a:bodyPr wrap="square" lIns="0" tIns="0" rIns="0" bIns="0" rtlCol="0" anchor="ctr"/>
          <a:lstStyle/>
          <a:p>
            <a:pPr marL="0" indent="0">
              <a:buNone/>
            </a:pPr>
            <a:r>
              <a:rPr lang="en-US" sz="1100" b="1" dirty="0">
                <a:solidFill>
                  <a:srgbClr val="1E2761"/>
                </a:solidFill>
                <a:latin typeface="Segoe UI Semibold" pitchFamily="34" charset="0"/>
                <a:ea typeface="Segoe UI Semibold" pitchFamily="34" charset="-122"/>
                <a:cs typeface="Segoe UI Semibold" pitchFamily="34" charset="-120"/>
              </a:rPr>
              <a:t>7</a:t>
            </a:r>
            <a:endParaRPr lang="en-US" sz="1100" dirty="0"/>
          </a:p>
        </p:txBody>
      </p:sp>
      <p:sp>
        <p:nvSpPr>
          <p:cNvPr id="17" name="Text 15"/>
          <p:cNvSpPr/>
          <p:nvPr/>
        </p:nvSpPr>
        <p:spPr>
          <a:xfrm>
            <a:off x="548640" y="3127248"/>
            <a:ext cx="1691640" cy="420624"/>
          </a:xfrm>
          <a:prstGeom prst="rect">
            <a:avLst/>
          </a:prstGeom>
          <a:noFill/>
          <a:ln/>
        </p:spPr>
        <p:txBody>
          <a:bodyPr wrap="square" lIns="0" tIns="0" rIns="0" bIns="0" rtlCol="0" anchor="ctr"/>
          <a:lstStyle/>
          <a:p>
            <a:pPr marL="0" indent="0" algn="r">
              <a:buNone/>
            </a:pPr>
            <a:r>
              <a:rPr lang="en-US" sz="1050" dirty="0">
                <a:solidFill>
                  <a:srgbClr val="1A1E38"/>
                </a:solidFill>
                <a:latin typeface="Segoe UI" pitchFamily="34" charset="0"/>
                <a:ea typeface="Segoe UI" pitchFamily="34" charset="-122"/>
                <a:cs typeface="Segoe UI" pitchFamily="34" charset="-120"/>
              </a:rPr>
              <a:t>Hallucination</a:t>
            </a:r>
            <a:endParaRPr lang="en-US" sz="1050" dirty="0"/>
          </a:p>
        </p:txBody>
      </p:sp>
      <p:sp>
        <p:nvSpPr>
          <p:cNvPr id="18" name="Shape 16"/>
          <p:cNvSpPr/>
          <p:nvPr/>
        </p:nvSpPr>
        <p:spPr>
          <a:xfrm>
            <a:off x="2331720" y="3172968"/>
            <a:ext cx="4160520" cy="329184"/>
          </a:xfrm>
          <a:prstGeom prst="roundRect">
            <a:avLst>
              <a:gd name="adj" fmla="val 8333"/>
            </a:avLst>
          </a:prstGeom>
          <a:solidFill>
            <a:srgbClr val="E8ECF7"/>
          </a:solidFill>
          <a:ln/>
        </p:spPr>
        <p:txBody>
          <a:bodyPr/>
          <a:lstStyle/>
          <a:p>
            <a:endParaRPr lang="en-IN"/>
          </a:p>
        </p:txBody>
      </p:sp>
      <p:sp>
        <p:nvSpPr>
          <p:cNvPr id="19" name="Shape 17"/>
          <p:cNvSpPr/>
          <p:nvPr/>
        </p:nvSpPr>
        <p:spPr>
          <a:xfrm>
            <a:off x="2331720" y="3172968"/>
            <a:ext cx="1188720" cy="329184"/>
          </a:xfrm>
          <a:prstGeom prst="roundRect">
            <a:avLst>
              <a:gd name="adj" fmla="val 8333"/>
            </a:avLst>
          </a:prstGeom>
          <a:solidFill>
            <a:srgbClr val="46508C"/>
          </a:solidFill>
          <a:ln/>
        </p:spPr>
        <p:txBody>
          <a:bodyPr/>
          <a:lstStyle/>
          <a:p>
            <a:endParaRPr lang="en-IN"/>
          </a:p>
        </p:txBody>
      </p:sp>
      <p:sp>
        <p:nvSpPr>
          <p:cNvPr id="20" name="Text 18"/>
          <p:cNvSpPr/>
          <p:nvPr/>
        </p:nvSpPr>
        <p:spPr>
          <a:xfrm>
            <a:off x="3593592" y="3127248"/>
            <a:ext cx="457200" cy="420624"/>
          </a:xfrm>
          <a:prstGeom prst="rect">
            <a:avLst/>
          </a:prstGeom>
          <a:noFill/>
          <a:ln/>
        </p:spPr>
        <p:txBody>
          <a:bodyPr wrap="square" lIns="0" tIns="0" rIns="0" bIns="0" rtlCol="0" anchor="ctr"/>
          <a:lstStyle/>
          <a:p>
            <a:pPr marL="0" indent="0">
              <a:buNone/>
            </a:pPr>
            <a:r>
              <a:rPr lang="en-US" sz="1100" b="1" dirty="0">
                <a:solidFill>
                  <a:srgbClr val="1E2761"/>
                </a:solidFill>
                <a:latin typeface="Segoe UI Semibold" pitchFamily="34" charset="0"/>
                <a:ea typeface="Segoe UI Semibold" pitchFamily="34" charset="-122"/>
                <a:cs typeface="Segoe UI Semibold" pitchFamily="34" charset="-120"/>
              </a:rPr>
              <a:t>4</a:t>
            </a:r>
            <a:endParaRPr lang="en-US" sz="1100" dirty="0"/>
          </a:p>
        </p:txBody>
      </p:sp>
      <p:sp>
        <p:nvSpPr>
          <p:cNvPr id="21" name="Text 19"/>
          <p:cNvSpPr/>
          <p:nvPr/>
        </p:nvSpPr>
        <p:spPr>
          <a:xfrm>
            <a:off x="548640" y="3616452"/>
            <a:ext cx="1691640" cy="420624"/>
          </a:xfrm>
          <a:prstGeom prst="rect">
            <a:avLst/>
          </a:prstGeom>
          <a:noFill/>
          <a:ln/>
        </p:spPr>
        <p:txBody>
          <a:bodyPr wrap="square" lIns="0" tIns="0" rIns="0" bIns="0" rtlCol="0" anchor="ctr"/>
          <a:lstStyle/>
          <a:p>
            <a:pPr marL="0" indent="0" algn="r">
              <a:buNone/>
            </a:pPr>
            <a:r>
              <a:rPr lang="en-US" sz="1050" dirty="0">
                <a:solidFill>
                  <a:srgbClr val="1A1E38"/>
                </a:solidFill>
                <a:latin typeface="Segoe UI" pitchFamily="34" charset="0"/>
                <a:ea typeface="Segoe UI" pitchFamily="34" charset="-122"/>
                <a:cs typeface="Segoe UI" pitchFamily="34" charset="-120"/>
              </a:rPr>
              <a:t>Bias</a:t>
            </a:r>
            <a:endParaRPr lang="en-US" sz="1050" dirty="0"/>
          </a:p>
        </p:txBody>
      </p:sp>
      <p:sp>
        <p:nvSpPr>
          <p:cNvPr id="22" name="Shape 20"/>
          <p:cNvSpPr/>
          <p:nvPr/>
        </p:nvSpPr>
        <p:spPr>
          <a:xfrm>
            <a:off x="2331720" y="3662172"/>
            <a:ext cx="4160520" cy="329184"/>
          </a:xfrm>
          <a:prstGeom prst="roundRect">
            <a:avLst>
              <a:gd name="adj" fmla="val 8333"/>
            </a:avLst>
          </a:prstGeom>
          <a:solidFill>
            <a:srgbClr val="E8ECF7"/>
          </a:solidFill>
          <a:ln/>
        </p:spPr>
        <p:txBody>
          <a:bodyPr/>
          <a:lstStyle/>
          <a:p>
            <a:endParaRPr lang="en-IN"/>
          </a:p>
        </p:txBody>
      </p:sp>
      <p:sp>
        <p:nvSpPr>
          <p:cNvPr id="23" name="Shape 21"/>
          <p:cNvSpPr/>
          <p:nvPr/>
        </p:nvSpPr>
        <p:spPr>
          <a:xfrm>
            <a:off x="2331720" y="3662172"/>
            <a:ext cx="1188720" cy="329184"/>
          </a:xfrm>
          <a:prstGeom prst="roundRect">
            <a:avLst>
              <a:gd name="adj" fmla="val 8333"/>
            </a:avLst>
          </a:prstGeom>
          <a:solidFill>
            <a:srgbClr val="46508C"/>
          </a:solidFill>
          <a:ln/>
        </p:spPr>
        <p:txBody>
          <a:bodyPr/>
          <a:lstStyle/>
          <a:p>
            <a:endParaRPr lang="en-IN"/>
          </a:p>
        </p:txBody>
      </p:sp>
      <p:sp>
        <p:nvSpPr>
          <p:cNvPr id="24" name="Text 22"/>
          <p:cNvSpPr/>
          <p:nvPr/>
        </p:nvSpPr>
        <p:spPr>
          <a:xfrm>
            <a:off x="3593592" y="3616452"/>
            <a:ext cx="457200" cy="420624"/>
          </a:xfrm>
          <a:prstGeom prst="rect">
            <a:avLst/>
          </a:prstGeom>
          <a:noFill/>
          <a:ln/>
        </p:spPr>
        <p:txBody>
          <a:bodyPr wrap="square" lIns="0" tIns="0" rIns="0" bIns="0" rtlCol="0" anchor="ctr"/>
          <a:lstStyle/>
          <a:p>
            <a:pPr marL="0" indent="0">
              <a:buNone/>
            </a:pPr>
            <a:r>
              <a:rPr lang="en-US" sz="1100" b="1" dirty="0">
                <a:solidFill>
                  <a:srgbClr val="1E2761"/>
                </a:solidFill>
                <a:latin typeface="Segoe UI Semibold" pitchFamily="34" charset="0"/>
                <a:ea typeface="Segoe UI Semibold" pitchFamily="34" charset="-122"/>
                <a:cs typeface="Segoe UI Semibold" pitchFamily="34" charset="-120"/>
              </a:rPr>
              <a:t>4</a:t>
            </a:r>
            <a:endParaRPr lang="en-US" sz="1100" dirty="0"/>
          </a:p>
        </p:txBody>
      </p:sp>
      <p:sp>
        <p:nvSpPr>
          <p:cNvPr id="25" name="Text 23"/>
          <p:cNvSpPr/>
          <p:nvPr/>
        </p:nvSpPr>
        <p:spPr>
          <a:xfrm>
            <a:off x="548640" y="4105656"/>
            <a:ext cx="1691640" cy="420624"/>
          </a:xfrm>
          <a:prstGeom prst="rect">
            <a:avLst/>
          </a:prstGeom>
          <a:noFill/>
          <a:ln/>
        </p:spPr>
        <p:txBody>
          <a:bodyPr wrap="square" lIns="0" tIns="0" rIns="0" bIns="0" rtlCol="0" anchor="ctr"/>
          <a:lstStyle/>
          <a:p>
            <a:pPr marL="0" indent="0" algn="r">
              <a:buNone/>
            </a:pPr>
            <a:r>
              <a:rPr lang="en-US" sz="1050" dirty="0">
                <a:solidFill>
                  <a:srgbClr val="1A1E38"/>
                </a:solidFill>
                <a:latin typeface="Segoe UI" pitchFamily="34" charset="0"/>
                <a:ea typeface="Segoe UI" pitchFamily="34" charset="-122"/>
                <a:cs typeface="Segoe UI" pitchFamily="34" charset="-120"/>
              </a:rPr>
              <a:t>Policy Violation</a:t>
            </a:r>
            <a:endParaRPr lang="en-US" sz="1050" dirty="0"/>
          </a:p>
        </p:txBody>
      </p:sp>
      <p:sp>
        <p:nvSpPr>
          <p:cNvPr id="26" name="Shape 24"/>
          <p:cNvSpPr/>
          <p:nvPr/>
        </p:nvSpPr>
        <p:spPr>
          <a:xfrm>
            <a:off x="2331720" y="4151376"/>
            <a:ext cx="4160520" cy="329184"/>
          </a:xfrm>
          <a:prstGeom prst="roundRect">
            <a:avLst>
              <a:gd name="adj" fmla="val 8333"/>
            </a:avLst>
          </a:prstGeom>
          <a:solidFill>
            <a:srgbClr val="E8ECF7"/>
          </a:solidFill>
          <a:ln/>
        </p:spPr>
        <p:txBody>
          <a:bodyPr/>
          <a:lstStyle/>
          <a:p>
            <a:endParaRPr lang="en-IN"/>
          </a:p>
        </p:txBody>
      </p:sp>
      <p:sp>
        <p:nvSpPr>
          <p:cNvPr id="27" name="Shape 25"/>
          <p:cNvSpPr/>
          <p:nvPr/>
        </p:nvSpPr>
        <p:spPr>
          <a:xfrm>
            <a:off x="2331720" y="4151376"/>
            <a:ext cx="594360" cy="329184"/>
          </a:xfrm>
          <a:prstGeom prst="roundRect">
            <a:avLst>
              <a:gd name="adj" fmla="val 8333"/>
            </a:avLst>
          </a:prstGeom>
          <a:solidFill>
            <a:srgbClr val="46508C"/>
          </a:solidFill>
          <a:ln/>
        </p:spPr>
        <p:txBody>
          <a:bodyPr/>
          <a:lstStyle/>
          <a:p>
            <a:endParaRPr lang="en-IN"/>
          </a:p>
        </p:txBody>
      </p:sp>
      <p:sp>
        <p:nvSpPr>
          <p:cNvPr id="28" name="Text 26"/>
          <p:cNvSpPr/>
          <p:nvPr/>
        </p:nvSpPr>
        <p:spPr>
          <a:xfrm>
            <a:off x="2999232" y="4105656"/>
            <a:ext cx="457200" cy="420624"/>
          </a:xfrm>
          <a:prstGeom prst="rect">
            <a:avLst/>
          </a:prstGeom>
          <a:noFill/>
          <a:ln/>
        </p:spPr>
        <p:txBody>
          <a:bodyPr wrap="square" lIns="0" tIns="0" rIns="0" bIns="0" rtlCol="0" anchor="ctr"/>
          <a:lstStyle/>
          <a:p>
            <a:pPr marL="0" indent="0">
              <a:buNone/>
            </a:pPr>
            <a:r>
              <a:rPr lang="en-US" sz="1100" b="1" dirty="0">
                <a:solidFill>
                  <a:srgbClr val="1E2761"/>
                </a:solidFill>
                <a:latin typeface="Segoe UI Semibold" pitchFamily="34" charset="0"/>
                <a:ea typeface="Segoe UI Semibold" pitchFamily="34" charset="-122"/>
                <a:cs typeface="Segoe UI Semibold" pitchFamily="34" charset="-120"/>
              </a:rPr>
              <a:t>2</a:t>
            </a:r>
            <a:endParaRPr lang="en-US" sz="1100" dirty="0"/>
          </a:p>
        </p:txBody>
      </p:sp>
      <p:sp>
        <p:nvSpPr>
          <p:cNvPr id="29" name="Text 27"/>
          <p:cNvSpPr/>
          <p:nvPr/>
        </p:nvSpPr>
        <p:spPr>
          <a:xfrm>
            <a:off x="548640" y="4594860"/>
            <a:ext cx="1691640" cy="420624"/>
          </a:xfrm>
          <a:prstGeom prst="rect">
            <a:avLst/>
          </a:prstGeom>
          <a:noFill/>
          <a:ln/>
        </p:spPr>
        <p:txBody>
          <a:bodyPr wrap="square" lIns="0" tIns="0" rIns="0" bIns="0" rtlCol="0" anchor="ctr"/>
          <a:lstStyle/>
          <a:p>
            <a:pPr marL="0" indent="0" algn="r">
              <a:buNone/>
            </a:pPr>
            <a:r>
              <a:rPr lang="en-US" sz="1050" dirty="0">
                <a:solidFill>
                  <a:srgbClr val="1A1E38"/>
                </a:solidFill>
                <a:latin typeface="Segoe UI" pitchFamily="34" charset="0"/>
                <a:ea typeface="Segoe UI" pitchFamily="34" charset="-122"/>
                <a:cs typeface="Segoe UI" pitchFamily="34" charset="-120"/>
              </a:rPr>
              <a:t>Tone Issue</a:t>
            </a:r>
            <a:endParaRPr lang="en-US" sz="1050" dirty="0"/>
          </a:p>
        </p:txBody>
      </p:sp>
      <p:sp>
        <p:nvSpPr>
          <p:cNvPr id="30" name="Shape 28"/>
          <p:cNvSpPr/>
          <p:nvPr/>
        </p:nvSpPr>
        <p:spPr>
          <a:xfrm>
            <a:off x="2331720" y="4640580"/>
            <a:ext cx="4160520" cy="329184"/>
          </a:xfrm>
          <a:prstGeom prst="roundRect">
            <a:avLst>
              <a:gd name="adj" fmla="val 8333"/>
            </a:avLst>
          </a:prstGeom>
          <a:solidFill>
            <a:srgbClr val="E8ECF7"/>
          </a:solidFill>
          <a:ln/>
        </p:spPr>
        <p:txBody>
          <a:bodyPr/>
          <a:lstStyle/>
          <a:p>
            <a:endParaRPr lang="en-IN"/>
          </a:p>
        </p:txBody>
      </p:sp>
      <p:sp>
        <p:nvSpPr>
          <p:cNvPr id="31" name="Shape 29"/>
          <p:cNvSpPr/>
          <p:nvPr/>
        </p:nvSpPr>
        <p:spPr>
          <a:xfrm>
            <a:off x="2331720" y="4640580"/>
            <a:ext cx="297180" cy="329184"/>
          </a:xfrm>
          <a:prstGeom prst="roundRect">
            <a:avLst>
              <a:gd name="adj" fmla="val 9231"/>
            </a:avLst>
          </a:prstGeom>
          <a:solidFill>
            <a:srgbClr val="46508C"/>
          </a:solidFill>
          <a:ln/>
        </p:spPr>
        <p:txBody>
          <a:bodyPr/>
          <a:lstStyle/>
          <a:p>
            <a:endParaRPr lang="en-IN"/>
          </a:p>
        </p:txBody>
      </p:sp>
      <p:sp>
        <p:nvSpPr>
          <p:cNvPr id="32" name="Text 30"/>
          <p:cNvSpPr/>
          <p:nvPr/>
        </p:nvSpPr>
        <p:spPr>
          <a:xfrm>
            <a:off x="2702052" y="4594860"/>
            <a:ext cx="457200" cy="420624"/>
          </a:xfrm>
          <a:prstGeom prst="rect">
            <a:avLst/>
          </a:prstGeom>
          <a:noFill/>
          <a:ln/>
        </p:spPr>
        <p:txBody>
          <a:bodyPr wrap="square" lIns="0" tIns="0" rIns="0" bIns="0" rtlCol="0" anchor="ctr"/>
          <a:lstStyle/>
          <a:p>
            <a:pPr marL="0" indent="0">
              <a:buNone/>
            </a:pPr>
            <a:r>
              <a:rPr lang="en-US" sz="1100" b="1" dirty="0">
                <a:solidFill>
                  <a:srgbClr val="1E2761"/>
                </a:solidFill>
                <a:latin typeface="Segoe UI Semibold" pitchFamily="34" charset="0"/>
                <a:ea typeface="Segoe UI Semibold" pitchFamily="34" charset="-122"/>
                <a:cs typeface="Segoe UI Semibold" pitchFamily="34" charset="-120"/>
              </a:rPr>
              <a:t>1</a:t>
            </a:r>
            <a:endParaRPr lang="en-US" sz="1100" dirty="0"/>
          </a:p>
        </p:txBody>
      </p:sp>
      <p:sp>
        <p:nvSpPr>
          <p:cNvPr id="33" name="Text 31"/>
          <p:cNvSpPr/>
          <p:nvPr/>
        </p:nvSpPr>
        <p:spPr>
          <a:xfrm>
            <a:off x="548640" y="5084064"/>
            <a:ext cx="1691640" cy="420624"/>
          </a:xfrm>
          <a:prstGeom prst="rect">
            <a:avLst/>
          </a:prstGeom>
          <a:noFill/>
          <a:ln/>
        </p:spPr>
        <p:txBody>
          <a:bodyPr wrap="square" lIns="0" tIns="0" rIns="0" bIns="0" rtlCol="0" anchor="ctr"/>
          <a:lstStyle/>
          <a:p>
            <a:pPr marL="0" indent="0" algn="r">
              <a:buNone/>
            </a:pPr>
            <a:r>
              <a:rPr lang="en-US" sz="1050" dirty="0">
                <a:solidFill>
                  <a:srgbClr val="1A1E38"/>
                </a:solidFill>
                <a:latin typeface="Segoe UI" pitchFamily="34" charset="0"/>
                <a:ea typeface="Segoe UI" pitchFamily="34" charset="-122"/>
                <a:cs typeface="Segoe UI" pitchFamily="34" charset="-120"/>
              </a:rPr>
              <a:t>Incomplete Answer</a:t>
            </a:r>
            <a:endParaRPr lang="en-US" sz="1050" dirty="0"/>
          </a:p>
        </p:txBody>
      </p:sp>
      <p:sp>
        <p:nvSpPr>
          <p:cNvPr id="34" name="Shape 32"/>
          <p:cNvSpPr/>
          <p:nvPr/>
        </p:nvSpPr>
        <p:spPr>
          <a:xfrm>
            <a:off x="2331720" y="5129784"/>
            <a:ext cx="4160520" cy="329184"/>
          </a:xfrm>
          <a:prstGeom prst="roundRect">
            <a:avLst>
              <a:gd name="adj" fmla="val 8333"/>
            </a:avLst>
          </a:prstGeom>
          <a:solidFill>
            <a:srgbClr val="E8ECF7"/>
          </a:solidFill>
          <a:ln/>
        </p:spPr>
        <p:txBody>
          <a:bodyPr/>
          <a:lstStyle/>
          <a:p>
            <a:endParaRPr lang="en-IN"/>
          </a:p>
        </p:txBody>
      </p:sp>
      <p:sp>
        <p:nvSpPr>
          <p:cNvPr id="35" name="Shape 33"/>
          <p:cNvSpPr/>
          <p:nvPr/>
        </p:nvSpPr>
        <p:spPr>
          <a:xfrm>
            <a:off x="2331720" y="5129784"/>
            <a:ext cx="297180" cy="329184"/>
          </a:xfrm>
          <a:prstGeom prst="roundRect">
            <a:avLst>
              <a:gd name="adj" fmla="val 9231"/>
            </a:avLst>
          </a:prstGeom>
          <a:solidFill>
            <a:srgbClr val="46508C"/>
          </a:solidFill>
          <a:ln/>
        </p:spPr>
        <p:txBody>
          <a:bodyPr/>
          <a:lstStyle/>
          <a:p>
            <a:endParaRPr lang="en-IN"/>
          </a:p>
        </p:txBody>
      </p:sp>
      <p:sp>
        <p:nvSpPr>
          <p:cNvPr id="36" name="Text 34"/>
          <p:cNvSpPr/>
          <p:nvPr/>
        </p:nvSpPr>
        <p:spPr>
          <a:xfrm>
            <a:off x="2702052" y="5084064"/>
            <a:ext cx="457200" cy="420624"/>
          </a:xfrm>
          <a:prstGeom prst="rect">
            <a:avLst/>
          </a:prstGeom>
          <a:noFill/>
          <a:ln/>
        </p:spPr>
        <p:txBody>
          <a:bodyPr wrap="square" lIns="0" tIns="0" rIns="0" bIns="0" rtlCol="0" anchor="ctr"/>
          <a:lstStyle/>
          <a:p>
            <a:pPr marL="0" indent="0">
              <a:buNone/>
            </a:pPr>
            <a:r>
              <a:rPr lang="en-US" sz="1100" b="1" dirty="0">
                <a:solidFill>
                  <a:srgbClr val="1E2761"/>
                </a:solidFill>
                <a:latin typeface="Segoe UI Semibold" pitchFamily="34" charset="0"/>
                <a:ea typeface="Segoe UI Semibold" pitchFamily="34" charset="-122"/>
                <a:cs typeface="Segoe UI Semibold" pitchFamily="34" charset="-120"/>
              </a:rPr>
              <a:t>1</a:t>
            </a:r>
            <a:endParaRPr lang="en-US" sz="1100" dirty="0"/>
          </a:p>
        </p:txBody>
      </p:sp>
      <p:sp>
        <p:nvSpPr>
          <p:cNvPr id="37" name="Text 35"/>
          <p:cNvSpPr/>
          <p:nvPr/>
        </p:nvSpPr>
        <p:spPr>
          <a:xfrm>
            <a:off x="548640" y="5573268"/>
            <a:ext cx="1691640" cy="420624"/>
          </a:xfrm>
          <a:prstGeom prst="rect">
            <a:avLst/>
          </a:prstGeom>
          <a:noFill/>
          <a:ln/>
        </p:spPr>
        <p:txBody>
          <a:bodyPr wrap="square" lIns="0" tIns="0" rIns="0" bIns="0" rtlCol="0" anchor="ctr"/>
          <a:lstStyle/>
          <a:p>
            <a:pPr marL="0" indent="0" algn="r">
              <a:buNone/>
            </a:pPr>
            <a:r>
              <a:rPr lang="en-US" sz="1050" dirty="0">
                <a:solidFill>
                  <a:srgbClr val="1A1E38"/>
                </a:solidFill>
                <a:latin typeface="Segoe UI" pitchFamily="34" charset="0"/>
                <a:ea typeface="Segoe UI" pitchFamily="34" charset="-122"/>
                <a:cs typeface="Segoe UI" pitchFamily="34" charset="-120"/>
              </a:rPr>
              <a:t>Instr. Follow. Fail.</a:t>
            </a:r>
            <a:endParaRPr lang="en-US" sz="1050" dirty="0"/>
          </a:p>
        </p:txBody>
      </p:sp>
      <p:sp>
        <p:nvSpPr>
          <p:cNvPr id="38" name="Shape 36"/>
          <p:cNvSpPr/>
          <p:nvPr/>
        </p:nvSpPr>
        <p:spPr>
          <a:xfrm>
            <a:off x="2331720" y="5618988"/>
            <a:ext cx="4160520" cy="329184"/>
          </a:xfrm>
          <a:prstGeom prst="roundRect">
            <a:avLst>
              <a:gd name="adj" fmla="val 8333"/>
            </a:avLst>
          </a:prstGeom>
          <a:solidFill>
            <a:srgbClr val="E8ECF7"/>
          </a:solidFill>
          <a:ln/>
        </p:spPr>
        <p:txBody>
          <a:bodyPr/>
          <a:lstStyle/>
          <a:p>
            <a:endParaRPr lang="en-IN"/>
          </a:p>
        </p:txBody>
      </p:sp>
      <p:sp>
        <p:nvSpPr>
          <p:cNvPr id="39" name="Shape 37"/>
          <p:cNvSpPr/>
          <p:nvPr/>
        </p:nvSpPr>
        <p:spPr>
          <a:xfrm>
            <a:off x="2331720" y="5618988"/>
            <a:ext cx="297180" cy="329184"/>
          </a:xfrm>
          <a:prstGeom prst="roundRect">
            <a:avLst>
              <a:gd name="adj" fmla="val 9231"/>
            </a:avLst>
          </a:prstGeom>
          <a:solidFill>
            <a:srgbClr val="46508C"/>
          </a:solidFill>
          <a:ln/>
        </p:spPr>
        <p:txBody>
          <a:bodyPr/>
          <a:lstStyle/>
          <a:p>
            <a:endParaRPr lang="en-IN"/>
          </a:p>
        </p:txBody>
      </p:sp>
      <p:sp>
        <p:nvSpPr>
          <p:cNvPr id="40" name="Text 38"/>
          <p:cNvSpPr/>
          <p:nvPr/>
        </p:nvSpPr>
        <p:spPr>
          <a:xfrm>
            <a:off x="2702052" y="5573268"/>
            <a:ext cx="457200" cy="420624"/>
          </a:xfrm>
          <a:prstGeom prst="rect">
            <a:avLst/>
          </a:prstGeom>
          <a:noFill/>
          <a:ln/>
        </p:spPr>
        <p:txBody>
          <a:bodyPr wrap="square" lIns="0" tIns="0" rIns="0" bIns="0" rtlCol="0" anchor="ctr"/>
          <a:lstStyle/>
          <a:p>
            <a:pPr marL="0" indent="0">
              <a:buNone/>
            </a:pPr>
            <a:r>
              <a:rPr lang="en-US" sz="1100" b="1" dirty="0">
                <a:solidFill>
                  <a:srgbClr val="1E2761"/>
                </a:solidFill>
                <a:latin typeface="Segoe UI Semibold" pitchFamily="34" charset="0"/>
                <a:ea typeface="Segoe UI Semibold" pitchFamily="34" charset="-122"/>
                <a:cs typeface="Segoe UI Semibold" pitchFamily="34" charset="-120"/>
              </a:rPr>
              <a:t>1</a:t>
            </a:r>
            <a:endParaRPr lang="en-US" sz="1100" dirty="0"/>
          </a:p>
        </p:txBody>
      </p:sp>
      <p:sp>
        <p:nvSpPr>
          <p:cNvPr id="41" name="Shape 39"/>
          <p:cNvSpPr/>
          <p:nvPr/>
        </p:nvSpPr>
        <p:spPr>
          <a:xfrm>
            <a:off x="7635240" y="2011680"/>
            <a:ext cx="3931920" cy="4023360"/>
          </a:xfrm>
          <a:prstGeom prst="roundRect">
            <a:avLst>
              <a:gd name="adj" fmla="val 1860"/>
            </a:avLst>
          </a:prstGeom>
          <a:solidFill>
            <a:srgbClr val="1E2761"/>
          </a:solidFill>
          <a:ln/>
        </p:spPr>
        <p:txBody>
          <a:bodyPr/>
          <a:lstStyle/>
          <a:p>
            <a:endParaRPr lang="en-IN"/>
          </a:p>
        </p:txBody>
      </p:sp>
      <p:sp>
        <p:nvSpPr>
          <p:cNvPr id="42" name="Text 40"/>
          <p:cNvSpPr/>
          <p:nvPr/>
        </p:nvSpPr>
        <p:spPr>
          <a:xfrm>
            <a:off x="7863840" y="2240280"/>
            <a:ext cx="3474720" cy="274320"/>
          </a:xfrm>
          <a:prstGeom prst="rect">
            <a:avLst/>
          </a:prstGeom>
          <a:noFill/>
          <a:ln/>
        </p:spPr>
        <p:txBody>
          <a:bodyPr wrap="square" rtlCol="0" anchor="ctr"/>
          <a:lstStyle/>
          <a:p>
            <a:pPr marL="0" indent="0">
              <a:buNone/>
            </a:pPr>
            <a:r>
              <a:rPr lang="en-US" sz="1200" b="1" kern="0" spc="150" dirty="0">
                <a:solidFill>
                  <a:srgbClr val="F4B740"/>
                </a:solidFill>
                <a:latin typeface="Segoe UI Semibold" pitchFamily="34" charset="0"/>
                <a:ea typeface="Segoe UI Semibold" pitchFamily="34" charset="-122"/>
                <a:cs typeface="Segoe UI Semibold" pitchFamily="34" charset="-120"/>
              </a:rPr>
              <a:t>THE DASHBOARD SURFACES</a:t>
            </a:r>
            <a:endParaRPr lang="en-US" sz="1200" dirty="0"/>
          </a:p>
        </p:txBody>
      </p:sp>
      <p:sp>
        <p:nvSpPr>
          <p:cNvPr id="43" name="Shape 41"/>
          <p:cNvSpPr/>
          <p:nvPr/>
        </p:nvSpPr>
        <p:spPr>
          <a:xfrm>
            <a:off x="7863840" y="2697480"/>
            <a:ext cx="457200" cy="457200"/>
          </a:xfrm>
          <a:prstGeom prst="roundRect">
            <a:avLst>
              <a:gd name="adj" fmla="val 16000"/>
            </a:avLst>
          </a:prstGeom>
          <a:solidFill>
            <a:srgbClr val="CADCFC"/>
          </a:solidFill>
          <a:ln/>
          <a:effectLst>
            <a:outerShdw blurRad="76200" dist="25400" dir="5400000" algn="bl" rotWithShape="0">
              <a:srgbClr val="8892B0">
                <a:alpha val="30000"/>
              </a:srgbClr>
            </a:outerShdw>
          </a:effectLst>
        </p:spPr>
        <p:txBody>
          <a:bodyPr/>
          <a:lstStyle/>
          <a:p>
            <a:endParaRPr lang="en-IN"/>
          </a:p>
        </p:txBody>
      </p:sp>
      <p:pic>
        <p:nvPicPr>
          <p:cNvPr id="44" name="Image 0" descr="preencoded.png"/>
          <p:cNvPicPr>
            <a:picLocks noChangeAspect="1"/>
          </p:cNvPicPr>
          <p:nvPr/>
        </p:nvPicPr>
        <p:blipFill>
          <a:blip r:embed="rId3"/>
          <a:stretch>
            <a:fillRect/>
          </a:stretch>
        </p:blipFill>
        <p:spPr>
          <a:xfrm>
            <a:off x="7973568" y="2807208"/>
            <a:ext cx="237744" cy="237744"/>
          </a:xfrm>
          <a:prstGeom prst="rect">
            <a:avLst/>
          </a:prstGeom>
        </p:spPr>
      </p:pic>
      <p:sp>
        <p:nvSpPr>
          <p:cNvPr id="45" name="Text 42"/>
          <p:cNvSpPr/>
          <p:nvPr/>
        </p:nvSpPr>
        <p:spPr>
          <a:xfrm>
            <a:off x="8458200" y="2679192"/>
            <a:ext cx="2926080" cy="320040"/>
          </a:xfrm>
          <a:prstGeom prst="rect">
            <a:avLst/>
          </a:prstGeom>
          <a:noFill/>
          <a:ln/>
        </p:spPr>
        <p:txBody>
          <a:bodyPr wrap="square" rtlCol="0" anchor="ctr"/>
          <a:lstStyle/>
          <a:p>
            <a:pPr marL="0" indent="0">
              <a:buNone/>
            </a:pPr>
            <a:r>
              <a:rPr lang="en-US" sz="1350" b="1" dirty="0">
                <a:solidFill>
                  <a:srgbClr val="FFFFFF"/>
                </a:solidFill>
                <a:latin typeface="Segoe UI Semibold" pitchFamily="34" charset="0"/>
                <a:ea typeface="Segoe UI Semibold" pitchFamily="34" charset="-122"/>
                <a:cs typeface="Segoe UI Semibold" pitchFamily="34" charset="-120"/>
              </a:rPr>
              <a:t>KPI scorecard</a:t>
            </a:r>
            <a:endParaRPr lang="en-US" sz="1350" dirty="0"/>
          </a:p>
        </p:txBody>
      </p:sp>
      <p:sp>
        <p:nvSpPr>
          <p:cNvPr id="46" name="Text 43"/>
          <p:cNvSpPr/>
          <p:nvPr/>
        </p:nvSpPr>
        <p:spPr>
          <a:xfrm>
            <a:off x="8458200" y="2999232"/>
            <a:ext cx="2926080" cy="365760"/>
          </a:xfrm>
          <a:prstGeom prst="rect">
            <a:avLst/>
          </a:prstGeom>
          <a:noFill/>
          <a:ln/>
        </p:spPr>
        <p:txBody>
          <a:bodyPr wrap="square" rtlCol="0" anchor="ctr"/>
          <a:lstStyle/>
          <a:p>
            <a:pPr marL="0" indent="0">
              <a:buNone/>
            </a:pPr>
            <a:r>
              <a:rPr lang="en-US" sz="1050" dirty="0">
                <a:solidFill>
                  <a:srgbClr val="CADCFC"/>
                </a:solidFill>
                <a:latin typeface="Segoe UI" pitchFamily="34" charset="0"/>
                <a:ea typeface="Segoe UI" pitchFamily="34" charset="-122"/>
                <a:cs typeface="Segoe UI" pitchFamily="34" charset="-120"/>
              </a:rPr>
              <a:t>Seven headline metrics against target</a:t>
            </a:r>
            <a:endParaRPr lang="en-US" sz="1050" dirty="0"/>
          </a:p>
        </p:txBody>
      </p:sp>
      <p:sp>
        <p:nvSpPr>
          <p:cNvPr id="47" name="Shape 44"/>
          <p:cNvSpPr/>
          <p:nvPr/>
        </p:nvSpPr>
        <p:spPr>
          <a:xfrm>
            <a:off x="7863840" y="3493008"/>
            <a:ext cx="457200" cy="457200"/>
          </a:xfrm>
          <a:prstGeom prst="roundRect">
            <a:avLst>
              <a:gd name="adj" fmla="val 16000"/>
            </a:avLst>
          </a:prstGeom>
          <a:solidFill>
            <a:srgbClr val="CADCFC"/>
          </a:solidFill>
          <a:ln/>
          <a:effectLst>
            <a:outerShdw blurRad="76200" dist="25400" dir="5400000" algn="bl" rotWithShape="0">
              <a:srgbClr val="8892B0">
                <a:alpha val="30000"/>
              </a:srgbClr>
            </a:outerShdw>
          </a:effectLst>
        </p:spPr>
        <p:txBody>
          <a:bodyPr/>
          <a:lstStyle/>
          <a:p>
            <a:endParaRPr lang="en-IN"/>
          </a:p>
        </p:txBody>
      </p:sp>
      <p:pic>
        <p:nvPicPr>
          <p:cNvPr id="48" name="Image 1" descr="preencoded.png"/>
          <p:cNvPicPr>
            <a:picLocks noChangeAspect="1"/>
          </p:cNvPicPr>
          <p:nvPr/>
        </p:nvPicPr>
        <p:blipFill>
          <a:blip r:embed="rId4"/>
          <a:stretch>
            <a:fillRect/>
          </a:stretch>
        </p:blipFill>
        <p:spPr>
          <a:xfrm>
            <a:off x="7973568" y="3602736"/>
            <a:ext cx="237744" cy="237744"/>
          </a:xfrm>
          <a:prstGeom prst="rect">
            <a:avLst/>
          </a:prstGeom>
        </p:spPr>
      </p:pic>
      <p:sp>
        <p:nvSpPr>
          <p:cNvPr id="49" name="Text 45"/>
          <p:cNvSpPr/>
          <p:nvPr/>
        </p:nvSpPr>
        <p:spPr>
          <a:xfrm>
            <a:off x="8458200" y="3474720"/>
            <a:ext cx="2926080" cy="320040"/>
          </a:xfrm>
          <a:prstGeom prst="rect">
            <a:avLst/>
          </a:prstGeom>
          <a:noFill/>
          <a:ln/>
        </p:spPr>
        <p:txBody>
          <a:bodyPr wrap="square" rtlCol="0" anchor="ctr"/>
          <a:lstStyle/>
          <a:p>
            <a:pPr marL="0" indent="0">
              <a:buNone/>
            </a:pPr>
            <a:r>
              <a:rPr lang="en-US" sz="1350" b="1" dirty="0">
                <a:solidFill>
                  <a:srgbClr val="FFFFFF"/>
                </a:solidFill>
                <a:latin typeface="Segoe UI Semibold" pitchFamily="34" charset="0"/>
                <a:ea typeface="Segoe UI Semibold" pitchFamily="34" charset="-122"/>
                <a:cs typeface="Segoe UI Semibold" pitchFamily="34" charset="-120"/>
              </a:rPr>
              <a:t>Error distribution</a:t>
            </a:r>
            <a:endParaRPr lang="en-US" sz="1350" dirty="0"/>
          </a:p>
        </p:txBody>
      </p:sp>
      <p:sp>
        <p:nvSpPr>
          <p:cNvPr id="50" name="Text 46"/>
          <p:cNvSpPr/>
          <p:nvPr/>
        </p:nvSpPr>
        <p:spPr>
          <a:xfrm>
            <a:off x="8458200" y="3794760"/>
            <a:ext cx="2926080" cy="365760"/>
          </a:xfrm>
          <a:prstGeom prst="rect">
            <a:avLst/>
          </a:prstGeom>
          <a:noFill/>
          <a:ln/>
        </p:spPr>
        <p:txBody>
          <a:bodyPr wrap="square" rtlCol="0" anchor="ctr"/>
          <a:lstStyle/>
          <a:p>
            <a:pPr marL="0" indent="0">
              <a:buNone/>
            </a:pPr>
            <a:r>
              <a:rPr lang="en-US" sz="1050" dirty="0">
                <a:solidFill>
                  <a:srgbClr val="CADCFC"/>
                </a:solidFill>
                <a:latin typeface="Segoe UI" pitchFamily="34" charset="0"/>
                <a:ea typeface="Segoe UI" pitchFamily="34" charset="-122"/>
                <a:cs typeface="Segoe UI" pitchFamily="34" charset="-120"/>
              </a:rPr>
              <a:t>Where quality issues concentrate</a:t>
            </a:r>
            <a:endParaRPr lang="en-US" sz="1050" dirty="0"/>
          </a:p>
        </p:txBody>
      </p:sp>
      <p:sp>
        <p:nvSpPr>
          <p:cNvPr id="51" name="Shape 47"/>
          <p:cNvSpPr/>
          <p:nvPr/>
        </p:nvSpPr>
        <p:spPr>
          <a:xfrm>
            <a:off x="7863840" y="4288536"/>
            <a:ext cx="457200" cy="457200"/>
          </a:xfrm>
          <a:prstGeom prst="roundRect">
            <a:avLst>
              <a:gd name="adj" fmla="val 16000"/>
            </a:avLst>
          </a:prstGeom>
          <a:solidFill>
            <a:srgbClr val="CADCFC"/>
          </a:solidFill>
          <a:ln/>
          <a:effectLst>
            <a:outerShdw blurRad="76200" dist="25400" dir="5400000" algn="bl" rotWithShape="0">
              <a:srgbClr val="8892B0">
                <a:alpha val="30000"/>
              </a:srgbClr>
            </a:outerShdw>
          </a:effectLst>
        </p:spPr>
        <p:txBody>
          <a:bodyPr/>
          <a:lstStyle/>
          <a:p>
            <a:endParaRPr lang="en-IN"/>
          </a:p>
        </p:txBody>
      </p:sp>
      <p:pic>
        <p:nvPicPr>
          <p:cNvPr id="52" name="Image 2" descr="preencoded.png"/>
          <p:cNvPicPr>
            <a:picLocks noChangeAspect="1"/>
          </p:cNvPicPr>
          <p:nvPr/>
        </p:nvPicPr>
        <p:blipFill>
          <a:blip r:embed="rId5"/>
          <a:stretch>
            <a:fillRect/>
          </a:stretch>
        </p:blipFill>
        <p:spPr>
          <a:xfrm>
            <a:off x="7973568" y="4398264"/>
            <a:ext cx="237744" cy="237744"/>
          </a:xfrm>
          <a:prstGeom prst="rect">
            <a:avLst/>
          </a:prstGeom>
        </p:spPr>
      </p:pic>
      <p:sp>
        <p:nvSpPr>
          <p:cNvPr id="53" name="Text 48"/>
          <p:cNvSpPr/>
          <p:nvPr/>
        </p:nvSpPr>
        <p:spPr>
          <a:xfrm>
            <a:off x="8458200" y="4270248"/>
            <a:ext cx="2926080" cy="320040"/>
          </a:xfrm>
          <a:prstGeom prst="rect">
            <a:avLst/>
          </a:prstGeom>
          <a:noFill/>
          <a:ln/>
        </p:spPr>
        <p:txBody>
          <a:bodyPr wrap="square" rtlCol="0" anchor="ctr"/>
          <a:lstStyle/>
          <a:p>
            <a:pPr marL="0" indent="0">
              <a:buNone/>
            </a:pPr>
            <a:r>
              <a:rPr lang="en-US" sz="1350" b="1" dirty="0">
                <a:solidFill>
                  <a:srgbClr val="FFFFFF"/>
                </a:solidFill>
                <a:latin typeface="Segoe UI Semibold" pitchFamily="34" charset="0"/>
                <a:ea typeface="Segoe UI Semibold" pitchFamily="34" charset="-122"/>
                <a:cs typeface="Segoe UI Semibold" pitchFamily="34" charset="-120"/>
              </a:rPr>
              <a:t>Continuous improvement</a:t>
            </a:r>
            <a:endParaRPr lang="en-US" sz="1350" dirty="0"/>
          </a:p>
        </p:txBody>
      </p:sp>
      <p:sp>
        <p:nvSpPr>
          <p:cNvPr id="54" name="Text 49"/>
          <p:cNvSpPr/>
          <p:nvPr/>
        </p:nvSpPr>
        <p:spPr>
          <a:xfrm>
            <a:off x="8458200" y="4590288"/>
            <a:ext cx="2926080" cy="365760"/>
          </a:xfrm>
          <a:prstGeom prst="rect">
            <a:avLst/>
          </a:prstGeom>
          <a:noFill/>
          <a:ln/>
        </p:spPr>
        <p:txBody>
          <a:bodyPr wrap="square" rtlCol="0" anchor="ctr"/>
          <a:lstStyle/>
          <a:p>
            <a:pPr marL="0" indent="0">
              <a:buNone/>
            </a:pPr>
            <a:r>
              <a:rPr lang="en-US" sz="1050" dirty="0">
                <a:solidFill>
                  <a:srgbClr val="CADCFC"/>
                </a:solidFill>
                <a:latin typeface="Segoe UI" pitchFamily="34" charset="0"/>
                <a:ea typeface="Segoe UI" pitchFamily="34" charset="-122"/>
                <a:cs typeface="Segoe UI" pitchFamily="34" charset="-120"/>
              </a:rPr>
              <a:t>DMAIC actions for each finding</a:t>
            </a:r>
            <a:endParaRPr lang="en-US" sz="1050" dirty="0"/>
          </a:p>
        </p:txBody>
      </p:sp>
      <p:sp>
        <p:nvSpPr>
          <p:cNvPr id="55" name="Shape 50"/>
          <p:cNvSpPr/>
          <p:nvPr/>
        </p:nvSpPr>
        <p:spPr>
          <a:xfrm>
            <a:off x="7863840" y="5084064"/>
            <a:ext cx="457200" cy="457200"/>
          </a:xfrm>
          <a:prstGeom prst="roundRect">
            <a:avLst>
              <a:gd name="adj" fmla="val 16000"/>
            </a:avLst>
          </a:prstGeom>
          <a:solidFill>
            <a:srgbClr val="CADCFC"/>
          </a:solidFill>
          <a:ln/>
          <a:effectLst>
            <a:outerShdw blurRad="76200" dist="25400" dir="5400000" algn="bl" rotWithShape="0">
              <a:srgbClr val="8892B0">
                <a:alpha val="30000"/>
              </a:srgbClr>
            </a:outerShdw>
          </a:effectLst>
        </p:spPr>
        <p:txBody>
          <a:bodyPr/>
          <a:lstStyle/>
          <a:p>
            <a:endParaRPr lang="en-IN"/>
          </a:p>
        </p:txBody>
      </p:sp>
      <p:pic>
        <p:nvPicPr>
          <p:cNvPr id="56" name="Image 3" descr="preencoded.png"/>
          <p:cNvPicPr>
            <a:picLocks noChangeAspect="1"/>
          </p:cNvPicPr>
          <p:nvPr/>
        </p:nvPicPr>
        <p:blipFill>
          <a:blip r:embed="rId6"/>
          <a:stretch>
            <a:fillRect/>
          </a:stretch>
        </p:blipFill>
        <p:spPr>
          <a:xfrm>
            <a:off x="7973568" y="5193792"/>
            <a:ext cx="237744" cy="237744"/>
          </a:xfrm>
          <a:prstGeom prst="rect">
            <a:avLst/>
          </a:prstGeom>
        </p:spPr>
      </p:pic>
      <p:sp>
        <p:nvSpPr>
          <p:cNvPr id="57" name="Text 51"/>
          <p:cNvSpPr/>
          <p:nvPr/>
        </p:nvSpPr>
        <p:spPr>
          <a:xfrm>
            <a:off x="8458200" y="5065776"/>
            <a:ext cx="2926080" cy="320040"/>
          </a:xfrm>
          <a:prstGeom prst="rect">
            <a:avLst/>
          </a:prstGeom>
          <a:noFill/>
          <a:ln/>
        </p:spPr>
        <p:txBody>
          <a:bodyPr wrap="square" rtlCol="0" anchor="ctr"/>
          <a:lstStyle/>
          <a:p>
            <a:pPr marL="0" indent="0">
              <a:buNone/>
            </a:pPr>
            <a:r>
              <a:rPr lang="en-US" sz="1350" b="1" dirty="0">
                <a:solidFill>
                  <a:srgbClr val="FFFFFF"/>
                </a:solidFill>
                <a:latin typeface="Segoe UI Semibold" pitchFamily="34" charset="0"/>
                <a:ea typeface="Segoe UI Semibold" pitchFamily="34" charset="-122"/>
                <a:cs typeface="Segoe UI Semibold" pitchFamily="34" charset="-120"/>
              </a:rPr>
              <a:t>Key insights</a:t>
            </a:r>
            <a:endParaRPr lang="en-US" sz="1350" dirty="0"/>
          </a:p>
        </p:txBody>
      </p:sp>
      <p:sp>
        <p:nvSpPr>
          <p:cNvPr id="58" name="Text 52"/>
          <p:cNvSpPr/>
          <p:nvPr/>
        </p:nvSpPr>
        <p:spPr>
          <a:xfrm>
            <a:off x="8458200" y="5385816"/>
            <a:ext cx="2926080" cy="365760"/>
          </a:xfrm>
          <a:prstGeom prst="rect">
            <a:avLst/>
          </a:prstGeom>
          <a:noFill/>
          <a:ln/>
        </p:spPr>
        <p:txBody>
          <a:bodyPr wrap="square" rtlCol="0" anchor="ctr"/>
          <a:lstStyle/>
          <a:p>
            <a:pPr marL="0" indent="0">
              <a:buNone/>
            </a:pPr>
            <a:r>
              <a:rPr lang="en-US" sz="1050" dirty="0">
                <a:solidFill>
                  <a:srgbClr val="CADCFC"/>
                </a:solidFill>
                <a:latin typeface="Segoe UI" pitchFamily="34" charset="0"/>
                <a:ea typeface="Segoe UI" pitchFamily="34" charset="-122"/>
                <a:cs typeface="Segoe UI" pitchFamily="34" charset="-120"/>
              </a:rPr>
              <a:t>Executive read on quality status</a:t>
            </a:r>
            <a:endParaRPr lang="en-US" sz="10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4F6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1E2761"/>
          </a:solidFill>
          <a:ln/>
        </p:spPr>
        <p:txBody>
          <a:bodyPr/>
          <a:lstStyle/>
          <a:p>
            <a:endParaRPr lang="en-IN"/>
          </a:p>
        </p:txBody>
      </p:sp>
      <p:sp>
        <p:nvSpPr>
          <p:cNvPr id="3" name="Text 1"/>
          <p:cNvSpPr/>
          <p:nvPr/>
        </p:nvSpPr>
        <p:spPr>
          <a:xfrm>
            <a:off x="640080" y="457200"/>
            <a:ext cx="10058400" cy="274320"/>
          </a:xfrm>
          <a:prstGeom prst="rect">
            <a:avLst/>
          </a:prstGeom>
          <a:noFill/>
          <a:ln/>
        </p:spPr>
        <p:txBody>
          <a:bodyPr wrap="square" rtlCol="0" anchor="ctr"/>
          <a:lstStyle/>
          <a:p>
            <a:pPr marL="0" indent="0">
              <a:buNone/>
            </a:pPr>
            <a:r>
              <a:rPr lang="en-US" sz="1200" b="1" kern="0" spc="300" dirty="0">
                <a:solidFill>
                  <a:srgbClr val="F4B740"/>
                </a:solidFill>
                <a:latin typeface="Segoe UI Semibold" pitchFamily="34" charset="0"/>
                <a:ea typeface="Segoe UI Semibold" pitchFamily="34" charset="-122"/>
                <a:cs typeface="Segoe UI Semibold" pitchFamily="34" charset="-120"/>
              </a:rPr>
              <a:t>KEY INSIGHTS</a:t>
            </a:r>
            <a:endParaRPr lang="en-US" sz="1200" dirty="0"/>
          </a:p>
        </p:txBody>
      </p:sp>
      <p:sp>
        <p:nvSpPr>
          <p:cNvPr id="4" name="Text 2"/>
          <p:cNvSpPr/>
          <p:nvPr/>
        </p:nvSpPr>
        <p:spPr>
          <a:xfrm>
            <a:off x="640080" y="731520"/>
            <a:ext cx="10881360" cy="640080"/>
          </a:xfrm>
          <a:prstGeom prst="rect">
            <a:avLst/>
          </a:prstGeom>
          <a:noFill/>
          <a:ln/>
        </p:spPr>
        <p:txBody>
          <a:bodyPr wrap="square" rtlCol="0" anchor="ctr"/>
          <a:lstStyle/>
          <a:p>
            <a:pPr marL="0" indent="0">
              <a:buNone/>
            </a:pPr>
            <a:r>
              <a:rPr lang="en-US" sz="3000" b="1" dirty="0">
                <a:solidFill>
                  <a:srgbClr val="1E2761"/>
                </a:solidFill>
                <a:latin typeface="Segoe UI Light" pitchFamily="34" charset="0"/>
                <a:ea typeface="Segoe UI Light" pitchFamily="34" charset="-122"/>
                <a:cs typeface="Segoe UI Light" pitchFamily="34" charset="-120"/>
              </a:rPr>
              <a:t>What the evaluation revealed</a:t>
            </a:r>
            <a:endParaRPr lang="en-US" sz="3000" dirty="0"/>
          </a:p>
        </p:txBody>
      </p:sp>
      <p:sp>
        <p:nvSpPr>
          <p:cNvPr id="5" name="Shape 3"/>
          <p:cNvSpPr/>
          <p:nvPr/>
        </p:nvSpPr>
        <p:spPr>
          <a:xfrm>
            <a:off x="658368" y="1417320"/>
            <a:ext cx="1005840" cy="0"/>
          </a:xfrm>
          <a:prstGeom prst="line">
            <a:avLst/>
          </a:prstGeom>
          <a:noFill/>
          <a:ln w="31750">
            <a:solidFill>
              <a:srgbClr val="F4B740"/>
            </a:solidFill>
            <a:prstDash val="solid"/>
          </a:ln>
        </p:spPr>
        <p:txBody>
          <a:bodyPr/>
          <a:lstStyle/>
          <a:p>
            <a:endParaRPr lang="en-IN"/>
          </a:p>
        </p:txBody>
      </p:sp>
      <p:sp>
        <p:nvSpPr>
          <p:cNvPr id="6" name="Text 4"/>
          <p:cNvSpPr/>
          <p:nvPr/>
        </p:nvSpPr>
        <p:spPr>
          <a:xfrm>
            <a:off x="11338560" y="6309360"/>
            <a:ext cx="548640" cy="274320"/>
          </a:xfrm>
          <a:prstGeom prst="rect">
            <a:avLst/>
          </a:prstGeom>
          <a:noFill/>
          <a:ln/>
        </p:spPr>
        <p:txBody>
          <a:bodyPr wrap="square" rtlCol="0" anchor="ctr"/>
          <a:lstStyle/>
          <a:p>
            <a:pPr marL="0" indent="0" algn="r">
              <a:buNone/>
            </a:pPr>
            <a:r>
              <a:rPr lang="en-US" sz="1100" dirty="0">
                <a:solidFill>
                  <a:srgbClr val="5B6488"/>
                </a:solidFill>
                <a:latin typeface="Segoe UI Semibold" pitchFamily="34" charset="0"/>
                <a:ea typeface="Segoe UI Semibold" pitchFamily="34" charset="-122"/>
                <a:cs typeface="Segoe UI Semibold" pitchFamily="34" charset="-120"/>
              </a:rPr>
              <a:t>11</a:t>
            </a:r>
            <a:endParaRPr lang="en-US" sz="1100" dirty="0"/>
          </a:p>
        </p:txBody>
      </p:sp>
      <p:sp>
        <p:nvSpPr>
          <p:cNvPr id="7" name="Text 5"/>
          <p:cNvSpPr/>
          <p:nvPr/>
        </p:nvSpPr>
        <p:spPr>
          <a:xfrm>
            <a:off x="640080" y="6309360"/>
            <a:ext cx="5486400" cy="274320"/>
          </a:xfrm>
          <a:prstGeom prst="rect">
            <a:avLst/>
          </a:prstGeom>
          <a:noFill/>
          <a:ln/>
        </p:spPr>
        <p:txBody>
          <a:bodyPr wrap="square" rtlCol="0" anchor="ctr"/>
          <a:lstStyle/>
          <a:p>
            <a:pPr marL="0" indent="0">
              <a:buNone/>
            </a:pPr>
            <a:r>
              <a:rPr lang="en-US" sz="900" dirty="0">
                <a:solidFill>
                  <a:srgbClr val="5B6488"/>
                </a:solidFill>
                <a:latin typeface="Segoe UI" pitchFamily="34" charset="0"/>
                <a:ea typeface="Segoe UI" pitchFamily="34" charset="-122"/>
                <a:cs typeface="Segoe UI" pitchFamily="34" charset="-120"/>
              </a:rPr>
              <a:t>AI Quality Evaluation Framework</a:t>
            </a:r>
            <a:endParaRPr lang="en-US" sz="900" dirty="0"/>
          </a:p>
        </p:txBody>
      </p:sp>
      <p:sp>
        <p:nvSpPr>
          <p:cNvPr id="8" name="Shape 6"/>
          <p:cNvSpPr/>
          <p:nvPr/>
        </p:nvSpPr>
        <p:spPr>
          <a:xfrm>
            <a:off x="640080" y="1828800"/>
            <a:ext cx="5303520" cy="1737360"/>
          </a:xfrm>
          <a:prstGeom prst="roundRect">
            <a:avLst>
              <a:gd name="adj" fmla="val 3684"/>
            </a:avLst>
          </a:prstGeom>
          <a:solidFill>
            <a:srgbClr val="FFFFFF"/>
          </a:solidFill>
          <a:ln w="12700">
            <a:solidFill>
              <a:srgbClr val="E2E7F5"/>
            </a:solidFill>
            <a:prstDash val="solid"/>
          </a:ln>
          <a:effectLst>
            <a:outerShdw blurRad="101600" dist="25400" dir="5400000" algn="bl" rotWithShape="0">
              <a:srgbClr val="C7CEE0">
                <a:alpha val="50000"/>
              </a:srgbClr>
            </a:outerShdw>
          </a:effectLst>
        </p:spPr>
        <p:txBody>
          <a:bodyPr/>
          <a:lstStyle/>
          <a:p>
            <a:endParaRPr lang="en-IN"/>
          </a:p>
        </p:txBody>
      </p:sp>
      <p:sp>
        <p:nvSpPr>
          <p:cNvPr id="9" name="Shape 7"/>
          <p:cNvSpPr/>
          <p:nvPr/>
        </p:nvSpPr>
        <p:spPr>
          <a:xfrm>
            <a:off x="914400" y="2148840"/>
            <a:ext cx="685800" cy="685800"/>
          </a:xfrm>
          <a:prstGeom prst="roundRect">
            <a:avLst>
              <a:gd name="adj" fmla="val 10667"/>
            </a:avLst>
          </a:prstGeom>
          <a:solidFill>
            <a:srgbClr val="F96167"/>
          </a:solidFill>
          <a:ln/>
          <a:effectLst>
            <a:outerShdw blurRad="76200" dist="25400" dir="5400000" algn="bl" rotWithShape="0">
              <a:srgbClr val="8892B0">
                <a:alpha val="30000"/>
              </a:srgbClr>
            </a:outerShdw>
          </a:effectLst>
        </p:spPr>
        <p:txBody>
          <a:bodyPr/>
          <a:lstStyle/>
          <a:p>
            <a:endParaRPr lang="en-IN"/>
          </a:p>
        </p:txBody>
      </p:sp>
      <p:pic>
        <p:nvPicPr>
          <p:cNvPr id="10" name="Image 0" descr="preencoded.png"/>
          <p:cNvPicPr>
            <a:picLocks noChangeAspect="1"/>
          </p:cNvPicPr>
          <p:nvPr/>
        </p:nvPicPr>
        <p:blipFill>
          <a:blip r:embed="rId3"/>
          <a:stretch>
            <a:fillRect/>
          </a:stretch>
        </p:blipFill>
        <p:spPr>
          <a:xfrm>
            <a:off x="1078992" y="2313432"/>
            <a:ext cx="356616" cy="356616"/>
          </a:xfrm>
          <a:prstGeom prst="rect">
            <a:avLst/>
          </a:prstGeom>
        </p:spPr>
      </p:pic>
      <p:sp>
        <p:nvSpPr>
          <p:cNvPr id="11" name="Text 8"/>
          <p:cNvSpPr/>
          <p:nvPr/>
        </p:nvSpPr>
        <p:spPr>
          <a:xfrm>
            <a:off x="1828800" y="2121408"/>
            <a:ext cx="3840480" cy="640080"/>
          </a:xfrm>
          <a:prstGeom prst="rect">
            <a:avLst/>
          </a:prstGeom>
          <a:noFill/>
          <a:ln/>
        </p:spPr>
        <p:txBody>
          <a:bodyPr wrap="square" rtlCol="0" anchor="ctr"/>
          <a:lstStyle/>
          <a:p>
            <a:pPr marL="0" indent="0">
              <a:buNone/>
            </a:pPr>
            <a:r>
              <a:rPr lang="en-US" sz="1600" b="1" dirty="0">
                <a:solidFill>
                  <a:srgbClr val="1E2761"/>
                </a:solidFill>
                <a:latin typeface="Segoe UI Semibold" pitchFamily="34" charset="0"/>
                <a:ea typeface="Segoe UI Semibold" pitchFamily="34" charset="-122"/>
                <a:cs typeface="Segoe UI Semibold" pitchFamily="34" charset="-120"/>
              </a:rPr>
              <a:t>Standardization improved consistency</a:t>
            </a:r>
            <a:endParaRPr lang="en-US" sz="1600" dirty="0"/>
          </a:p>
        </p:txBody>
      </p:sp>
      <p:sp>
        <p:nvSpPr>
          <p:cNvPr id="12" name="Text 9"/>
          <p:cNvSpPr/>
          <p:nvPr/>
        </p:nvSpPr>
        <p:spPr>
          <a:xfrm>
            <a:off x="1828800" y="2788920"/>
            <a:ext cx="3840480" cy="640080"/>
          </a:xfrm>
          <a:prstGeom prst="rect">
            <a:avLst/>
          </a:prstGeom>
          <a:noFill/>
          <a:ln/>
        </p:spPr>
        <p:txBody>
          <a:bodyPr wrap="square" rtlCol="0" anchor="ctr"/>
          <a:lstStyle/>
          <a:p>
            <a:pPr marL="0" indent="0">
              <a:lnSpc>
                <a:spcPct val="115000"/>
              </a:lnSpc>
              <a:buNone/>
            </a:pPr>
            <a:r>
              <a:rPr lang="en-US" sz="1250" dirty="0">
                <a:solidFill>
                  <a:srgbClr val="5B6488"/>
                </a:solidFill>
                <a:latin typeface="Segoe UI" pitchFamily="34" charset="0"/>
                <a:ea typeface="Segoe UI" pitchFamily="34" charset="-122"/>
                <a:cs typeface="Segoe UI" pitchFamily="34" charset="-120"/>
              </a:rPr>
              <a:t>A shared rubric removed subjective drift between reviewers.</a:t>
            </a:r>
            <a:endParaRPr lang="en-US" sz="1250" dirty="0"/>
          </a:p>
        </p:txBody>
      </p:sp>
      <p:sp>
        <p:nvSpPr>
          <p:cNvPr id="13" name="Shape 10"/>
          <p:cNvSpPr/>
          <p:nvPr/>
        </p:nvSpPr>
        <p:spPr>
          <a:xfrm>
            <a:off x="6263640" y="1828800"/>
            <a:ext cx="5303520" cy="1737360"/>
          </a:xfrm>
          <a:prstGeom prst="roundRect">
            <a:avLst>
              <a:gd name="adj" fmla="val 3684"/>
            </a:avLst>
          </a:prstGeom>
          <a:solidFill>
            <a:srgbClr val="FFFFFF"/>
          </a:solidFill>
          <a:ln w="12700">
            <a:solidFill>
              <a:srgbClr val="E2E7F5"/>
            </a:solidFill>
            <a:prstDash val="solid"/>
          </a:ln>
          <a:effectLst>
            <a:outerShdw blurRad="101600" dist="25400" dir="5400000" algn="bl" rotWithShape="0">
              <a:srgbClr val="C7CEE0">
                <a:alpha val="50000"/>
              </a:srgbClr>
            </a:outerShdw>
          </a:effectLst>
        </p:spPr>
        <p:txBody>
          <a:bodyPr/>
          <a:lstStyle/>
          <a:p>
            <a:endParaRPr lang="en-IN"/>
          </a:p>
        </p:txBody>
      </p:sp>
      <p:sp>
        <p:nvSpPr>
          <p:cNvPr id="14" name="Shape 11"/>
          <p:cNvSpPr/>
          <p:nvPr/>
        </p:nvSpPr>
        <p:spPr>
          <a:xfrm>
            <a:off x="6537960" y="2148840"/>
            <a:ext cx="685800" cy="685800"/>
          </a:xfrm>
          <a:prstGeom prst="roundRect">
            <a:avLst>
              <a:gd name="adj" fmla="val 10667"/>
            </a:avLst>
          </a:prstGeom>
          <a:solidFill>
            <a:srgbClr val="1E2761"/>
          </a:solidFill>
          <a:ln/>
          <a:effectLst>
            <a:outerShdw blurRad="76200" dist="25400" dir="5400000" algn="bl" rotWithShape="0">
              <a:srgbClr val="8892B0">
                <a:alpha val="30000"/>
              </a:srgbClr>
            </a:outerShdw>
          </a:effectLst>
        </p:spPr>
        <p:txBody>
          <a:bodyPr/>
          <a:lstStyle/>
          <a:p>
            <a:endParaRPr lang="en-IN"/>
          </a:p>
        </p:txBody>
      </p:sp>
      <p:pic>
        <p:nvPicPr>
          <p:cNvPr id="15" name="Image 1" descr="preencoded.png"/>
          <p:cNvPicPr>
            <a:picLocks noChangeAspect="1"/>
          </p:cNvPicPr>
          <p:nvPr/>
        </p:nvPicPr>
        <p:blipFill>
          <a:blip r:embed="rId4"/>
          <a:stretch>
            <a:fillRect/>
          </a:stretch>
        </p:blipFill>
        <p:spPr>
          <a:xfrm>
            <a:off x="6702552" y="2313432"/>
            <a:ext cx="356616" cy="356616"/>
          </a:xfrm>
          <a:prstGeom prst="rect">
            <a:avLst/>
          </a:prstGeom>
        </p:spPr>
      </p:pic>
      <p:sp>
        <p:nvSpPr>
          <p:cNvPr id="16" name="Text 12"/>
          <p:cNvSpPr/>
          <p:nvPr/>
        </p:nvSpPr>
        <p:spPr>
          <a:xfrm>
            <a:off x="7452360" y="2121408"/>
            <a:ext cx="3840480" cy="640080"/>
          </a:xfrm>
          <a:prstGeom prst="rect">
            <a:avLst/>
          </a:prstGeom>
          <a:noFill/>
          <a:ln/>
        </p:spPr>
        <p:txBody>
          <a:bodyPr wrap="square" rtlCol="0" anchor="ctr"/>
          <a:lstStyle/>
          <a:p>
            <a:pPr marL="0" indent="0">
              <a:buNone/>
            </a:pPr>
            <a:r>
              <a:rPr lang="en-US" sz="1600" b="1" dirty="0">
                <a:solidFill>
                  <a:srgbClr val="1E2761"/>
                </a:solidFill>
                <a:latin typeface="Segoe UI Semibold" pitchFamily="34" charset="0"/>
                <a:ea typeface="Segoe UI Semibold" pitchFamily="34" charset="-122"/>
                <a:cs typeface="Segoe UI Semibold" pitchFamily="34" charset="-120"/>
              </a:rPr>
              <a:t>Governance improved repeatability</a:t>
            </a:r>
            <a:endParaRPr lang="en-US" sz="1600" dirty="0"/>
          </a:p>
        </p:txBody>
      </p:sp>
      <p:sp>
        <p:nvSpPr>
          <p:cNvPr id="17" name="Text 13"/>
          <p:cNvSpPr/>
          <p:nvPr/>
        </p:nvSpPr>
        <p:spPr>
          <a:xfrm>
            <a:off x="7452360" y="2788920"/>
            <a:ext cx="3840480" cy="640080"/>
          </a:xfrm>
          <a:prstGeom prst="rect">
            <a:avLst/>
          </a:prstGeom>
          <a:noFill/>
          <a:ln/>
        </p:spPr>
        <p:txBody>
          <a:bodyPr wrap="square" rtlCol="0" anchor="ctr"/>
          <a:lstStyle/>
          <a:p>
            <a:pPr marL="0" indent="0">
              <a:lnSpc>
                <a:spcPct val="115000"/>
              </a:lnSpc>
              <a:buNone/>
            </a:pPr>
            <a:r>
              <a:rPr lang="en-US" sz="1250" dirty="0">
                <a:solidFill>
                  <a:srgbClr val="5B6488"/>
                </a:solidFill>
                <a:latin typeface="Segoe UI" pitchFamily="34" charset="0"/>
                <a:ea typeface="Segoe UI" pitchFamily="34" charset="-122"/>
                <a:cs typeface="Segoe UI" pitchFamily="34" charset="-120"/>
              </a:rPr>
              <a:t>Defined severity and escalation made reviews auditable.</a:t>
            </a:r>
            <a:endParaRPr lang="en-US" sz="1250" dirty="0"/>
          </a:p>
        </p:txBody>
      </p:sp>
      <p:sp>
        <p:nvSpPr>
          <p:cNvPr id="18" name="Shape 14"/>
          <p:cNvSpPr/>
          <p:nvPr/>
        </p:nvSpPr>
        <p:spPr>
          <a:xfrm>
            <a:off x="640080" y="3840480"/>
            <a:ext cx="5303520" cy="1737360"/>
          </a:xfrm>
          <a:prstGeom prst="roundRect">
            <a:avLst>
              <a:gd name="adj" fmla="val 3684"/>
            </a:avLst>
          </a:prstGeom>
          <a:solidFill>
            <a:srgbClr val="FFFFFF"/>
          </a:solidFill>
          <a:ln w="12700">
            <a:solidFill>
              <a:srgbClr val="E2E7F5"/>
            </a:solidFill>
            <a:prstDash val="solid"/>
          </a:ln>
          <a:effectLst>
            <a:outerShdw blurRad="101600" dist="25400" dir="5400000" algn="bl" rotWithShape="0">
              <a:srgbClr val="C7CEE0">
                <a:alpha val="50000"/>
              </a:srgbClr>
            </a:outerShdw>
          </a:effectLst>
        </p:spPr>
        <p:txBody>
          <a:bodyPr/>
          <a:lstStyle/>
          <a:p>
            <a:endParaRPr lang="en-IN"/>
          </a:p>
        </p:txBody>
      </p:sp>
      <p:sp>
        <p:nvSpPr>
          <p:cNvPr id="19" name="Shape 15"/>
          <p:cNvSpPr/>
          <p:nvPr/>
        </p:nvSpPr>
        <p:spPr>
          <a:xfrm>
            <a:off x="914400" y="4160520"/>
            <a:ext cx="685800" cy="685800"/>
          </a:xfrm>
          <a:prstGeom prst="roundRect">
            <a:avLst>
              <a:gd name="adj" fmla="val 10667"/>
            </a:avLst>
          </a:prstGeom>
          <a:solidFill>
            <a:srgbClr val="F96167"/>
          </a:solidFill>
          <a:ln/>
          <a:effectLst>
            <a:outerShdw blurRad="76200" dist="25400" dir="5400000" algn="bl" rotWithShape="0">
              <a:srgbClr val="8892B0">
                <a:alpha val="30000"/>
              </a:srgbClr>
            </a:outerShdw>
          </a:effectLst>
        </p:spPr>
        <p:txBody>
          <a:bodyPr/>
          <a:lstStyle/>
          <a:p>
            <a:endParaRPr lang="en-IN"/>
          </a:p>
        </p:txBody>
      </p:sp>
      <p:pic>
        <p:nvPicPr>
          <p:cNvPr id="20" name="Image 2" descr="preencoded.png"/>
          <p:cNvPicPr>
            <a:picLocks noChangeAspect="1"/>
          </p:cNvPicPr>
          <p:nvPr/>
        </p:nvPicPr>
        <p:blipFill>
          <a:blip r:embed="rId5"/>
          <a:stretch>
            <a:fillRect/>
          </a:stretch>
        </p:blipFill>
        <p:spPr>
          <a:xfrm>
            <a:off x="1078992" y="4325112"/>
            <a:ext cx="356616" cy="356616"/>
          </a:xfrm>
          <a:prstGeom prst="rect">
            <a:avLst/>
          </a:prstGeom>
        </p:spPr>
      </p:pic>
      <p:sp>
        <p:nvSpPr>
          <p:cNvPr id="21" name="Text 16"/>
          <p:cNvSpPr/>
          <p:nvPr/>
        </p:nvSpPr>
        <p:spPr>
          <a:xfrm>
            <a:off x="1828800" y="4133088"/>
            <a:ext cx="3840480" cy="640080"/>
          </a:xfrm>
          <a:prstGeom prst="rect">
            <a:avLst/>
          </a:prstGeom>
          <a:noFill/>
          <a:ln/>
        </p:spPr>
        <p:txBody>
          <a:bodyPr wrap="square" rtlCol="0" anchor="ctr"/>
          <a:lstStyle/>
          <a:p>
            <a:pPr marL="0" indent="0">
              <a:buNone/>
            </a:pPr>
            <a:r>
              <a:rPr lang="en-US" sz="1600" b="1" dirty="0">
                <a:solidFill>
                  <a:srgbClr val="1E2761"/>
                </a:solidFill>
                <a:latin typeface="Segoe UI Semibold" pitchFamily="34" charset="0"/>
                <a:ea typeface="Segoe UI Semibold" pitchFamily="34" charset="-122"/>
                <a:cs typeface="Segoe UI Semibold" pitchFamily="34" charset="-120"/>
              </a:rPr>
              <a:t>KPIs enabled measurable quality</a:t>
            </a:r>
            <a:endParaRPr lang="en-US" sz="1600" dirty="0"/>
          </a:p>
        </p:txBody>
      </p:sp>
      <p:sp>
        <p:nvSpPr>
          <p:cNvPr id="22" name="Text 17"/>
          <p:cNvSpPr/>
          <p:nvPr/>
        </p:nvSpPr>
        <p:spPr>
          <a:xfrm>
            <a:off x="1828800" y="4800600"/>
            <a:ext cx="3840480" cy="640080"/>
          </a:xfrm>
          <a:prstGeom prst="rect">
            <a:avLst/>
          </a:prstGeom>
          <a:noFill/>
          <a:ln/>
        </p:spPr>
        <p:txBody>
          <a:bodyPr wrap="square" rtlCol="0" anchor="ctr"/>
          <a:lstStyle/>
          <a:p>
            <a:pPr marL="0" indent="0">
              <a:lnSpc>
                <a:spcPct val="115000"/>
              </a:lnSpc>
              <a:buNone/>
            </a:pPr>
            <a:r>
              <a:rPr lang="en-US" sz="1250" dirty="0">
                <a:solidFill>
                  <a:srgbClr val="5B6488"/>
                </a:solidFill>
                <a:latin typeface="Segoe UI" pitchFamily="34" charset="0"/>
                <a:ea typeface="Segoe UI" pitchFamily="34" charset="-122"/>
                <a:cs typeface="Segoe UI" pitchFamily="34" charset="-120"/>
              </a:rPr>
              <a:t>Quality became a number leaders can track and target.</a:t>
            </a:r>
            <a:endParaRPr lang="en-US" sz="1250" dirty="0"/>
          </a:p>
        </p:txBody>
      </p:sp>
      <p:sp>
        <p:nvSpPr>
          <p:cNvPr id="23" name="Shape 18"/>
          <p:cNvSpPr/>
          <p:nvPr/>
        </p:nvSpPr>
        <p:spPr>
          <a:xfrm>
            <a:off x="6263640" y="3840480"/>
            <a:ext cx="5303520" cy="1737360"/>
          </a:xfrm>
          <a:prstGeom prst="roundRect">
            <a:avLst>
              <a:gd name="adj" fmla="val 3684"/>
            </a:avLst>
          </a:prstGeom>
          <a:solidFill>
            <a:srgbClr val="FFFFFF"/>
          </a:solidFill>
          <a:ln w="12700">
            <a:solidFill>
              <a:srgbClr val="E2E7F5"/>
            </a:solidFill>
            <a:prstDash val="solid"/>
          </a:ln>
          <a:effectLst>
            <a:outerShdw blurRad="101600" dist="25400" dir="5400000" algn="bl" rotWithShape="0">
              <a:srgbClr val="C7CEE0">
                <a:alpha val="50000"/>
              </a:srgbClr>
            </a:outerShdw>
          </a:effectLst>
        </p:spPr>
        <p:txBody>
          <a:bodyPr/>
          <a:lstStyle/>
          <a:p>
            <a:endParaRPr lang="en-IN"/>
          </a:p>
        </p:txBody>
      </p:sp>
      <p:sp>
        <p:nvSpPr>
          <p:cNvPr id="24" name="Shape 19"/>
          <p:cNvSpPr/>
          <p:nvPr/>
        </p:nvSpPr>
        <p:spPr>
          <a:xfrm>
            <a:off x="6537960" y="4160520"/>
            <a:ext cx="685800" cy="685800"/>
          </a:xfrm>
          <a:prstGeom prst="roundRect">
            <a:avLst>
              <a:gd name="adj" fmla="val 10667"/>
            </a:avLst>
          </a:prstGeom>
          <a:solidFill>
            <a:srgbClr val="1E2761"/>
          </a:solidFill>
          <a:ln/>
          <a:effectLst>
            <a:outerShdw blurRad="76200" dist="25400" dir="5400000" algn="bl" rotWithShape="0">
              <a:srgbClr val="8892B0">
                <a:alpha val="30000"/>
              </a:srgbClr>
            </a:outerShdw>
          </a:effectLst>
        </p:spPr>
        <p:txBody>
          <a:bodyPr/>
          <a:lstStyle/>
          <a:p>
            <a:endParaRPr lang="en-IN"/>
          </a:p>
        </p:txBody>
      </p:sp>
      <p:pic>
        <p:nvPicPr>
          <p:cNvPr id="25" name="Image 3" descr="preencoded.png"/>
          <p:cNvPicPr>
            <a:picLocks noChangeAspect="1"/>
          </p:cNvPicPr>
          <p:nvPr/>
        </p:nvPicPr>
        <p:blipFill>
          <a:blip r:embed="rId6"/>
          <a:stretch>
            <a:fillRect/>
          </a:stretch>
        </p:blipFill>
        <p:spPr>
          <a:xfrm>
            <a:off x="6702552" y="4325112"/>
            <a:ext cx="356616" cy="356616"/>
          </a:xfrm>
          <a:prstGeom prst="rect">
            <a:avLst/>
          </a:prstGeom>
        </p:spPr>
      </p:pic>
      <p:sp>
        <p:nvSpPr>
          <p:cNvPr id="26" name="Text 20"/>
          <p:cNvSpPr/>
          <p:nvPr/>
        </p:nvSpPr>
        <p:spPr>
          <a:xfrm>
            <a:off x="7452360" y="4133088"/>
            <a:ext cx="3840480" cy="640080"/>
          </a:xfrm>
          <a:prstGeom prst="rect">
            <a:avLst/>
          </a:prstGeom>
          <a:noFill/>
          <a:ln/>
        </p:spPr>
        <p:txBody>
          <a:bodyPr wrap="square" rtlCol="0" anchor="ctr"/>
          <a:lstStyle/>
          <a:p>
            <a:pPr marL="0" indent="0">
              <a:buNone/>
            </a:pPr>
            <a:r>
              <a:rPr lang="en-US" sz="1600" b="1" dirty="0">
                <a:solidFill>
                  <a:srgbClr val="1E2761"/>
                </a:solidFill>
                <a:latin typeface="Segoe UI Semibold" pitchFamily="34" charset="0"/>
                <a:ea typeface="Segoe UI Semibold" pitchFamily="34" charset="-122"/>
                <a:cs typeface="Segoe UI Semibold" pitchFamily="34" charset="-120"/>
              </a:rPr>
              <a:t>Dashboard improved visibility</a:t>
            </a:r>
            <a:endParaRPr lang="en-US" sz="1600" dirty="0"/>
          </a:p>
        </p:txBody>
      </p:sp>
      <p:sp>
        <p:nvSpPr>
          <p:cNvPr id="27" name="Text 21"/>
          <p:cNvSpPr/>
          <p:nvPr/>
        </p:nvSpPr>
        <p:spPr>
          <a:xfrm>
            <a:off x="7452360" y="4800600"/>
            <a:ext cx="3840480" cy="640080"/>
          </a:xfrm>
          <a:prstGeom prst="rect">
            <a:avLst/>
          </a:prstGeom>
          <a:noFill/>
          <a:ln/>
        </p:spPr>
        <p:txBody>
          <a:bodyPr wrap="square" rtlCol="0" anchor="ctr"/>
          <a:lstStyle/>
          <a:p>
            <a:pPr marL="0" indent="0">
              <a:lnSpc>
                <a:spcPct val="115000"/>
              </a:lnSpc>
              <a:buNone/>
            </a:pPr>
            <a:r>
              <a:rPr lang="en-US" sz="1250" dirty="0">
                <a:solidFill>
                  <a:srgbClr val="5B6488"/>
                </a:solidFill>
                <a:latin typeface="Segoe UI" pitchFamily="34" charset="0"/>
                <a:ea typeface="Segoe UI" pitchFamily="34" charset="-122"/>
                <a:cs typeface="Segoe UI" pitchFamily="34" charset="-120"/>
              </a:rPr>
              <a:t>Leadership gained a single, current view of AI quality.</a:t>
            </a:r>
            <a:endParaRPr lang="en-US" sz="12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E2761"/>
        </a:solidFill>
        <a:effectLst/>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F4B740"/>
          </a:solidFill>
          <a:ln/>
        </p:spPr>
        <p:txBody>
          <a:bodyPr/>
          <a:lstStyle/>
          <a:p>
            <a:endParaRPr lang="en-IN"/>
          </a:p>
        </p:txBody>
      </p:sp>
      <p:sp>
        <p:nvSpPr>
          <p:cNvPr id="3" name="Text 1"/>
          <p:cNvSpPr/>
          <p:nvPr/>
        </p:nvSpPr>
        <p:spPr>
          <a:xfrm>
            <a:off x="640080" y="457200"/>
            <a:ext cx="10058400" cy="274320"/>
          </a:xfrm>
          <a:prstGeom prst="rect">
            <a:avLst/>
          </a:prstGeom>
          <a:noFill/>
          <a:ln/>
        </p:spPr>
        <p:txBody>
          <a:bodyPr wrap="square" rtlCol="0" anchor="ctr"/>
          <a:lstStyle/>
          <a:p>
            <a:pPr marL="0" indent="0">
              <a:buNone/>
            </a:pPr>
            <a:r>
              <a:rPr lang="en-US" sz="1200" b="1" kern="0" spc="300" dirty="0">
                <a:solidFill>
                  <a:srgbClr val="F4B740"/>
                </a:solidFill>
                <a:latin typeface="Segoe UI Semibold" pitchFamily="34" charset="0"/>
                <a:ea typeface="Segoe UI Semibold" pitchFamily="34" charset="-122"/>
                <a:cs typeface="Segoe UI Semibold" pitchFamily="34" charset="-120"/>
              </a:rPr>
              <a:t>BUSINESS IMPACT</a:t>
            </a:r>
            <a:endParaRPr lang="en-US" sz="1200" dirty="0"/>
          </a:p>
        </p:txBody>
      </p:sp>
      <p:sp>
        <p:nvSpPr>
          <p:cNvPr id="4" name="Text 2"/>
          <p:cNvSpPr/>
          <p:nvPr/>
        </p:nvSpPr>
        <p:spPr>
          <a:xfrm>
            <a:off x="640080" y="731520"/>
            <a:ext cx="10881360" cy="640080"/>
          </a:xfrm>
          <a:prstGeom prst="rect">
            <a:avLst/>
          </a:prstGeom>
          <a:noFill/>
          <a:ln/>
        </p:spPr>
        <p:txBody>
          <a:bodyPr wrap="square" rtlCol="0" anchor="ctr"/>
          <a:lstStyle/>
          <a:p>
            <a:pPr marL="0" indent="0">
              <a:buNone/>
            </a:pPr>
            <a:r>
              <a:rPr lang="en-US" sz="3000" b="1" dirty="0">
                <a:solidFill>
                  <a:srgbClr val="FFFFFF"/>
                </a:solidFill>
                <a:latin typeface="Segoe UI Light" pitchFamily="34" charset="0"/>
                <a:ea typeface="Segoe UI Light" pitchFamily="34" charset="-122"/>
                <a:cs typeface="Segoe UI Light" pitchFamily="34" charset="-120"/>
              </a:rPr>
              <a:t>Why this matters to the enterprise</a:t>
            </a:r>
            <a:endParaRPr lang="en-US" sz="3000" dirty="0"/>
          </a:p>
        </p:txBody>
      </p:sp>
      <p:sp>
        <p:nvSpPr>
          <p:cNvPr id="5" name="Shape 3"/>
          <p:cNvSpPr/>
          <p:nvPr/>
        </p:nvSpPr>
        <p:spPr>
          <a:xfrm>
            <a:off x="658368" y="1417320"/>
            <a:ext cx="1005840" cy="0"/>
          </a:xfrm>
          <a:prstGeom prst="line">
            <a:avLst/>
          </a:prstGeom>
          <a:noFill/>
          <a:ln w="31750">
            <a:solidFill>
              <a:srgbClr val="F4B740"/>
            </a:solidFill>
            <a:prstDash val="solid"/>
          </a:ln>
        </p:spPr>
        <p:txBody>
          <a:bodyPr/>
          <a:lstStyle/>
          <a:p>
            <a:endParaRPr lang="en-IN"/>
          </a:p>
        </p:txBody>
      </p:sp>
      <p:sp>
        <p:nvSpPr>
          <p:cNvPr id="6" name="Shape 4"/>
          <p:cNvSpPr/>
          <p:nvPr/>
        </p:nvSpPr>
        <p:spPr>
          <a:xfrm>
            <a:off x="640080" y="1828800"/>
            <a:ext cx="5303520" cy="1783080"/>
          </a:xfrm>
          <a:prstGeom prst="roundRect">
            <a:avLst>
              <a:gd name="adj" fmla="val 4103"/>
            </a:avLst>
          </a:prstGeom>
          <a:solidFill>
            <a:srgbClr val="2A3576"/>
          </a:solidFill>
          <a:ln w="12700">
            <a:solidFill>
              <a:srgbClr val="3A4488"/>
            </a:solidFill>
            <a:prstDash val="solid"/>
          </a:ln>
        </p:spPr>
        <p:txBody>
          <a:bodyPr/>
          <a:lstStyle/>
          <a:p>
            <a:endParaRPr lang="en-IN"/>
          </a:p>
        </p:txBody>
      </p:sp>
      <p:sp>
        <p:nvSpPr>
          <p:cNvPr id="7" name="Shape 5"/>
          <p:cNvSpPr/>
          <p:nvPr/>
        </p:nvSpPr>
        <p:spPr>
          <a:xfrm>
            <a:off x="932688" y="2331720"/>
            <a:ext cx="777240" cy="777240"/>
          </a:xfrm>
          <a:prstGeom prst="roundRect">
            <a:avLst>
              <a:gd name="adj" fmla="val 9412"/>
            </a:avLst>
          </a:prstGeom>
          <a:solidFill>
            <a:srgbClr val="F4B740"/>
          </a:solidFill>
          <a:ln/>
          <a:effectLst>
            <a:outerShdw blurRad="76200" dist="25400" dir="5400000" algn="bl" rotWithShape="0">
              <a:srgbClr val="8892B0">
                <a:alpha val="30000"/>
              </a:srgbClr>
            </a:outerShdw>
          </a:effectLst>
        </p:spPr>
        <p:txBody>
          <a:bodyPr/>
          <a:lstStyle/>
          <a:p>
            <a:endParaRPr lang="en-IN"/>
          </a:p>
        </p:txBody>
      </p:sp>
      <p:pic>
        <p:nvPicPr>
          <p:cNvPr id="8" name="Image 0" descr="preencoded.png"/>
          <p:cNvPicPr>
            <a:picLocks noChangeAspect="1"/>
          </p:cNvPicPr>
          <p:nvPr/>
        </p:nvPicPr>
        <p:blipFill>
          <a:blip r:embed="rId3"/>
          <a:stretch>
            <a:fillRect/>
          </a:stretch>
        </p:blipFill>
        <p:spPr>
          <a:xfrm>
            <a:off x="1119226" y="2518258"/>
            <a:ext cx="404165" cy="404165"/>
          </a:xfrm>
          <a:prstGeom prst="rect">
            <a:avLst/>
          </a:prstGeom>
        </p:spPr>
      </p:pic>
      <p:sp>
        <p:nvSpPr>
          <p:cNvPr id="9" name="Text 6"/>
          <p:cNvSpPr/>
          <p:nvPr/>
        </p:nvSpPr>
        <p:spPr>
          <a:xfrm>
            <a:off x="1920240" y="2194560"/>
            <a:ext cx="3749040" cy="640080"/>
          </a:xfrm>
          <a:prstGeom prst="rect">
            <a:avLst/>
          </a:prstGeom>
          <a:noFill/>
          <a:ln/>
        </p:spPr>
        <p:txBody>
          <a:bodyPr wrap="square" rtlCol="0" anchor="ctr"/>
          <a:lstStyle/>
          <a:p>
            <a:pPr marL="0" indent="0">
              <a:buNone/>
            </a:pPr>
            <a:r>
              <a:rPr lang="en-US" sz="1650" b="1" dirty="0">
                <a:solidFill>
                  <a:srgbClr val="FFFFFF"/>
                </a:solidFill>
                <a:latin typeface="Segoe UI Semibold" pitchFamily="34" charset="0"/>
                <a:ea typeface="Segoe UI Semibold" pitchFamily="34" charset="-122"/>
                <a:cs typeface="Segoe UI Semibold" pitchFamily="34" charset="-120"/>
              </a:rPr>
              <a:t>Enterprise-ready framework</a:t>
            </a:r>
            <a:endParaRPr lang="en-US" sz="1650" dirty="0"/>
          </a:p>
        </p:txBody>
      </p:sp>
      <p:sp>
        <p:nvSpPr>
          <p:cNvPr id="10" name="Text 7"/>
          <p:cNvSpPr/>
          <p:nvPr/>
        </p:nvSpPr>
        <p:spPr>
          <a:xfrm>
            <a:off x="1920240" y="2880360"/>
            <a:ext cx="3749040" cy="548640"/>
          </a:xfrm>
          <a:prstGeom prst="rect">
            <a:avLst/>
          </a:prstGeom>
          <a:noFill/>
          <a:ln/>
        </p:spPr>
        <p:txBody>
          <a:bodyPr wrap="square" rtlCol="0" anchor="ctr"/>
          <a:lstStyle/>
          <a:p>
            <a:pPr marL="0" indent="0">
              <a:lnSpc>
                <a:spcPct val="110000"/>
              </a:lnSpc>
              <a:buNone/>
            </a:pPr>
            <a:r>
              <a:rPr lang="en-US" sz="1250" dirty="0">
                <a:solidFill>
                  <a:srgbClr val="CADCFC"/>
                </a:solidFill>
                <a:latin typeface="Segoe UI" pitchFamily="34" charset="0"/>
                <a:ea typeface="Segoe UI" pitchFamily="34" charset="-122"/>
                <a:cs typeface="Segoe UI" pitchFamily="34" charset="-120"/>
              </a:rPr>
              <a:t>A governed structure that scales beyond a pilot</a:t>
            </a:r>
            <a:endParaRPr lang="en-US" sz="1250" dirty="0"/>
          </a:p>
        </p:txBody>
      </p:sp>
      <p:sp>
        <p:nvSpPr>
          <p:cNvPr id="11" name="Shape 8"/>
          <p:cNvSpPr/>
          <p:nvPr/>
        </p:nvSpPr>
        <p:spPr>
          <a:xfrm>
            <a:off x="6263640" y="1828800"/>
            <a:ext cx="5303520" cy="1783080"/>
          </a:xfrm>
          <a:prstGeom prst="roundRect">
            <a:avLst>
              <a:gd name="adj" fmla="val 4103"/>
            </a:avLst>
          </a:prstGeom>
          <a:solidFill>
            <a:srgbClr val="2A3576"/>
          </a:solidFill>
          <a:ln w="12700">
            <a:solidFill>
              <a:srgbClr val="3A4488"/>
            </a:solidFill>
            <a:prstDash val="solid"/>
          </a:ln>
        </p:spPr>
        <p:txBody>
          <a:bodyPr/>
          <a:lstStyle/>
          <a:p>
            <a:endParaRPr lang="en-IN"/>
          </a:p>
        </p:txBody>
      </p:sp>
      <p:sp>
        <p:nvSpPr>
          <p:cNvPr id="12" name="Shape 9"/>
          <p:cNvSpPr/>
          <p:nvPr/>
        </p:nvSpPr>
        <p:spPr>
          <a:xfrm>
            <a:off x="6556248" y="2331720"/>
            <a:ext cx="777240" cy="777240"/>
          </a:xfrm>
          <a:prstGeom prst="roundRect">
            <a:avLst>
              <a:gd name="adj" fmla="val 9412"/>
            </a:avLst>
          </a:prstGeom>
          <a:solidFill>
            <a:srgbClr val="F4B740"/>
          </a:solidFill>
          <a:ln/>
          <a:effectLst>
            <a:outerShdw blurRad="76200" dist="25400" dir="5400000" algn="bl" rotWithShape="0">
              <a:srgbClr val="8892B0">
                <a:alpha val="30000"/>
              </a:srgbClr>
            </a:outerShdw>
          </a:effectLst>
        </p:spPr>
        <p:txBody>
          <a:bodyPr/>
          <a:lstStyle/>
          <a:p>
            <a:endParaRPr lang="en-IN"/>
          </a:p>
        </p:txBody>
      </p:sp>
      <p:pic>
        <p:nvPicPr>
          <p:cNvPr id="13" name="Image 1" descr="preencoded.png"/>
          <p:cNvPicPr>
            <a:picLocks noChangeAspect="1"/>
          </p:cNvPicPr>
          <p:nvPr/>
        </p:nvPicPr>
        <p:blipFill>
          <a:blip r:embed="rId4"/>
          <a:stretch>
            <a:fillRect/>
          </a:stretch>
        </p:blipFill>
        <p:spPr>
          <a:xfrm>
            <a:off x="6742786" y="2518258"/>
            <a:ext cx="404165" cy="404165"/>
          </a:xfrm>
          <a:prstGeom prst="rect">
            <a:avLst/>
          </a:prstGeom>
        </p:spPr>
      </p:pic>
      <p:sp>
        <p:nvSpPr>
          <p:cNvPr id="14" name="Text 10"/>
          <p:cNvSpPr/>
          <p:nvPr/>
        </p:nvSpPr>
        <p:spPr>
          <a:xfrm>
            <a:off x="7543800" y="2194560"/>
            <a:ext cx="3749040" cy="640080"/>
          </a:xfrm>
          <a:prstGeom prst="rect">
            <a:avLst/>
          </a:prstGeom>
          <a:noFill/>
          <a:ln/>
        </p:spPr>
        <p:txBody>
          <a:bodyPr wrap="square" rtlCol="0" anchor="ctr"/>
          <a:lstStyle/>
          <a:p>
            <a:pPr marL="0" indent="0">
              <a:buNone/>
            </a:pPr>
            <a:r>
              <a:rPr lang="en-US" sz="1650" b="1" dirty="0">
                <a:solidFill>
                  <a:srgbClr val="FFFFFF"/>
                </a:solidFill>
                <a:latin typeface="Segoe UI Semibold" pitchFamily="34" charset="0"/>
                <a:ea typeface="Segoe UI Semibold" pitchFamily="34" charset="-122"/>
                <a:cs typeface="Segoe UI Semibold" pitchFamily="34" charset="-120"/>
              </a:rPr>
              <a:t>Repeatable evaluation process</a:t>
            </a:r>
            <a:endParaRPr lang="en-US" sz="1650" dirty="0"/>
          </a:p>
        </p:txBody>
      </p:sp>
      <p:sp>
        <p:nvSpPr>
          <p:cNvPr id="15" name="Text 11"/>
          <p:cNvSpPr/>
          <p:nvPr/>
        </p:nvSpPr>
        <p:spPr>
          <a:xfrm>
            <a:off x="7543800" y="2880360"/>
            <a:ext cx="3749040" cy="548640"/>
          </a:xfrm>
          <a:prstGeom prst="rect">
            <a:avLst/>
          </a:prstGeom>
          <a:noFill/>
          <a:ln/>
        </p:spPr>
        <p:txBody>
          <a:bodyPr wrap="square" rtlCol="0" anchor="ctr"/>
          <a:lstStyle/>
          <a:p>
            <a:pPr marL="0" indent="0">
              <a:lnSpc>
                <a:spcPct val="110000"/>
              </a:lnSpc>
              <a:buNone/>
            </a:pPr>
            <a:r>
              <a:rPr lang="en-US" sz="1250" dirty="0">
                <a:solidFill>
                  <a:srgbClr val="CADCFC"/>
                </a:solidFill>
                <a:latin typeface="Segoe UI" pitchFamily="34" charset="0"/>
                <a:ea typeface="Segoe UI" pitchFamily="34" charset="-122"/>
                <a:cs typeface="Segoe UI" pitchFamily="34" charset="-120"/>
              </a:rPr>
              <a:t>The same rigorous method for every response</a:t>
            </a:r>
            <a:endParaRPr lang="en-US" sz="1250" dirty="0"/>
          </a:p>
        </p:txBody>
      </p:sp>
      <p:sp>
        <p:nvSpPr>
          <p:cNvPr id="16" name="Shape 12"/>
          <p:cNvSpPr/>
          <p:nvPr/>
        </p:nvSpPr>
        <p:spPr>
          <a:xfrm>
            <a:off x="640080" y="3931920"/>
            <a:ext cx="5303520" cy="1783080"/>
          </a:xfrm>
          <a:prstGeom prst="roundRect">
            <a:avLst>
              <a:gd name="adj" fmla="val 4103"/>
            </a:avLst>
          </a:prstGeom>
          <a:solidFill>
            <a:srgbClr val="2A3576"/>
          </a:solidFill>
          <a:ln w="12700">
            <a:solidFill>
              <a:srgbClr val="3A4488"/>
            </a:solidFill>
            <a:prstDash val="solid"/>
          </a:ln>
        </p:spPr>
        <p:txBody>
          <a:bodyPr/>
          <a:lstStyle/>
          <a:p>
            <a:endParaRPr lang="en-IN"/>
          </a:p>
        </p:txBody>
      </p:sp>
      <p:sp>
        <p:nvSpPr>
          <p:cNvPr id="17" name="Shape 13"/>
          <p:cNvSpPr/>
          <p:nvPr/>
        </p:nvSpPr>
        <p:spPr>
          <a:xfrm>
            <a:off x="932688" y="4434840"/>
            <a:ext cx="777240" cy="777240"/>
          </a:xfrm>
          <a:prstGeom prst="roundRect">
            <a:avLst>
              <a:gd name="adj" fmla="val 9412"/>
            </a:avLst>
          </a:prstGeom>
          <a:solidFill>
            <a:srgbClr val="F4B740"/>
          </a:solidFill>
          <a:ln/>
          <a:effectLst>
            <a:outerShdw blurRad="76200" dist="25400" dir="5400000" algn="bl" rotWithShape="0">
              <a:srgbClr val="8892B0">
                <a:alpha val="30000"/>
              </a:srgbClr>
            </a:outerShdw>
          </a:effectLst>
        </p:spPr>
        <p:txBody>
          <a:bodyPr/>
          <a:lstStyle/>
          <a:p>
            <a:endParaRPr lang="en-IN"/>
          </a:p>
        </p:txBody>
      </p:sp>
      <p:pic>
        <p:nvPicPr>
          <p:cNvPr id="18" name="Image 2" descr="preencoded.png"/>
          <p:cNvPicPr>
            <a:picLocks noChangeAspect="1"/>
          </p:cNvPicPr>
          <p:nvPr/>
        </p:nvPicPr>
        <p:blipFill>
          <a:blip r:embed="rId5"/>
          <a:stretch>
            <a:fillRect/>
          </a:stretch>
        </p:blipFill>
        <p:spPr>
          <a:xfrm>
            <a:off x="1119226" y="4621378"/>
            <a:ext cx="404165" cy="404165"/>
          </a:xfrm>
          <a:prstGeom prst="rect">
            <a:avLst/>
          </a:prstGeom>
        </p:spPr>
      </p:pic>
      <p:sp>
        <p:nvSpPr>
          <p:cNvPr id="19" name="Text 14"/>
          <p:cNvSpPr/>
          <p:nvPr/>
        </p:nvSpPr>
        <p:spPr>
          <a:xfrm>
            <a:off x="1920240" y="4297680"/>
            <a:ext cx="3749040" cy="640080"/>
          </a:xfrm>
          <a:prstGeom prst="rect">
            <a:avLst/>
          </a:prstGeom>
          <a:noFill/>
          <a:ln/>
        </p:spPr>
        <p:txBody>
          <a:bodyPr wrap="square" rtlCol="0" anchor="ctr"/>
          <a:lstStyle/>
          <a:p>
            <a:pPr marL="0" indent="0">
              <a:buNone/>
            </a:pPr>
            <a:r>
              <a:rPr lang="en-US" sz="1650" b="1" dirty="0">
                <a:solidFill>
                  <a:srgbClr val="FFFFFF"/>
                </a:solidFill>
                <a:latin typeface="Segoe UI Semibold" pitchFamily="34" charset="0"/>
                <a:ea typeface="Segoe UI Semibold" pitchFamily="34" charset="-122"/>
                <a:cs typeface="Segoe UI Semibold" pitchFamily="34" charset="-120"/>
              </a:rPr>
              <a:t>Improved governance</a:t>
            </a:r>
            <a:endParaRPr lang="en-US" sz="1650" dirty="0"/>
          </a:p>
        </p:txBody>
      </p:sp>
      <p:sp>
        <p:nvSpPr>
          <p:cNvPr id="20" name="Text 15"/>
          <p:cNvSpPr/>
          <p:nvPr/>
        </p:nvSpPr>
        <p:spPr>
          <a:xfrm>
            <a:off x="1920240" y="4983480"/>
            <a:ext cx="3749040" cy="548640"/>
          </a:xfrm>
          <a:prstGeom prst="rect">
            <a:avLst/>
          </a:prstGeom>
          <a:noFill/>
          <a:ln/>
        </p:spPr>
        <p:txBody>
          <a:bodyPr wrap="square" rtlCol="0" anchor="ctr"/>
          <a:lstStyle/>
          <a:p>
            <a:pPr marL="0" indent="0">
              <a:lnSpc>
                <a:spcPct val="110000"/>
              </a:lnSpc>
              <a:buNone/>
            </a:pPr>
            <a:r>
              <a:rPr lang="en-US" sz="1250" dirty="0">
                <a:solidFill>
                  <a:srgbClr val="CADCFC"/>
                </a:solidFill>
                <a:latin typeface="Segoe UI" pitchFamily="34" charset="0"/>
                <a:ea typeface="Segoe UI" pitchFamily="34" charset="-122"/>
                <a:cs typeface="Segoe UI" pitchFamily="34" charset="-120"/>
              </a:rPr>
              <a:t>Clear ownership, severity, and escalation policy</a:t>
            </a:r>
            <a:endParaRPr lang="en-US" sz="1250" dirty="0"/>
          </a:p>
        </p:txBody>
      </p:sp>
      <p:sp>
        <p:nvSpPr>
          <p:cNvPr id="21" name="Shape 16"/>
          <p:cNvSpPr/>
          <p:nvPr/>
        </p:nvSpPr>
        <p:spPr>
          <a:xfrm>
            <a:off x="6263640" y="3931920"/>
            <a:ext cx="5303520" cy="1783080"/>
          </a:xfrm>
          <a:prstGeom prst="roundRect">
            <a:avLst>
              <a:gd name="adj" fmla="val 4103"/>
            </a:avLst>
          </a:prstGeom>
          <a:solidFill>
            <a:srgbClr val="2A3576"/>
          </a:solidFill>
          <a:ln w="12700">
            <a:solidFill>
              <a:srgbClr val="3A4488"/>
            </a:solidFill>
            <a:prstDash val="solid"/>
          </a:ln>
        </p:spPr>
        <p:txBody>
          <a:bodyPr/>
          <a:lstStyle/>
          <a:p>
            <a:endParaRPr lang="en-IN"/>
          </a:p>
        </p:txBody>
      </p:sp>
      <p:sp>
        <p:nvSpPr>
          <p:cNvPr id="22" name="Shape 17"/>
          <p:cNvSpPr/>
          <p:nvPr/>
        </p:nvSpPr>
        <p:spPr>
          <a:xfrm>
            <a:off x="6556248" y="4434840"/>
            <a:ext cx="777240" cy="777240"/>
          </a:xfrm>
          <a:prstGeom prst="roundRect">
            <a:avLst>
              <a:gd name="adj" fmla="val 9412"/>
            </a:avLst>
          </a:prstGeom>
          <a:solidFill>
            <a:srgbClr val="F4B740"/>
          </a:solidFill>
          <a:ln/>
          <a:effectLst>
            <a:outerShdw blurRad="76200" dist="25400" dir="5400000" algn="bl" rotWithShape="0">
              <a:srgbClr val="8892B0">
                <a:alpha val="30000"/>
              </a:srgbClr>
            </a:outerShdw>
          </a:effectLst>
        </p:spPr>
        <p:txBody>
          <a:bodyPr/>
          <a:lstStyle/>
          <a:p>
            <a:endParaRPr lang="en-IN"/>
          </a:p>
        </p:txBody>
      </p:sp>
      <p:pic>
        <p:nvPicPr>
          <p:cNvPr id="23" name="Image 3" descr="preencoded.png"/>
          <p:cNvPicPr>
            <a:picLocks noChangeAspect="1"/>
          </p:cNvPicPr>
          <p:nvPr/>
        </p:nvPicPr>
        <p:blipFill>
          <a:blip r:embed="rId6"/>
          <a:stretch>
            <a:fillRect/>
          </a:stretch>
        </p:blipFill>
        <p:spPr>
          <a:xfrm>
            <a:off x="6742786" y="4621378"/>
            <a:ext cx="404165" cy="404165"/>
          </a:xfrm>
          <a:prstGeom prst="rect">
            <a:avLst/>
          </a:prstGeom>
        </p:spPr>
      </p:pic>
      <p:sp>
        <p:nvSpPr>
          <p:cNvPr id="24" name="Text 18"/>
          <p:cNvSpPr/>
          <p:nvPr/>
        </p:nvSpPr>
        <p:spPr>
          <a:xfrm>
            <a:off x="7543800" y="4297680"/>
            <a:ext cx="3749040" cy="640080"/>
          </a:xfrm>
          <a:prstGeom prst="rect">
            <a:avLst/>
          </a:prstGeom>
          <a:noFill/>
          <a:ln/>
        </p:spPr>
        <p:txBody>
          <a:bodyPr wrap="square" rtlCol="0" anchor="ctr"/>
          <a:lstStyle/>
          <a:p>
            <a:pPr marL="0" indent="0">
              <a:buNone/>
            </a:pPr>
            <a:r>
              <a:rPr lang="en-US" sz="1650" b="1" dirty="0">
                <a:solidFill>
                  <a:srgbClr val="FFFFFF"/>
                </a:solidFill>
                <a:latin typeface="Segoe UI Semibold" pitchFamily="34" charset="0"/>
                <a:ea typeface="Segoe UI Semibold" pitchFamily="34" charset="-122"/>
                <a:cs typeface="Segoe UI Semibold" pitchFamily="34" charset="-120"/>
              </a:rPr>
              <a:t>Measurable quality outcomes</a:t>
            </a:r>
            <a:endParaRPr lang="en-US" sz="1650" dirty="0"/>
          </a:p>
        </p:txBody>
      </p:sp>
      <p:sp>
        <p:nvSpPr>
          <p:cNvPr id="25" name="Text 19"/>
          <p:cNvSpPr/>
          <p:nvPr/>
        </p:nvSpPr>
        <p:spPr>
          <a:xfrm>
            <a:off x="7543800" y="4983480"/>
            <a:ext cx="3749040" cy="548640"/>
          </a:xfrm>
          <a:prstGeom prst="rect">
            <a:avLst/>
          </a:prstGeom>
          <a:noFill/>
          <a:ln/>
        </p:spPr>
        <p:txBody>
          <a:bodyPr wrap="square" rtlCol="0" anchor="ctr"/>
          <a:lstStyle/>
          <a:p>
            <a:pPr marL="0" indent="0">
              <a:lnSpc>
                <a:spcPct val="110000"/>
              </a:lnSpc>
              <a:buNone/>
            </a:pPr>
            <a:r>
              <a:rPr lang="en-US" sz="1250" dirty="0">
                <a:solidFill>
                  <a:srgbClr val="CADCFC"/>
                </a:solidFill>
                <a:latin typeface="Segoe UI" pitchFamily="34" charset="0"/>
                <a:ea typeface="Segoe UI" pitchFamily="34" charset="-122"/>
                <a:cs typeface="Segoe UI" pitchFamily="34" charset="-120"/>
              </a:rPr>
              <a:t>Evidence of end-to-end quality ownership</a:t>
            </a:r>
            <a:endParaRPr lang="en-US" sz="12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4F6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1E2761"/>
          </a:solidFill>
          <a:ln/>
        </p:spPr>
        <p:txBody>
          <a:bodyPr/>
          <a:lstStyle/>
          <a:p>
            <a:endParaRPr lang="en-IN"/>
          </a:p>
        </p:txBody>
      </p:sp>
      <p:sp>
        <p:nvSpPr>
          <p:cNvPr id="3" name="Text 1"/>
          <p:cNvSpPr/>
          <p:nvPr/>
        </p:nvSpPr>
        <p:spPr>
          <a:xfrm>
            <a:off x="640080" y="457200"/>
            <a:ext cx="10058400" cy="274320"/>
          </a:xfrm>
          <a:prstGeom prst="rect">
            <a:avLst/>
          </a:prstGeom>
          <a:noFill/>
          <a:ln/>
        </p:spPr>
        <p:txBody>
          <a:bodyPr wrap="square" rtlCol="0" anchor="ctr"/>
          <a:lstStyle/>
          <a:p>
            <a:pPr marL="0" indent="0">
              <a:buNone/>
            </a:pPr>
            <a:r>
              <a:rPr lang="en-US" sz="1200" b="1" kern="0" spc="300" dirty="0">
                <a:solidFill>
                  <a:srgbClr val="F4B740"/>
                </a:solidFill>
                <a:latin typeface="Segoe UI Semibold" pitchFamily="34" charset="0"/>
                <a:ea typeface="Segoe UI Semibold" pitchFamily="34" charset="-122"/>
                <a:cs typeface="Segoe UI Semibold" pitchFamily="34" charset="-120"/>
              </a:rPr>
              <a:t>SKILLS DEMONSTRATED</a:t>
            </a:r>
            <a:endParaRPr lang="en-US" sz="1200" dirty="0"/>
          </a:p>
        </p:txBody>
      </p:sp>
      <p:sp>
        <p:nvSpPr>
          <p:cNvPr id="4" name="Text 2"/>
          <p:cNvSpPr/>
          <p:nvPr/>
        </p:nvSpPr>
        <p:spPr>
          <a:xfrm>
            <a:off x="640080" y="731520"/>
            <a:ext cx="10881360" cy="640080"/>
          </a:xfrm>
          <a:prstGeom prst="rect">
            <a:avLst/>
          </a:prstGeom>
          <a:noFill/>
          <a:ln/>
        </p:spPr>
        <p:txBody>
          <a:bodyPr wrap="square" rtlCol="0" anchor="ctr"/>
          <a:lstStyle/>
          <a:p>
            <a:pPr marL="0" indent="0">
              <a:buNone/>
            </a:pPr>
            <a:r>
              <a:rPr lang="en-US" sz="3000" b="1" dirty="0">
                <a:solidFill>
                  <a:srgbClr val="1E2761"/>
                </a:solidFill>
                <a:latin typeface="Segoe UI Light" pitchFamily="34" charset="0"/>
                <a:ea typeface="Segoe UI Light" pitchFamily="34" charset="-122"/>
                <a:cs typeface="Segoe UI Light" pitchFamily="34" charset="-120"/>
              </a:rPr>
              <a:t>Capabilities evidenced by this project</a:t>
            </a:r>
            <a:endParaRPr lang="en-US" sz="3000" dirty="0"/>
          </a:p>
        </p:txBody>
      </p:sp>
      <p:sp>
        <p:nvSpPr>
          <p:cNvPr id="5" name="Shape 3"/>
          <p:cNvSpPr/>
          <p:nvPr/>
        </p:nvSpPr>
        <p:spPr>
          <a:xfrm>
            <a:off x="658368" y="1417320"/>
            <a:ext cx="1005840" cy="0"/>
          </a:xfrm>
          <a:prstGeom prst="line">
            <a:avLst/>
          </a:prstGeom>
          <a:noFill/>
          <a:ln w="31750">
            <a:solidFill>
              <a:srgbClr val="F4B740"/>
            </a:solidFill>
            <a:prstDash val="solid"/>
          </a:ln>
        </p:spPr>
        <p:txBody>
          <a:bodyPr/>
          <a:lstStyle/>
          <a:p>
            <a:endParaRPr lang="en-IN"/>
          </a:p>
        </p:txBody>
      </p:sp>
      <p:sp>
        <p:nvSpPr>
          <p:cNvPr id="6" name="Text 4"/>
          <p:cNvSpPr/>
          <p:nvPr/>
        </p:nvSpPr>
        <p:spPr>
          <a:xfrm>
            <a:off x="11338560" y="6309360"/>
            <a:ext cx="548640" cy="274320"/>
          </a:xfrm>
          <a:prstGeom prst="rect">
            <a:avLst/>
          </a:prstGeom>
          <a:noFill/>
          <a:ln/>
        </p:spPr>
        <p:txBody>
          <a:bodyPr wrap="square" rtlCol="0" anchor="ctr"/>
          <a:lstStyle/>
          <a:p>
            <a:pPr marL="0" indent="0" algn="r">
              <a:buNone/>
            </a:pPr>
            <a:r>
              <a:rPr lang="en-US" sz="1100" dirty="0">
                <a:solidFill>
                  <a:srgbClr val="5B6488"/>
                </a:solidFill>
                <a:latin typeface="Segoe UI Semibold" pitchFamily="34" charset="0"/>
                <a:ea typeface="Segoe UI Semibold" pitchFamily="34" charset="-122"/>
                <a:cs typeface="Segoe UI Semibold" pitchFamily="34" charset="-120"/>
              </a:rPr>
              <a:t>13</a:t>
            </a:r>
            <a:endParaRPr lang="en-US" sz="1100" dirty="0"/>
          </a:p>
        </p:txBody>
      </p:sp>
      <p:sp>
        <p:nvSpPr>
          <p:cNvPr id="7" name="Text 5"/>
          <p:cNvSpPr/>
          <p:nvPr/>
        </p:nvSpPr>
        <p:spPr>
          <a:xfrm>
            <a:off x="640080" y="6309360"/>
            <a:ext cx="5486400" cy="274320"/>
          </a:xfrm>
          <a:prstGeom prst="rect">
            <a:avLst/>
          </a:prstGeom>
          <a:noFill/>
          <a:ln/>
        </p:spPr>
        <p:txBody>
          <a:bodyPr wrap="square" rtlCol="0" anchor="ctr"/>
          <a:lstStyle/>
          <a:p>
            <a:pPr marL="0" indent="0">
              <a:buNone/>
            </a:pPr>
            <a:r>
              <a:rPr lang="en-US" sz="900" dirty="0">
                <a:solidFill>
                  <a:srgbClr val="5B6488"/>
                </a:solidFill>
                <a:latin typeface="Segoe UI" pitchFamily="34" charset="0"/>
                <a:ea typeface="Segoe UI" pitchFamily="34" charset="-122"/>
                <a:cs typeface="Segoe UI" pitchFamily="34" charset="-120"/>
              </a:rPr>
              <a:t>AI Quality Evaluation Framework</a:t>
            </a:r>
            <a:endParaRPr lang="en-US" sz="900" dirty="0"/>
          </a:p>
        </p:txBody>
      </p:sp>
      <p:sp>
        <p:nvSpPr>
          <p:cNvPr id="8" name="Shape 6"/>
          <p:cNvSpPr/>
          <p:nvPr/>
        </p:nvSpPr>
        <p:spPr>
          <a:xfrm>
            <a:off x="490576" y="2103120"/>
            <a:ext cx="2651760" cy="1554480"/>
          </a:xfrm>
          <a:prstGeom prst="roundRect">
            <a:avLst>
              <a:gd name="adj" fmla="val 4706"/>
            </a:avLst>
          </a:prstGeom>
          <a:solidFill>
            <a:srgbClr val="FFFFFF"/>
          </a:solidFill>
          <a:ln w="12700">
            <a:solidFill>
              <a:srgbClr val="E2E7F5"/>
            </a:solidFill>
            <a:prstDash val="solid"/>
          </a:ln>
          <a:effectLst>
            <a:outerShdw blurRad="88900" dist="25400" dir="5400000" algn="bl" rotWithShape="0">
              <a:srgbClr val="C7CEE0">
                <a:alpha val="50000"/>
              </a:srgbClr>
            </a:outerShdw>
          </a:effectLst>
        </p:spPr>
        <p:txBody>
          <a:bodyPr/>
          <a:lstStyle/>
          <a:p>
            <a:endParaRPr lang="en-IN"/>
          </a:p>
        </p:txBody>
      </p:sp>
      <p:sp>
        <p:nvSpPr>
          <p:cNvPr id="9" name="Shape 7"/>
          <p:cNvSpPr/>
          <p:nvPr/>
        </p:nvSpPr>
        <p:spPr>
          <a:xfrm>
            <a:off x="1432408" y="2359152"/>
            <a:ext cx="768096" cy="768096"/>
          </a:xfrm>
          <a:prstGeom prst="roundRect">
            <a:avLst>
              <a:gd name="adj" fmla="val 9524"/>
            </a:avLst>
          </a:prstGeom>
          <a:solidFill>
            <a:srgbClr val="F96167"/>
          </a:solidFill>
          <a:ln/>
          <a:effectLst>
            <a:outerShdw blurRad="76200" dist="25400" dir="5400000" algn="bl" rotWithShape="0">
              <a:srgbClr val="8892B0">
                <a:alpha val="30000"/>
              </a:srgbClr>
            </a:outerShdw>
          </a:effectLst>
        </p:spPr>
        <p:txBody>
          <a:bodyPr/>
          <a:lstStyle/>
          <a:p>
            <a:endParaRPr lang="en-IN"/>
          </a:p>
        </p:txBody>
      </p:sp>
      <p:pic>
        <p:nvPicPr>
          <p:cNvPr id="10" name="Image 0" descr="preencoded.png"/>
          <p:cNvPicPr>
            <a:picLocks noChangeAspect="1"/>
          </p:cNvPicPr>
          <p:nvPr/>
        </p:nvPicPr>
        <p:blipFill>
          <a:blip r:embed="rId3"/>
          <a:stretch>
            <a:fillRect/>
          </a:stretch>
        </p:blipFill>
        <p:spPr>
          <a:xfrm>
            <a:off x="1616751" y="2543495"/>
            <a:ext cx="399410" cy="399410"/>
          </a:xfrm>
          <a:prstGeom prst="rect">
            <a:avLst/>
          </a:prstGeom>
        </p:spPr>
      </p:pic>
      <p:sp>
        <p:nvSpPr>
          <p:cNvPr id="11" name="Text 8"/>
          <p:cNvSpPr/>
          <p:nvPr/>
        </p:nvSpPr>
        <p:spPr>
          <a:xfrm>
            <a:off x="582016" y="3182112"/>
            <a:ext cx="2468880" cy="365760"/>
          </a:xfrm>
          <a:prstGeom prst="rect">
            <a:avLst/>
          </a:prstGeom>
          <a:noFill/>
          <a:ln/>
        </p:spPr>
        <p:txBody>
          <a:bodyPr wrap="square" rtlCol="0" anchor="ctr"/>
          <a:lstStyle/>
          <a:p>
            <a:pPr marL="0" indent="0" algn="ctr">
              <a:buNone/>
            </a:pPr>
            <a:r>
              <a:rPr lang="en-US" sz="1400" b="1" dirty="0">
                <a:solidFill>
                  <a:srgbClr val="1E2761"/>
                </a:solidFill>
                <a:latin typeface="Segoe UI Semibold" pitchFamily="34" charset="0"/>
                <a:ea typeface="Segoe UI Semibold" pitchFamily="34" charset="-122"/>
                <a:cs typeface="Segoe UI Semibold" pitchFamily="34" charset="-120"/>
              </a:rPr>
              <a:t>AI Quality Evaluation</a:t>
            </a:r>
            <a:endParaRPr lang="en-US" sz="1400" dirty="0"/>
          </a:p>
        </p:txBody>
      </p:sp>
      <p:sp>
        <p:nvSpPr>
          <p:cNvPr id="12" name="Shape 9"/>
          <p:cNvSpPr/>
          <p:nvPr/>
        </p:nvSpPr>
        <p:spPr>
          <a:xfrm>
            <a:off x="3343504" y="2103120"/>
            <a:ext cx="2651760" cy="1554480"/>
          </a:xfrm>
          <a:prstGeom prst="roundRect">
            <a:avLst>
              <a:gd name="adj" fmla="val 4706"/>
            </a:avLst>
          </a:prstGeom>
          <a:solidFill>
            <a:srgbClr val="FFFFFF"/>
          </a:solidFill>
          <a:ln w="12700">
            <a:solidFill>
              <a:srgbClr val="E2E7F5"/>
            </a:solidFill>
            <a:prstDash val="solid"/>
          </a:ln>
          <a:effectLst>
            <a:outerShdw blurRad="88900" dist="25400" dir="5400000" algn="bl" rotWithShape="0">
              <a:srgbClr val="C7CEE0">
                <a:alpha val="50000"/>
              </a:srgbClr>
            </a:outerShdw>
          </a:effectLst>
        </p:spPr>
        <p:txBody>
          <a:bodyPr/>
          <a:lstStyle/>
          <a:p>
            <a:endParaRPr lang="en-IN"/>
          </a:p>
        </p:txBody>
      </p:sp>
      <p:sp>
        <p:nvSpPr>
          <p:cNvPr id="13" name="Shape 10"/>
          <p:cNvSpPr/>
          <p:nvPr/>
        </p:nvSpPr>
        <p:spPr>
          <a:xfrm>
            <a:off x="4285336" y="2359152"/>
            <a:ext cx="768096" cy="768096"/>
          </a:xfrm>
          <a:prstGeom prst="roundRect">
            <a:avLst>
              <a:gd name="adj" fmla="val 9524"/>
            </a:avLst>
          </a:prstGeom>
          <a:solidFill>
            <a:srgbClr val="1E2761"/>
          </a:solidFill>
          <a:ln/>
          <a:effectLst>
            <a:outerShdw blurRad="76200" dist="25400" dir="5400000" algn="bl" rotWithShape="0">
              <a:srgbClr val="8892B0">
                <a:alpha val="30000"/>
              </a:srgbClr>
            </a:outerShdw>
          </a:effectLst>
        </p:spPr>
        <p:txBody>
          <a:bodyPr/>
          <a:lstStyle/>
          <a:p>
            <a:endParaRPr lang="en-IN"/>
          </a:p>
        </p:txBody>
      </p:sp>
      <p:pic>
        <p:nvPicPr>
          <p:cNvPr id="14" name="Image 1" descr="preencoded.png"/>
          <p:cNvPicPr>
            <a:picLocks noChangeAspect="1"/>
          </p:cNvPicPr>
          <p:nvPr/>
        </p:nvPicPr>
        <p:blipFill>
          <a:blip r:embed="rId4"/>
          <a:stretch>
            <a:fillRect/>
          </a:stretch>
        </p:blipFill>
        <p:spPr>
          <a:xfrm>
            <a:off x="4469679" y="2543495"/>
            <a:ext cx="399410" cy="399410"/>
          </a:xfrm>
          <a:prstGeom prst="rect">
            <a:avLst/>
          </a:prstGeom>
        </p:spPr>
      </p:pic>
      <p:sp>
        <p:nvSpPr>
          <p:cNvPr id="15" name="Text 11"/>
          <p:cNvSpPr/>
          <p:nvPr/>
        </p:nvSpPr>
        <p:spPr>
          <a:xfrm>
            <a:off x="3434944" y="3182112"/>
            <a:ext cx="2468880" cy="365760"/>
          </a:xfrm>
          <a:prstGeom prst="rect">
            <a:avLst/>
          </a:prstGeom>
          <a:noFill/>
          <a:ln/>
        </p:spPr>
        <p:txBody>
          <a:bodyPr wrap="square" rtlCol="0" anchor="ctr"/>
          <a:lstStyle/>
          <a:p>
            <a:pPr marL="0" indent="0" algn="ctr">
              <a:buNone/>
            </a:pPr>
            <a:r>
              <a:rPr lang="en-US" sz="1400" b="1" dirty="0">
                <a:solidFill>
                  <a:srgbClr val="1E2761"/>
                </a:solidFill>
                <a:latin typeface="Segoe UI Semibold" pitchFamily="34" charset="0"/>
                <a:ea typeface="Segoe UI Semibold" pitchFamily="34" charset="-122"/>
                <a:cs typeface="Segoe UI Semibold" pitchFamily="34" charset="-120"/>
              </a:rPr>
              <a:t>RLHF Evaluation</a:t>
            </a:r>
            <a:endParaRPr lang="en-US" sz="1400" dirty="0"/>
          </a:p>
        </p:txBody>
      </p:sp>
      <p:sp>
        <p:nvSpPr>
          <p:cNvPr id="16" name="Shape 12"/>
          <p:cNvSpPr/>
          <p:nvPr/>
        </p:nvSpPr>
        <p:spPr>
          <a:xfrm>
            <a:off x="6196432" y="2103120"/>
            <a:ext cx="2651760" cy="1554480"/>
          </a:xfrm>
          <a:prstGeom prst="roundRect">
            <a:avLst>
              <a:gd name="adj" fmla="val 4706"/>
            </a:avLst>
          </a:prstGeom>
          <a:solidFill>
            <a:srgbClr val="FFFFFF"/>
          </a:solidFill>
          <a:ln w="12700">
            <a:solidFill>
              <a:srgbClr val="E2E7F5"/>
            </a:solidFill>
            <a:prstDash val="solid"/>
          </a:ln>
          <a:effectLst>
            <a:outerShdw blurRad="88900" dist="25400" dir="5400000" algn="bl" rotWithShape="0">
              <a:srgbClr val="C7CEE0">
                <a:alpha val="50000"/>
              </a:srgbClr>
            </a:outerShdw>
          </a:effectLst>
        </p:spPr>
        <p:txBody>
          <a:bodyPr/>
          <a:lstStyle/>
          <a:p>
            <a:endParaRPr lang="en-IN"/>
          </a:p>
        </p:txBody>
      </p:sp>
      <p:sp>
        <p:nvSpPr>
          <p:cNvPr id="17" name="Shape 13"/>
          <p:cNvSpPr/>
          <p:nvPr/>
        </p:nvSpPr>
        <p:spPr>
          <a:xfrm>
            <a:off x="7138264" y="2359152"/>
            <a:ext cx="768096" cy="768096"/>
          </a:xfrm>
          <a:prstGeom prst="roundRect">
            <a:avLst>
              <a:gd name="adj" fmla="val 9524"/>
            </a:avLst>
          </a:prstGeom>
          <a:solidFill>
            <a:srgbClr val="F96167"/>
          </a:solidFill>
          <a:ln/>
          <a:effectLst>
            <a:outerShdw blurRad="76200" dist="25400" dir="5400000" algn="bl" rotWithShape="0">
              <a:srgbClr val="8892B0">
                <a:alpha val="30000"/>
              </a:srgbClr>
            </a:outerShdw>
          </a:effectLst>
        </p:spPr>
        <p:txBody>
          <a:bodyPr/>
          <a:lstStyle/>
          <a:p>
            <a:endParaRPr lang="en-IN"/>
          </a:p>
        </p:txBody>
      </p:sp>
      <p:pic>
        <p:nvPicPr>
          <p:cNvPr id="18" name="Image 2" descr="preencoded.png"/>
          <p:cNvPicPr>
            <a:picLocks noChangeAspect="1"/>
          </p:cNvPicPr>
          <p:nvPr/>
        </p:nvPicPr>
        <p:blipFill>
          <a:blip r:embed="rId5"/>
          <a:stretch>
            <a:fillRect/>
          </a:stretch>
        </p:blipFill>
        <p:spPr>
          <a:xfrm>
            <a:off x="7322607" y="2543495"/>
            <a:ext cx="399410" cy="399410"/>
          </a:xfrm>
          <a:prstGeom prst="rect">
            <a:avLst/>
          </a:prstGeom>
        </p:spPr>
      </p:pic>
      <p:sp>
        <p:nvSpPr>
          <p:cNvPr id="19" name="Text 14"/>
          <p:cNvSpPr/>
          <p:nvPr/>
        </p:nvSpPr>
        <p:spPr>
          <a:xfrm>
            <a:off x="6287872" y="3182112"/>
            <a:ext cx="2468880" cy="365760"/>
          </a:xfrm>
          <a:prstGeom prst="rect">
            <a:avLst/>
          </a:prstGeom>
          <a:noFill/>
          <a:ln/>
        </p:spPr>
        <p:txBody>
          <a:bodyPr wrap="square" rtlCol="0" anchor="ctr"/>
          <a:lstStyle/>
          <a:p>
            <a:pPr marL="0" indent="0" algn="ctr">
              <a:buNone/>
            </a:pPr>
            <a:r>
              <a:rPr lang="en-US" sz="1400" b="1" dirty="0">
                <a:solidFill>
                  <a:srgbClr val="1E2761"/>
                </a:solidFill>
                <a:latin typeface="Segoe UI Semibold" pitchFamily="34" charset="0"/>
                <a:ea typeface="Segoe UI Semibold" pitchFamily="34" charset="-122"/>
                <a:cs typeface="Segoe UI Semibold" pitchFamily="34" charset="-120"/>
              </a:rPr>
              <a:t>Annotation &amp; Review</a:t>
            </a:r>
            <a:endParaRPr lang="en-US" sz="1400" dirty="0"/>
          </a:p>
        </p:txBody>
      </p:sp>
      <p:sp>
        <p:nvSpPr>
          <p:cNvPr id="20" name="Shape 15"/>
          <p:cNvSpPr/>
          <p:nvPr/>
        </p:nvSpPr>
        <p:spPr>
          <a:xfrm>
            <a:off x="9049360" y="2103120"/>
            <a:ext cx="2651760" cy="1554480"/>
          </a:xfrm>
          <a:prstGeom prst="roundRect">
            <a:avLst>
              <a:gd name="adj" fmla="val 4706"/>
            </a:avLst>
          </a:prstGeom>
          <a:solidFill>
            <a:srgbClr val="FFFFFF"/>
          </a:solidFill>
          <a:ln w="12700">
            <a:solidFill>
              <a:srgbClr val="E2E7F5"/>
            </a:solidFill>
            <a:prstDash val="solid"/>
          </a:ln>
          <a:effectLst>
            <a:outerShdw blurRad="88900" dist="25400" dir="5400000" algn="bl" rotWithShape="0">
              <a:srgbClr val="C7CEE0">
                <a:alpha val="50000"/>
              </a:srgbClr>
            </a:outerShdw>
          </a:effectLst>
        </p:spPr>
        <p:txBody>
          <a:bodyPr/>
          <a:lstStyle/>
          <a:p>
            <a:endParaRPr lang="en-IN"/>
          </a:p>
        </p:txBody>
      </p:sp>
      <p:sp>
        <p:nvSpPr>
          <p:cNvPr id="21" name="Shape 16"/>
          <p:cNvSpPr/>
          <p:nvPr/>
        </p:nvSpPr>
        <p:spPr>
          <a:xfrm>
            <a:off x="9991192" y="2359152"/>
            <a:ext cx="768096" cy="768096"/>
          </a:xfrm>
          <a:prstGeom prst="roundRect">
            <a:avLst>
              <a:gd name="adj" fmla="val 9524"/>
            </a:avLst>
          </a:prstGeom>
          <a:solidFill>
            <a:srgbClr val="1E2761"/>
          </a:solidFill>
          <a:ln/>
          <a:effectLst>
            <a:outerShdw blurRad="76200" dist="25400" dir="5400000" algn="bl" rotWithShape="0">
              <a:srgbClr val="8892B0">
                <a:alpha val="30000"/>
              </a:srgbClr>
            </a:outerShdw>
          </a:effectLst>
        </p:spPr>
        <p:txBody>
          <a:bodyPr/>
          <a:lstStyle/>
          <a:p>
            <a:endParaRPr lang="en-IN"/>
          </a:p>
        </p:txBody>
      </p:sp>
      <p:pic>
        <p:nvPicPr>
          <p:cNvPr id="22" name="Image 3" descr="preencoded.png"/>
          <p:cNvPicPr>
            <a:picLocks noChangeAspect="1"/>
          </p:cNvPicPr>
          <p:nvPr/>
        </p:nvPicPr>
        <p:blipFill>
          <a:blip r:embed="rId6"/>
          <a:stretch>
            <a:fillRect/>
          </a:stretch>
        </p:blipFill>
        <p:spPr>
          <a:xfrm>
            <a:off x="10175535" y="2543495"/>
            <a:ext cx="399410" cy="399410"/>
          </a:xfrm>
          <a:prstGeom prst="rect">
            <a:avLst/>
          </a:prstGeom>
        </p:spPr>
      </p:pic>
      <p:sp>
        <p:nvSpPr>
          <p:cNvPr id="23" name="Text 17"/>
          <p:cNvSpPr/>
          <p:nvPr/>
        </p:nvSpPr>
        <p:spPr>
          <a:xfrm>
            <a:off x="9140800" y="3182112"/>
            <a:ext cx="2468880" cy="365760"/>
          </a:xfrm>
          <a:prstGeom prst="rect">
            <a:avLst/>
          </a:prstGeom>
          <a:noFill/>
          <a:ln/>
        </p:spPr>
        <p:txBody>
          <a:bodyPr wrap="square" rtlCol="0" anchor="ctr"/>
          <a:lstStyle/>
          <a:p>
            <a:pPr marL="0" indent="0" algn="ctr">
              <a:buNone/>
            </a:pPr>
            <a:r>
              <a:rPr lang="en-US" sz="1400" b="1" dirty="0">
                <a:solidFill>
                  <a:srgbClr val="1E2761"/>
                </a:solidFill>
                <a:latin typeface="Segoe UI Semibold" pitchFamily="34" charset="0"/>
                <a:ea typeface="Segoe UI Semibold" pitchFamily="34" charset="-122"/>
                <a:cs typeface="Segoe UI Semibold" pitchFamily="34" charset="-120"/>
              </a:rPr>
              <a:t>Error Taxonomy</a:t>
            </a:r>
            <a:endParaRPr lang="en-US" sz="1400" dirty="0"/>
          </a:p>
        </p:txBody>
      </p:sp>
      <p:sp>
        <p:nvSpPr>
          <p:cNvPr id="24" name="Shape 18"/>
          <p:cNvSpPr/>
          <p:nvPr/>
        </p:nvSpPr>
        <p:spPr>
          <a:xfrm>
            <a:off x="490576" y="3931920"/>
            <a:ext cx="2651760" cy="1554480"/>
          </a:xfrm>
          <a:prstGeom prst="roundRect">
            <a:avLst>
              <a:gd name="adj" fmla="val 4706"/>
            </a:avLst>
          </a:prstGeom>
          <a:solidFill>
            <a:srgbClr val="FFFFFF"/>
          </a:solidFill>
          <a:ln w="12700">
            <a:solidFill>
              <a:srgbClr val="E2E7F5"/>
            </a:solidFill>
            <a:prstDash val="solid"/>
          </a:ln>
          <a:effectLst>
            <a:outerShdw blurRad="88900" dist="25400" dir="5400000" algn="bl" rotWithShape="0">
              <a:srgbClr val="C7CEE0">
                <a:alpha val="50000"/>
              </a:srgbClr>
            </a:outerShdw>
          </a:effectLst>
        </p:spPr>
        <p:txBody>
          <a:bodyPr/>
          <a:lstStyle/>
          <a:p>
            <a:endParaRPr lang="en-IN"/>
          </a:p>
        </p:txBody>
      </p:sp>
      <p:sp>
        <p:nvSpPr>
          <p:cNvPr id="25" name="Shape 19"/>
          <p:cNvSpPr/>
          <p:nvPr/>
        </p:nvSpPr>
        <p:spPr>
          <a:xfrm>
            <a:off x="1432408" y="4187952"/>
            <a:ext cx="768096" cy="768096"/>
          </a:xfrm>
          <a:prstGeom prst="roundRect">
            <a:avLst>
              <a:gd name="adj" fmla="val 9524"/>
            </a:avLst>
          </a:prstGeom>
          <a:solidFill>
            <a:srgbClr val="F96167"/>
          </a:solidFill>
          <a:ln/>
          <a:effectLst>
            <a:outerShdw blurRad="76200" dist="25400" dir="5400000" algn="bl" rotWithShape="0">
              <a:srgbClr val="8892B0">
                <a:alpha val="30000"/>
              </a:srgbClr>
            </a:outerShdw>
          </a:effectLst>
        </p:spPr>
        <p:txBody>
          <a:bodyPr/>
          <a:lstStyle/>
          <a:p>
            <a:endParaRPr lang="en-IN"/>
          </a:p>
        </p:txBody>
      </p:sp>
      <p:pic>
        <p:nvPicPr>
          <p:cNvPr id="26" name="Image 4" descr="preencoded.png"/>
          <p:cNvPicPr>
            <a:picLocks noChangeAspect="1"/>
          </p:cNvPicPr>
          <p:nvPr/>
        </p:nvPicPr>
        <p:blipFill>
          <a:blip r:embed="rId7"/>
          <a:stretch>
            <a:fillRect/>
          </a:stretch>
        </p:blipFill>
        <p:spPr>
          <a:xfrm>
            <a:off x="1616751" y="4372295"/>
            <a:ext cx="399410" cy="399410"/>
          </a:xfrm>
          <a:prstGeom prst="rect">
            <a:avLst/>
          </a:prstGeom>
        </p:spPr>
      </p:pic>
      <p:sp>
        <p:nvSpPr>
          <p:cNvPr id="27" name="Text 20"/>
          <p:cNvSpPr/>
          <p:nvPr/>
        </p:nvSpPr>
        <p:spPr>
          <a:xfrm>
            <a:off x="582016" y="5010912"/>
            <a:ext cx="2468880" cy="365760"/>
          </a:xfrm>
          <a:prstGeom prst="rect">
            <a:avLst/>
          </a:prstGeom>
          <a:noFill/>
          <a:ln/>
        </p:spPr>
        <p:txBody>
          <a:bodyPr wrap="square" rtlCol="0" anchor="ctr"/>
          <a:lstStyle/>
          <a:p>
            <a:pPr marL="0" indent="0" algn="ctr">
              <a:buNone/>
            </a:pPr>
            <a:r>
              <a:rPr lang="en-US" sz="1400" b="1" dirty="0">
                <a:solidFill>
                  <a:srgbClr val="1E2761"/>
                </a:solidFill>
                <a:latin typeface="Segoe UI Semibold" pitchFamily="34" charset="0"/>
                <a:ea typeface="Segoe UI Semibold" pitchFamily="34" charset="-122"/>
                <a:cs typeface="Segoe UI Semibold" pitchFamily="34" charset="-120"/>
              </a:rPr>
              <a:t>Quality Metrics</a:t>
            </a:r>
            <a:endParaRPr lang="en-US" sz="1400" dirty="0"/>
          </a:p>
        </p:txBody>
      </p:sp>
      <p:sp>
        <p:nvSpPr>
          <p:cNvPr id="28" name="Shape 21"/>
          <p:cNvSpPr/>
          <p:nvPr/>
        </p:nvSpPr>
        <p:spPr>
          <a:xfrm>
            <a:off x="3343504" y="3931920"/>
            <a:ext cx="2651760" cy="1554480"/>
          </a:xfrm>
          <a:prstGeom prst="roundRect">
            <a:avLst>
              <a:gd name="adj" fmla="val 4706"/>
            </a:avLst>
          </a:prstGeom>
          <a:solidFill>
            <a:srgbClr val="FFFFFF"/>
          </a:solidFill>
          <a:ln w="12700">
            <a:solidFill>
              <a:srgbClr val="E2E7F5"/>
            </a:solidFill>
            <a:prstDash val="solid"/>
          </a:ln>
          <a:effectLst>
            <a:outerShdw blurRad="88900" dist="25400" dir="5400000" algn="bl" rotWithShape="0">
              <a:srgbClr val="C7CEE0">
                <a:alpha val="50000"/>
              </a:srgbClr>
            </a:outerShdw>
          </a:effectLst>
        </p:spPr>
        <p:txBody>
          <a:bodyPr/>
          <a:lstStyle/>
          <a:p>
            <a:endParaRPr lang="en-IN"/>
          </a:p>
        </p:txBody>
      </p:sp>
      <p:sp>
        <p:nvSpPr>
          <p:cNvPr id="29" name="Shape 22"/>
          <p:cNvSpPr/>
          <p:nvPr/>
        </p:nvSpPr>
        <p:spPr>
          <a:xfrm>
            <a:off x="4285336" y="4187952"/>
            <a:ext cx="768096" cy="768096"/>
          </a:xfrm>
          <a:prstGeom prst="roundRect">
            <a:avLst>
              <a:gd name="adj" fmla="val 9524"/>
            </a:avLst>
          </a:prstGeom>
          <a:solidFill>
            <a:srgbClr val="1E2761"/>
          </a:solidFill>
          <a:ln/>
          <a:effectLst>
            <a:outerShdw blurRad="76200" dist="25400" dir="5400000" algn="bl" rotWithShape="0">
              <a:srgbClr val="8892B0">
                <a:alpha val="30000"/>
              </a:srgbClr>
            </a:outerShdw>
          </a:effectLst>
        </p:spPr>
        <p:txBody>
          <a:bodyPr/>
          <a:lstStyle/>
          <a:p>
            <a:endParaRPr lang="en-IN"/>
          </a:p>
        </p:txBody>
      </p:sp>
      <p:pic>
        <p:nvPicPr>
          <p:cNvPr id="30" name="Image 5" descr="preencoded.png"/>
          <p:cNvPicPr>
            <a:picLocks noChangeAspect="1"/>
          </p:cNvPicPr>
          <p:nvPr/>
        </p:nvPicPr>
        <p:blipFill>
          <a:blip r:embed="rId8"/>
          <a:stretch>
            <a:fillRect/>
          </a:stretch>
        </p:blipFill>
        <p:spPr>
          <a:xfrm>
            <a:off x="4469679" y="4372295"/>
            <a:ext cx="399410" cy="399410"/>
          </a:xfrm>
          <a:prstGeom prst="rect">
            <a:avLst/>
          </a:prstGeom>
        </p:spPr>
      </p:pic>
      <p:sp>
        <p:nvSpPr>
          <p:cNvPr id="31" name="Text 23"/>
          <p:cNvSpPr/>
          <p:nvPr/>
        </p:nvSpPr>
        <p:spPr>
          <a:xfrm>
            <a:off x="3434944" y="5010912"/>
            <a:ext cx="2468880" cy="365760"/>
          </a:xfrm>
          <a:prstGeom prst="rect">
            <a:avLst/>
          </a:prstGeom>
          <a:noFill/>
          <a:ln/>
        </p:spPr>
        <p:txBody>
          <a:bodyPr wrap="square" rtlCol="0" anchor="ctr"/>
          <a:lstStyle/>
          <a:p>
            <a:pPr marL="0" indent="0" algn="ctr">
              <a:buNone/>
            </a:pPr>
            <a:r>
              <a:rPr lang="en-US" sz="1400" b="1" dirty="0">
                <a:solidFill>
                  <a:srgbClr val="1E2761"/>
                </a:solidFill>
                <a:latin typeface="Segoe UI Semibold" pitchFamily="34" charset="0"/>
                <a:ea typeface="Segoe UI Semibold" pitchFamily="34" charset="-122"/>
                <a:cs typeface="Segoe UI Semibold" pitchFamily="34" charset="-120"/>
              </a:rPr>
              <a:t>Quality Governance</a:t>
            </a:r>
            <a:endParaRPr lang="en-US" sz="1400" dirty="0"/>
          </a:p>
        </p:txBody>
      </p:sp>
      <p:sp>
        <p:nvSpPr>
          <p:cNvPr id="32" name="Shape 24"/>
          <p:cNvSpPr/>
          <p:nvPr/>
        </p:nvSpPr>
        <p:spPr>
          <a:xfrm>
            <a:off x="6196432" y="3931920"/>
            <a:ext cx="2651760" cy="1554480"/>
          </a:xfrm>
          <a:prstGeom prst="roundRect">
            <a:avLst>
              <a:gd name="adj" fmla="val 4706"/>
            </a:avLst>
          </a:prstGeom>
          <a:solidFill>
            <a:srgbClr val="FFFFFF"/>
          </a:solidFill>
          <a:ln w="12700">
            <a:solidFill>
              <a:srgbClr val="E2E7F5"/>
            </a:solidFill>
            <a:prstDash val="solid"/>
          </a:ln>
          <a:effectLst>
            <a:outerShdw blurRad="88900" dist="25400" dir="5400000" algn="bl" rotWithShape="0">
              <a:srgbClr val="C7CEE0">
                <a:alpha val="50000"/>
              </a:srgbClr>
            </a:outerShdw>
          </a:effectLst>
        </p:spPr>
        <p:txBody>
          <a:bodyPr/>
          <a:lstStyle/>
          <a:p>
            <a:endParaRPr lang="en-IN"/>
          </a:p>
        </p:txBody>
      </p:sp>
      <p:sp>
        <p:nvSpPr>
          <p:cNvPr id="33" name="Shape 25"/>
          <p:cNvSpPr/>
          <p:nvPr/>
        </p:nvSpPr>
        <p:spPr>
          <a:xfrm>
            <a:off x="7138264" y="4187952"/>
            <a:ext cx="768096" cy="768096"/>
          </a:xfrm>
          <a:prstGeom prst="roundRect">
            <a:avLst>
              <a:gd name="adj" fmla="val 9524"/>
            </a:avLst>
          </a:prstGeom>
          <a:solidFill>
            <a:srgbClr val="F96167"/>
          </a:solidFill>
          <a:ln/>
          <a:effectLst>
            <a:outerShdw blurRad="76200" dist="25400" dir="5400000" algn="bl" rotWithShape="0">
              <a:srgbClr val="8892B0">
                <a:alpha val="30000"/>
              </a:srgbClr>
            </a:outerShdw>
          </a:effectLst>
        </p:spPr>
        <p:txBody>
          <a:bodyPr/>
          <a:lstStyle/>
          <a:p>
            <a:endParaRPr lang="en-IN"/>
          </a:p>
        </p:txBody>
      </p:sp>
      <p:pic>
        <p:nvPicPr>
          <p:cNvPr id="34" name="Image 6" descr="preencoded.png"/>
          <p:cNvPicPr>
            <a:picLocks noChangeAspect="1"/>
          </p:cNvPicPr>
          <p:nvPr/>
        </p:nvPicPr>
        <p:blipFill>
          <a:blip r:embed="rId9"/>
          <a:stretch>
            <a:fillRect/>
          </a:stretch>
        </p:blipFill>
        <p:spPr>
          <a:xfrm>
            <a:off x="7322607" y="4372295"/>
            <a:ext cx="399410" cy="399410"/>
          </a:xfrm>
          <a:prstGeom prst="rect">
            <a:avLst/>
          </a:prstGeom>
        </p:spPr>
      </p:pic>
      <p:sp>
        <p:nvSpPr>
          <p:cNvPr id="35" name="Text 26"/>
          <p:cNvSpPr/>
          <p:nvPr/>
        </p:nvSpPr>
        <p:spPr>
          <a:xfrm>
            <a:off x="6287872" y="5010912"/>
            <a:ext cx="2468880" cy="365760"/>
          </a:xfrm>
          <a:prstGeom prst="rect">
            <a:avLst/>
          </a:prstGeom>
          <a:noFill/>
          <a:ln/>
        </p:spPr>
        <p:txBody>
          <a:bodyPr wrap="square" rtlCol="0" anchor="ctr"/>
          <a:lstStyle/>
          <a:p>
            <a:pPr marL="0" indent="0" algn="ctr">
              <a:buNone/>
            </a:pPr>
            <a:r>
              <a:rPr lang="en-US" sz="1400" b="1" dirty="0">
                <a:solidFill>
                  <a:srgbClr val="1E2761"/>
                </a:solidFill>
                <a:latin typeface="Segoe UI Semibold" pitchFamily="34" charset="0"/>
                <a:ea typeface="Segoe UI Semibold" pitchFamily="34" charset="-122"/>
                <a:cs typeface="Segoe UI Semibold" pitchFamily="34" charset="-120"/>
              </a:rPr>
              <a:t>Quality Analytics</a:t>
            </a:r>
            <a:endParaRPr lang="en-US" sz="1400" dirty="0"/>
          </a:p>
        </p:txBody>
      </p:sp>
      <p:sp>
        <p:nvSpPr>
          <p:cNvPr id="36" name="Shape 27"/>
          <p:cNvSpPr/>
          <p:nvPr/>
        </p:nvSpPr>
        <p:spPr>
          <a:xfrm>
            <a:off x="9049360" y="3931920"/>
            <a:ext cx="2651760" cy="1554480"/>
          </a:xfrm>
          <a:prstGeom prst="roundRect">
            <a:avLst>
              <a:gd name="adj" fmla="val 4706"/>
            </a:avLst>
          </a:prstGeom>
          <a:solidFill>
            <a:srgbClr val="FFFFFF"/>
          </a:solidFill>
          <a:ln w="12700">
            <a:solidFill>
              <a:srgbClr val="E2E7F5"/>
            </a:solidFill>
            <a:prstDash val="solid"/>
          </a:ln>
          <a:effectLst>
            <a:outerShdw blurRad="88900" dist="25400" dir="5400000" algn="bl" rotWithShape="0">
              <a:srgbClr val="C7CEE0">
                <a:alpha val="50000"/>
              </a:srgbClr>
            </a:outerShdw>
          </a:effectLst>
        </p:spPr>
        <p:txBody>
          <a:bodyPr/>
          <a:lstStyle/>
          <a:p>
            <a:endParaRPr lang="en-IN"/>
          </a:p>
        </p:txBody>
      </p:sp>
      <p:sp>
        <p:nvSpPr>
          <p:cNvPr id="37" name="Shape 28"/>
          <p:cNvSpPr/>
          <p:nvPr/>
        </p:nvSpPr>
        <p:spPr>
          <a:xfrm>
            <a:off x="9991192" y="4187952"/>
            <a:ext cx="768096" cy="768096"/>
          </a:xfrm>
          <a:prstGeom prst="roundRect">
            <a:avLst>
              <a:gd name="adj" fmla="val 9524"/>
            </a:avLst>
          </a:prstGeom>
          <a:solidFill>
            <a:srgbClr val="1E2761"/>
          </a:solidFill>
          <a:ln/>
          <a:effectLst>
            <a:outerShdw blurRad="76200" dist="25400" dir="5400000" algn="bl" rotWithShape="0">
              <a:srgbClr val="8892B0">
                <a:alpha val="30000"/>
              </a:srgbClr>
            </a:outerShdw>
          </a:effectLst>
        </p:spPr>
        <p:txBody>
          <a:bodyPr/>
          <a:lstStyle/>
          <a:p>
            <a:endParaRPr lang="en-IN"/>
          </a:p>
        </p:txBody>
      </p:sp>
      <p:pic>
        <p:nvPicPr>
          <p:cNvPr id="38" name="Image 7" descr="preencoded.png"/>
          <p:cNvPicPr>
            <a:picLocks noChangeAspect="1"/>
          </p:cNvPicPr>
          <p:nvPr/>
        </p:nvPicPr>
        <p:blipFill>
          <a:blip r:embed="rId10"/>
          <a:stretch>
            <a:fillRect/>
          </a:stretch>
        </p:blipFill>
        <p:spPr>
          <a:xfrm>
            <a:off x="10175535" y="4372295"/>
            <a:ext cx="399410" cy="399410"/>
          </a:xfrm>
          <a:prstGeom prst="rect">
            <a:avLst/>
          </a:prstGeom>
        </p:spPr>
      </p:pic>
      <p:sp>
        <p:nvSpPr>
          <p:cNvPr id="39" name="Text 29"/>
          <p:cNvSpPr/>
          <p:nvPr/>
        </p:nvSpPr>
        <p:spPr>
          <a:xfrm>
            <a:off x="9140800" y="5010912"/>
            <a:ext cx="2468880" cy="365760"/>
          </a:xfrm>
          <a:prstGeom prst="rect">
            <a:avLst/>
          </a:prstGeom>
          <a:noFill/>
          <a:ln/>
        </p:spPr>
        <p:txBody>
          <a:bodyPr wrap="square" rtlCol="0" anchor="ctr"/>
          <a:lstStyle/>
          <a:p>
            <a:pPr marL="0" indent="0" algn="ctr">
              <a:buNone/>
            </a:pPr>
            <a:r>
              <a:rPr lang="en-US" sz="1400" b="1" dirty="0">
                <a:solidFill>
                  <a:srgbClr val="1E2761"/>
                </a:solidFill>
                <a:latin typeface="Segoe UI Semibold" pitchFamily="34" charset="0"/>
                <a:ea typeface="Segoe UI Semibold" pitchFamily="34" charset="-122"/>
                <a:cs typeface="Segoe UI Semibold" pitchFamily="34" charset="-120"/>
              </a:rPr>
              <a:t>Documentation</a:t>
            </a:r>
            <a:endParaRPr lang="en-US" sz="14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E2761"/>
        </a:solidFill>
        <a:effectLst/>
      </p:bgPr>
    </p:bg>
    <p:spTree>
      <p:nvGrpSpPr>
        <p:cNvPr id="1" name=""/>
        <p:cNvGrpSpPr/>
        <p:nvPr/>
      </p:nvGrpSpPr>
      <p:grpSpPr>
        <a:xfrm>
          <a:off x="0" y="0"/>
          <a:ext cx="0" cy="0"/>
          <a:chOff x="0" y="0"/>
          <a:chExt cx="0" cy="0"/>
        </a:xfrm>
      </p:grpSpPr>
      <p:sp>
        <p:nvSpPr>
          <p:cNvPr id="2" name="Shape 0"/>
          <p:cNvSpPr/>
          <p:nvPr/>
        </p:nvSpPr>
        <p:spPr>
          <a:xfrm>
            <a:off x="-2286000" y="3200400"/>
            <a:ext cx="6400800" cy="6400800"/>
          </a:xfrm>
          <a:prstGeom prst="ellipse">
            <a:avLst/>
          </a:prstGeom>
          <a:noFill/>
          <a:ln w="19050">
            <a:solidFill>
              <a:srgbClr val="2A3576"/>
            </a:solidFill>
            <a:prstDash val="solid"/>
          </a:ln>
        </p:spPr>
        <p:txBody>
          <a:bodyPr/>
          <a:lstStyle/>
          <a:p>
            <a:endParaRPr lang="en-IN"/>
          </a:p>
        </p:txBody>
      </p:sp>
      <p:sp>
        <p:nvSpPr>
          <p:cNvPr id="3" name="Shape 1"/>
          <p:cNvSpPr/>
          <p:nvPr/>
        </p:nvSpPr>
        <p:spPr>
          <a:xfrm>
            <a:off x="8686800" y="-2286000"/>
            <a:ext cx="5486400" cy="5486400"/>
          </a:xfrm>
          <a:prstGeom prst="ellipse">
            <a:avLst/>
          </a:prstGeom>
          <a:noFill/>
          <a:ln w="19050">
            <a:solidFill>
              <a:srgbClr val="2A3576"/>
            </a:solidFill>
            <a:prstDash val="solid"/>
          </a:ln>
        </p:spPr>
        <p:txBody>
          <a:bodyPr/>
          <a:lstStyle/>
          <a:p>
            <a:endParaRPr lang="en-IN"/>
          </a:p>
        </p:txBody>
      </p:sp>
      <p:sp>
        <p:nvSpPr>
          <p:cNvPr id="4" name="Text 2"/>
          <p:cNvSpPr/>
          <p:nvPr/>
        </p:nvSpPr>
        <p:spPr>
          <a:xfrm>
            <a:off x="0" y="2377440"/>
            <a:ext cx="12191695" cy="1005840"/>
          </a:xfrm>
          <a:prstGeom prst="rect">
            <a:avLst/>
          </a:prstGeom>
          <a:noFill/>
          <a:ln/>
        </p:spPr>
        <p:txBody>
          <a:bodyPr wrap="square" rtlCol="0" anchor="ctr"/>
          <a:lstStyle/>
          <a:p>
            <a:pPr marL="0" indent="0" algn="ctr">
              <a:buNone/>
            </a:pPr>
            <a:r>
              <a:rPr lang="en-US" sz="5800" b="1" dirty="0">
                <a:solidFill>
                  <a:srgbClr val="FFFFFF"/>
                </a:solidFill>
                <a:latin typeface="Segoe UI Light" pitchFamily="34" charset="0"/>
                <a:ea typeface="Segoe UI Light" pitchFamily="34" charset="-122"/>
                <a:cs typeface="Segoe UI Light" pitchFamily="34" charset="-120"/>
              </a:rPr>
              <a:t>THANK YOU</a:t>
            </a:r>
            <a:endParaRPr lang="en-US" sz="5800" dirty="0"/>
          </a:p>
        </p:txBody>
      </p:sp>
      <p:sp>
        <p:nvSpPr>
          <p:cNvPr id="5" name="Shape 3"/>
          <p:cNvSpPr/>
          <p:nvPr/>
        </p:nvSpPr>
        <p:spPr>
          <a:xfrm>
            <a:off x="5641848" y="3520440"/>
            <a:ext cx="914400" cy="0"/>
          </a:xfrm>
          <a:prstGeom prst="line">
            <a:avLst/>
          </a:prstGeom>
          <a:noFill/>
          <a:ln w="38100">
            <a:solidFill>
              <a:srgbClr val="F4B740"/>
            </a:solidFill>
            <a:prstDash val="solid"/>
          </a:ln>
        </p:spPr>
        <p:txBody>
          <a:bodyPr/>
          <a:lstStyle/>
          <a:p>
            <a:endParaRPr lang="en-IN"/>
          </a:p>
        </p:txBody>
      </p:sp>
      <p:sp>
        <p:nvSpPr>
          <p:cNvPr id="6" name="Text 4"/>
          <p:cNvSpPr/>
          <p:nvPr/>
        </p:nvSpPr>
        <p:spPr>
          <a:xfrm>
            <a:off x="0" y="3703320"/>
            <a:ext cx="12191695" cy="457200"/>
          </a:xfrm>
          <a:prstGeom prst="rect">
            <a:avLst/>
          </a:prstGeom>
          <a:noFill/>
          <a:ln/>
        </p:spPr>
        <p:txBody>
          <a:bodyPr wrap="square" rtlCol="0" anchor="ctr"/>
          <a:lstStyle/>
          <a:p>
            <a:pPr marL="0" indent="0" algn="ctr">
              <a:buNone/>
            </a:pPr>
            <a:r>
              <a:rPr lang="en-US" sz="2000" dirty="0">
                <a:solidFill>
                  <a:srgbClr val="CADCFC"/>
                </a:solidFill>
                <a:latin typeface="Segoe UI" pitchFamily="34" charset="0"/>
                <a:ea typeface="Segoe UI" pitchFamily="34" charset="-122"/>
                <a:cs typeface="Segoe UI" pitchFamily="34" charset="-120"/>
              </a:rPr>
              <a:t>Questions &amp; Discussion</a:t>
            </a:r>
            <a:endParaRPr lang="en-US" sz="2000" dirty="0"/>
          </a:p>
        </p:txBody>
      </p:sp>
      <p:sp>
        <p:nvSpPr>
          <p:cNvPr id="7" name="Text 5"/>
          <p:cNvSpPr/>
          <p:nvPr/>
        </p:nvSpPr>
        <p:spPr>
          <a:xfrm>
            <a:off x="0" y="4846320"/>
            <a:ext cx="12191695" cy="731520"/>
          </a:xfrm>
          <a:prstGeom prst="rect">
            <a:avLst/>
          </a:prstGeom>
          <a:noFill/>
          <a:ln/>
        </p:spPr>
        <p:txBody>
          <a:bodyPr wrap="square" rtlCol="0" anchor="ctr"/>
          <a:lstStyle/>
          <a:p>
            <a:pPr marL="0" indent="0" algn="ctr">
              <a:buNone/>
            </a:pPr>
            <a:r>
              <a:rPr lang="en-US" sz="1400" b="1" dirty="0">
                <a:solidFill>
                  <a:srgbClr val="FFFFFF"/>
                </a:solidFill>
                <a:latin typeface="Segoe UI Semibold" pitchFamily="34" charset="0"/>
                <a:ea typeface="Segoe UI Semibold" pitchFamily="34" charset="-122"/>
                <a:cs typeface="Segoe UI Semibold" pitchFamily="34" charset="-120"/>
              </a:rPr>
              <a:t>Poulami Roy Chowdhury</a:t>
            </a:r>
            <a:endParaRPr lang="en-US" sz="1400" dirty="0"/>
          </a:p>
          <a:p>
            <a:pPr marL="0" indent="0" algn="ctr">
              <a:buNone/>
            </a:pPr>
            <a:r>
              <a:rPr lang="en-US" sz="1150" dirty="0">
                <a:solidFill>
                  <a:srgbClr val="5B6488"/>
                </a:solidFill>
                <a:latin typeface="Segoe UI" pitchFamily="34" charset="0"/>
                <a:ea typeface="Segoe UI" pitchFamily="34" charset="-122"/>
                <a:cs typeface="Segoe UI" pitchFamily="34" charset="-120"/>
              </a:rPr>
              <a:t>Quality &amp; Process Excellence  ·  AI Quality Management  ·  v1.0</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1453</Words>
  <Application>Microsoft Office PowerPoint</Application>
  <PresentationFormat>Widescreen</PresentationFormat>
  <Paragraphs>264</Paragraphs>
  <Slides>14</Slides>
  <Notes>14</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14</vt:i4>
      </vt:variant>
    </vt:vector>
  </HeadingPairs>
  <TitlesOfParts>
    <vt:vector size="19" baseType="lpstr">
      <vt:lpstr>Arial</vt:lpstr>
      <vt:lpstr>Segoe UI</vt:lpstr>
      <vt:lpstr>Segoe UI Light</vt:lpstr>
      <vt:lpstr>Segoe UI Semibold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Poulami Roy Chowdhury</dc:creator>
  <cp:lastModifiedBy>Poulami Roy Chowdhury</cp:lastModifiedBy>
  <cp:revision>2</cp:revision>
  <dcterms:created xsi:type="dcterms:W3CDTF">2026-07-20T21:27:26Z</dcterms:created>
  <dcterms:modified xsi:type="dcterms:W3CDTF">2026-07-20T21:36:41Z</dcterms:modified>
</cp:coreProperties>
</file>